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6"/>
    <p:sldId id="277" r:id="rId23"/>
    <p:sldId id="278" r:id="rId24"/>
    <p:sldId id="279" r:id="rId25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2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Sou o Bruno, e vou apresentar o BrainSniffer: uma rede convolucional compacta que lê o EEG frontal de um paciente anestesiado e estima a referência do índice BIS. A linha no rodapé ilustra a ideia central: o EEG acordado é rápido e de baixa amplitude, e sob anestesia ele fica lento e de alta amplitude. (≈30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roteiro: começo pelo problema, explico como o EEG funciona e o que muda nele durante a anestesia, depois os dados, a rede, os resultados e as limitações. (≈30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anestesia geral é preciso saber se o paciente está hipnotizado o suficiente sem exagerar na dose. O BIS é a referência mais usada, mas é proprietário. E existe um risco metodológico: janelas vizinhas da mesma cirurgia são quase idênticas, então uma divisão aleatória entre treino e teste infla o resultado. Faltava um estimador compacto, causal, avaliado por caso e comparado a um controle espectral. (≈1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três perguntas. Primeiro, se uma CNN compacta, com validação por caso, aproxima o BIS e supera um controle espectral. Segundo, se ela é competitiva com um modelo publicado sete vezes maior, sem perder a capacidade de rodar ao vivo. Terceiro, se o desempenho se mantém em outra fonte de dados. As métricas primárias foram fixadas antes: MAE por janela e a probabilidade de predição PK. (≈45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EEG mede a atividade elétrica do córtex. Os neurônios piramidais estão alinhados; quando milhões deles recebem entradas sinápticas ao mesmo tempo, os potenciais pós-sinápticos se somam e formam um campo que atravessa meninges, crânio e pele. Ele chega ao eletrodo muito atenuado, na ordem de dezenas de microvolts, e por isso é amplificado, filtrado e digitalizado. A vantagem é a resolução temporal de milissegundos. Neste trabalho usamos um único canal frontal, reamostrado a 128 Hz, que é o que o monitor BIS também usa. (≈1 min 15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EEG é descrito por ritmos. Delta são as ondas lentas, típicas de sono profundo e anestesia profunda; teta aparece em sonolência; alfa na vigília relaxada e, sob propofol, como um alfa frontal característico; beta na vigília ativa; e gama, rápido, que na testa sofre muita contaminação de músculo. Essas mesmas bandas são a base do controle espectral que usamos para comparar com a rede: 14 atributos clássicos por janela. (≈1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aprofundamento da anestesia o EEG muda de forma característica. Acordado, predominam ritmos rápidos e de baixa amplitude. Na sedação leve aparece um aumento paradoxal de beta e o sinal começa a lentificar. Em anestesia geral, com propofol ou sevoflurano, surge o alfa frontal em torno de 10 Hz junto com ondas lentas de grande amplitude. No plano profundo aparece o padrão de surto-supressão, com trechos quase planos. As faixas de BIS aqui são as quatro classes que usamos para relatar acurácia, só para comunicação, não como limiar clínico. (≈1 min 15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BIS resume o EEG frontal numa escala de 0 a 100: perto de 100 acordado, entre 40 e 60 a faixa de anestesia geral, e perto de zero o EEG isoelétrico. Mas ele tem limites: é proprietário, sofre interferência de músculo, bloqueio neuromuscular e cetamina, e chega suavizado e com atraso. Por isso o vocabulário do trabalho é cuidadoso: estimamos um rótulo de referência BIS, não o BIS como verdade, e muito menos consciência. (≈1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caso 19 do nosso holdout. Em cima, duas janelas de 5 segundos: uma limpa, que o pipeline praticamente não altera, e uma com pico de 125 microvolts, que é contido para 88. Embaixo, o espectrograma dos 72 minutos com o BIS na mesma base de tempo: quando o BIS sobe, cai a potência em teta e sobe a de beta e gama. É exatamente essa relação que a rede aprende. As faixas brancas são quedas de eletrodo, que os gates rejeitam. (≈1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duas fontes públicas. O Figshare tem 24 casos anônimos com EEG frontal e BIS a cada 5 segundos; ele não tem identificador de pessoa, então o grupo é o caso. O VitalDB é muito maior, de Seul, com monitor BIS Vista e BIS a cada segundo; ali agrupamos pelo identificador do participante. São 59 arquivos; depois dos gates de qualidade ficaram 33 casos elegíveis e 55 mil janelas. A regra central: nenhum caso cruza partições. Isso dá uma estimativa mais pessimista, mas honesta, para um paciente novo. (≈1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pipeline: o EEG frontal em microvolts passa por gates de qualidade, depois por um filtro causal de 0,5 a 45 Hz com notch de 50 Hz, a amplitude é cortada em ±100 µV e escalada, e o resultado é cortado em janelas de 5 segundos, 640 amostras a 128 Hz. O ponto importante é que o filtro só usa passado e presente, com estado por caso, então a mesma cadeia funciona em replay ao vivo, com buffer de 5 s e atualização a cada segundo. (≈1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rede é propositalmente pequena. Recebe a janela de 640 amostras em um canal e passa por quatro blocos convolucionais: canais de 1 para 32, 64, 128 e 128, kernels de 7 e 5, cada um com batch norm e GELU, e max-pooling nos três primeiros, o que reduz o tempo de 640 para 80. Depois, uma média global, uma cabeça densa de 128 para 64 para 1 com dropout, e uma sigmoide escalada para 0 a 100. São cerca de 0,15 milhão de parâmetros, o que permite rodar em CPU. (≈1 min 15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treino é curto: Smooth L1, dez épocas, batch 128. Temos dois checkpoints: o ativo, treinado só no Figshare, que testa o limite interno e a queda ao mudar de fonte; e o misto, que viu também parte do VitalDB. Como controle, uma Random Forest sobre os 14 atributos espectrais, nas mesmas janelas. E, como o próprio BIS chega suavizado, aplicamos uma média móvel exponencial causal sobre as predições, sem retreino: é uma recursão de uma linha que só usa o passado. (≈1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resultado. No holdout Figshare, cinco casos e 5.523 janelas, a CNN teve MAE de 7,03 pontos BIS contra 8,86 do controle espectral. No bootstrap pareado por caso, a diferença é de −1,84 e o intervalo exclui zero. A ordenação, medida pelo PK, foi 0,773: sorteados dois momentos, a rede os ordena como o BIS em 77% das vezes. Com cinco casos, isso é exploratório. (≈45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predição bruta da rede ao longo de toda a cirurgia do caso 19, que foi escolhido antes da inferência. A rede acompanha a queda na indução e a subida no despertar, mas superestima o patamar do meio: viés de +4,79. A correlação dentro do caso é alta, 0,91, o que mostra que associação alta não elimina erro sistemático. É uma ilustração, não evidência de generalização. (≈45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tabela junta os dois checkpoints nos dois benchmarks, com intervalos de 95% por bootstrap de casos inteiros. Três dos quatro MAE da rede ficam abaixo de 10 pontos, que é a diferença considerada aceitável entre duas medições do próprio BIS: é a nossa régua de leitura, não um critério clínico. No Figshare, o misto não é significativamente melhor que o ativo. A linha que destoa é o ativo no VitalDB, com 12,43. (≈1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fronteira do trabalho está no transporte. O checkpoint que fica em 7 no Figshare vai a 12,43 no VitalDB, e o PK cai para 0,515, ou seja, a rede deixa de ordenar os momentos da cirurgia. O controle espectral colapsa do mesmo jeito, então a perda não é específica da CNN. O misto melhora 14 dos 15 casos, piorando só o caso 16, mas ele já tinha visto essa fonte: isso é adaptação ao domínio, não generalização. (≈1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segunda pergunta era sobre o estado da arte. O melhor resultado publicado neste corpus é um TCN-BiLSTM com atenção, de 2026, com 1,07 milhão de parâmetros, que chega a 6,03 após suavização. Com a nossa suavização causal de uma linha, o misto chega a 6,11 com apenas 10 segundos de memória, enquanto o deles precisa de 45 a 95 segundos. E o nosso é causal: o deles usa um BiLSTM bidirecional e um filtro de fase zero, que não existem ao vivo. Não é um ranking, os protocolos diferem, mas mostra o custo de cada cadeia. (≈1 min 15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 o diagnóstico, treinamos quatro braços do zero só no Figshare, testando as escolhas do modelo publicado: reprodução, winsorização, perda de Huber com treino longo e z-score por sujeito. O treino longo foi o único ganho interno, 6,63. Mas no VitalDB todos ficaram entre 12 e 12,6, contra 8,60 do misto, que viu a fonte. Conclusão: o que resolve não é modelo maior, é dado da fonte. (≈45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Respondendo às três perguntas. Um: sim, a rede compacta supera o controle espectral sob validação por caso e ordena os momentos da cirurgia como a referência. Dois: com a suavização causal ela entra na faixa do melhor modelo publicado, sendo sete vezes menor e rodando ao vivo em CPU. Três: não, o desempenho não transporta para outra fonte, e o experimento fatorial mostra que a solução é expor o treino a mais fontes. A contribuição é uma base auditável para testar hipóteses. (≈1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limitações estão declaradas: o estudo é retrospectivo, com poucos casos de teste, o benchmark VitalDB foi reutilizado, a imputação offline pode olhar o futuro e o alvo é o próprio BIS. O próximo passo é uma coorte travada de outra fonte, com partição e métricas definidas antes de qualquer inspeção, e treino com mais fontes. E deixo claro: o software não mede consciência nem apoia decisão clínica. (≈45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do trabalho, em ordem alfabética. Passar rapidamente. (≈10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Referências, continuação. (≈5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Referências, continuação. (≈5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Obrigado. Fico à disposição para perguntas. Possíveis perguntas: por que não usar o BIS como verdade absoluta; por que o VitalDB piora; o que é PK; por que a rede é tão pequena; como rodaria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F1B2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101"/>
            <a:ext cx="10566400" cy="419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F1B2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101"/>
            <a:ext cx="10566400" cy="419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açado de EEG que passa de rápido e de baixa amplitude para lento e de alta amplitude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0" r="0" t="0" b="0"/>
          <a:stretch/>
        </p:blipFill>
        <p:spPr>
          <a:xfrm>
            <a:off x="0" y="4953000"/>
            <a:ext cx="12192000" cy="152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6B4E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TRABALHO DE CONCLUSÃO DE CURSO · CIÊNCIA DA COMPUTAÇÃO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80120"/>
            <a:ext cx="1088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BrainSniffer</a:t>
            </a:r>
            <a:endParaRPr lang="en-US" sz="7000" dirty="0"/>
          </a:p>
        </p:txBody>
      </p:sp>
      <p:sp>
        <p:nvSpPr>
          <p:cNvPr id="5" name="Text 2"/>
          <p:cNvSpPr/>
          <p:nvPr/>
        </p:nvSpPr>
        <p:spPr>
          <a:xfrm>
            <a:off x="812800" y="2423120"/>
            <a:ext cx="850265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D5DEE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Uma CNN compacta e causal para estimar a referência BIS a partir de EEG frontal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12800" y="343912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Bruno Rocha Guimarães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37743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EBB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Orientador(a): [nome do orientador]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407402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EBB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Centro Universitário Jorge Amado · Salvador, BA · [data da defesa]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Sumário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11251"/>
            <a:ext cx="5029200" cy="0"/>
          </a:xfrm>
          <a:prstGeom prst="line">
            <a:avLst/>
          </a:prstGeom>
          <a:noFill/>
          <a:ln w="12700">
            <a:solidFill>
              <a:srgbClr val="0F1B2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2100461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59880" y="2082701"/>
            <a:ext cx="424874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Problema e perguntas de pesquisa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" y="2570956"/>
            <a:ext cx="50292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2756991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9880" y="2739231"/>
            <a:ext cx="263842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o EEG funciona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800" y="3227487"/>
            <a:ext cx="50292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3413522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59880" y="3395762"/>
            <a:ext cx="3871793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EEG na anestesia e o índice BIS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800" y="3884017"/>
            <a:ext cx="50292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2800" y="4070052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9880" y="4052292"/>
            <a:ext cx="348388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 e pré-processamento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50000" y="1911251"/>
            <a:ext cx="5029200" cy="0"/>
          </a:xfrm>
          <a:prstGeom prst="line">
            <a:avLst/>
          </a:prstGeom>
          <a:noFill/>
          <a:ln w="12700">
            <a:solidFill>
              <a:srgbClr val="0F1B2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50000" y="2100461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97080" y="2082701"/>
            <a:ext cx="2562463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rede convolucional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50000" y="2570956"/>
            <a:ext cx="50292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50000" y="2756991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97080" y="2739231"/>
            <a:ext cx="137386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50000" y="3227487"/>
            <a:ext cx="50292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0000" y="3413522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97080" y="3395762"/>
            <a:ext cx="283023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Conclusão e limitações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50000" y="3884017"/>
            <a:ext cx="50292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0000" y="4070052"/>
            <a:ext cx="2946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97080" y="4052292"/>
            <a:ext cx="145280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Referências (anexo)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893544" y="6238280"/>
            <a:ext cx="485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 · PROBLEMA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Por que estimar a profundidade anestésica?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276"/>
            <a:ext cx="3380284" cy="2291953"/>
          </a:xfrm>
          <a:prstGeom prst="roundRect">
            <a:avLst>
              <a:gd name="adj" fmla="val 4294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pic>
        <p:nvPicPr>
          <p:cNvPr id="5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11445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2520851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Dose na medida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3150" y="2896691"/>
            <a:ext cx="2951912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anestesia geral o paciente precisa estar hipnotizado o suficiente, sem excesso de fármaco.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809" y="1857276"/>
            <a:ext cx="3380383" cy="2291953"/>
          </a:xfrm>
          <a:prstGeom prst="roundRect">
            <a:avLst>
              <a:gd name="adj" fmla="val 4294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pic>
        <p:nvPicPr>
          <p:cNvPr id="9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2984" y="2114451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2984" y="2520851"/>
            <a:ext cx="295201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BIS é fechado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62984" y="2896691"/>
            <a:ext cx="295201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índice mais usado à beira do leito é proprietário: a regra que o calcula não é publicada.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741" y="1857276"/>
            <a:ext cx="3380284" cy="2291953"/>
          </a:xfrm>
          <a:prstGeom prst="roundRect">
            <a:avLst>
              <a:gd name="adj" fmla="val 4294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pic>
        <p:nvPicPr>
          <p:cNvPr id="1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2916" y="2114451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2916" y="2520851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Vazamento silencioso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52916" y="2896691"/>
            <a:ext cx="29519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Janelas vizinhas da mesma cirurgia são quase iguais; dividir ao acaso mede memória, não generalização.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4457204"/>
            <a:ext cx="10566400" cy="1026120"/>
          </a:xfrm>
          <a:prstGeom prst="roundRect">
            <a:avLst>
              <a:gd name="adj" fmla="val 9901"/>
            </a:avLst>
          </a:prstGeom>
          <a:solidFill>
            <a:srgbClr val="0F1B2D"/>
          </a:solidFill>
          <a:ln/>
        </p:spPr>
        <p:txBody>
          <a:bodyPr wrap="square" lIns="275042" tIns="198842" rIns="0" bIns="1734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Lacuna:</a:t>
            </a:r>
            <a:r>
              <a:rPr lang="en-US" sz="16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estimador compacto e causal, avaliado com partição por caso e contra um controle espectral, em mais de uma fonte de dados.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893544" y="6238280"/>
            <a:ext cx="485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25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 · PERGUNTAS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Três perguntas de pesquisa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60451"/>
            <a:ext cx="10566400" cy="0"/>
          </a:xfrm>
          <a:prstGeom prst="line">
            <a:avLst/>
          </a:prstGeom>
          <a:noFill/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044601"/>
            <a:ext cx="6604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72B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27200" y="2067421"/>
            <a:ext cx="994156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CNN 1-D compacta, sob validação agrupada, aproxima o rótulo BIS e supera um baseline espectral?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" y="2865636"/>
            <a:ext cx="105664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3046611"/>
            <a:ext cx="6604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72B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ii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727200" y="3069431"/>
            <a:ext cx="994156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competitiva com um modelo publicado ~7× maior, mantendo uma cadeia exportável para uso ao vivo?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800" y="3867646"/>
            <a:ext cx="105664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800" y="4869656"/>
            <a:ext cx="105664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4048621"/>
            <a:ext cx="6604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72B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iii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727200" y="4220071"/>
            <a:ext cx="9652000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desempenho se mantém ao trocar a fonte dos dados, do Figshare para o VitalDB?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800" y="517763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Métricas primárias definidas de antemão: </a:t>
            </a:r>
            <a:r>
              <a:rPr lang="en-US" sz="1400" b="1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por janela</a:t>
            </a:r>
            <a:r>
              <a:rPr lang="en-US" sz="14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(erro em pontos BIS) e </a:t>
            </a:r>
            <a:r>
              <a:rPr lang="en-US" sz="1400" b="1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</a:t>
            </a:r>
            <a:r>
              <a:rPr lang="en-US" sz="14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(ordenação).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893544" y="6238280"/>
            <a:ext cx="485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25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 · COMO O EEG FUNCIONA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Como o EEG é gerado e medido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276"/>
            <a:ext cx="2292350" cy="2159992"/>
          </a:xfrm>
          <a:prstGeom prst="roundRect">
            <a:avLst>
              <a:gd name="adj" fmla="val 4557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063651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353171"/>
            <a:ext cx="193598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Neurônios piramidais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2350" y="2886571"/>
            <a:ext cx="1935988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Células do córtex alinhadas perpendicularmente à superfície.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100" y="2861072"/>
            <a:ext cx="2540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71875" y="1857276"/>
            <a:ext cx="2292350" cy="2159992"/>
          </a:xfrm>
          <a:prstGeom prst="roundRect">
            <a:avLst>
              <a:gd name="adj" fmla="val 4557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78250" y="2063651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78250" y="2353171"/>
            <a:ext cx="193598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Atividade sincronizada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778250" y="2886571"/>
            <a:ext cx="1935988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Potenciais pós-sinápticos de milhões de neurônios se somam.</a:t>
            </a:r>
            <a:endParaRPr lang="en-US" sz="13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2861072"/>
            <a:ext cx="2540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7775" y="1857276"/>
            <a:ext cx="2292350" cy="2159992"/>
          </a:xfrm>
          <a:prstGeom prst="roundRect">
            <a:avLst>
              <a:gd name="adj" fmla="val 4557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34150" y="2063651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34150" y="2353171"/>
            <a:ext cx="19359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 condutor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34150" y="2657971"/>
            <a:ext cx="1935988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campo atravessa meninges, crânio e couro cabeludo e chega atenuado.</a:t>
            </a:r>
            <a:endParaRPr lang="en-US" sz="13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900" y="2861072"/>
            <a:ext cx="254000" cy="152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83675" y="1857276"/>
            <a:ext cx="2292350" cy="2159992"/>
          </a:xfrm>
          <a:prstGeom prst="roundRect">
            <a:avLst>
              <a:gd name="adj" fmla="val 4557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90050" y="2063651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290050" y="2353171"/>
            <a:ext cx="193598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Eletrodos e conversor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290050" y="2886571"/>
            <a:ext cx="1935988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diferença de potencial é amplificada, filtrada e digitalizada.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12800" y="4334768"/>
            <a:ext cx="3386634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12800" y="4496693"/>
            <a:ext cx="348823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10–100 µV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812800" y="5045273"/>
            <a:ext cx="34882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Amplitude típica no couro cabeludo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402634" y="4334768"/>
            <a:ext cx="3386733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402634" y="4496693"/>
            <a:ext cx="348833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milissegundos</a:t>
            </a:r>
            <a:endParaRPr lang="en-US" sz="2800" dirty="0"/>
          </a:p>
        </p:txBody>
      </p:sp>
      <p:sp>
        <p:nvSpPr>
          <p:cNvPr id="28" name="Text 23"/>
          <p:cNvSpPr/>
          <p:nvPr/>
        </p:nvSpPr>
        <p:spPr>
          <a:xfrm>
            <a:off x="4402634" y="5045273"/>
            <a:ext cx="348833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Resolução temporal do sinal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7992566" y="4334768"/>
            <a:ext cx="3386634" cy="0"/>
          </a:xfrm>
          <a:prstGeom prst="line">
            <a:avLst/>
          </a:prstGeom>
          <a:noFill/>
          <a:ln w="19050">
            <a:solidFill>
              <a:srgbClr val="0072B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992566" y="4496693"/>
            <a:ext cx="348823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072B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 canal · 128 Hz</a:t>
            </a:r>
            <a:endParaRPr lang="en-US" sz="2800" dirty="0"/>
          </a:p>
        </p:txBody>
      </p:sp>
      <p:sp>
        <p:nvSpPr>
          <p:cNvPr id="31" name="Text 26"/>
          <p:cNvSpPr/>
          <p:nvPr/>
        </p:nvSpPr>
        <p:spPr>
          <a:xfrm>
            <a:off x="7992566" y="5045273"/>
            <a:ext cx="34882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EEG frontal usado neste trabalho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10893544" y="6238280"/>
            <a:ext cx="485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25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 · COMO O EEG FUNCIONA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Ritmos do EEG em bandas de frequência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10566400" cy="2489200"/>
          </a:xfrm>
          <a:prstGeom prst="roundRect">
            <a:avLst>
              <a:gd name="adj" fmla="val 3061"/>
            </a:avLst>
          </a:prstGeom>
          <a:solidFill>
            <a:srgbClr val="FDFDF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54101"/>
            <a:ext cx="10566400" cy="2489200"/>
          </a:xfrm>
          <a:custGeom>
            <a:avLst/>
            <a:gdLst/>
            <a:ahLst/>
            <a:cxnLst/>
            <a:rect l="l" t="t" r="r" b="b"/>
            <a:pathLst>
              <a:path w="10566400" h="2489200">
                <a:moveTo>
                  <a:pt x="76200" y="2489200"/>
                </a:moveTo>
                <a:lnTo>
                  <a:pt x="76200" y="2489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3500" wR="76200" stAng="0" swAng="-5400000"/>
                <a:lnTo>
                  <a:pt x="76200" y="12700"/>
                </a:lnTo>
                <a:arcTo hR="63500" wR="63500" stAng="16200000" swAng="-5400000"/>
                <a:lnTo>
                  <a:pt x="12700" y="2413000"/>
                </a:lnTo>
                <a:arcTo hR="76200" wR="635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5500" y="1866801"/>
            <a:ext cx="10553700" cy="412750"/>
          </a:xfrm>
          <a:custGeom>
            <a:avLst/>
            <a:gdLst/>
            <a:ahLst/>
            <a:cxnLst/>
            <a:rect l="l" t="t" r="r" b="b"/>
            <a:pathLst>
              <a:path w="10553700" h="412750">
                <a:moveTo>
                  <a:pt x="0" y="63500"/>
                </a:moveTo>
                <a:arcTo hR="63500" wR="63500" stAng="10800000" swAng="5400000"/>
                <a:lnTo>
                  <a:pt x="10477500" y="0"/>
                </a:lnTo>
                <a:arcTo hR="76200" wR="76200" stAng="16200000" swAng="5400000"/>
                <a:lnTo>
                  <a:pt x="10553700" y="412750"/>
                </a:lnTo>
                <a:lnTo>
                  <a:pt x="0" y="412750"/>
                </a:lnTo>
                <a:close/>
              </a:path>
            </a:pathLst>
          </a:custGeom>
          <a:solidFill>
            <a:srgbClr val="EAEAE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10553700" cy="2476500"/>
        </p:xfrm>
        <a:graphic>
          <a:graphicData uri="http://schemas.openxmlformats.org/drawingml/2006/table">
            <a:tbl>
              <a:tblPr/>
              <a:tblGrid>
                <a:gridCol w="1899666"/>
                <a:gridCol w="2110740"/>
                <a:gridCol w="6543294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Banda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Faixa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Associação típica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Delta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0,5–4 Hz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Ondas lentas: sono profundo e anestesia profunda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Teta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4–8 Hz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Sonolência e transições de estado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Alfa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8–13 Hz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Vigília relaxada; alfa frontal sob propofol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Beta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13–30 Hz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Vigília ativa e atenção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Gama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30–45 Hz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Atividade rápida; contaminada por EMG na fronte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4648101"/>
            <a:ext cx="10566400" cy="904081"/>
          </a:xfrm>
          <a:prstGeom prst="roundRect">
            <a:avLst>
              <a:gd name="adj" fmla="val 11238"/>
            </a:avLst>
          </a:prstGeom>
          <a:solidFill>
            <a:srgbClr val="0F1B2D"/>
          </a:solidFill>
          <a:ln/>
        </p:spPr>
      </p:sp>
      <p:pic>
        <p:nvPicPr>
          <p:cNvPr id="9" name="Image 0" descr="Chart">    </p:cNvPr>
          <p:cNvPicPr>
            <a:picLocks noChangeAspect="1"/>
          </p:cNvPicPr>
          <p:nvPr/>
        </p:nvPicPr>
        <p:blipFill>
          <a:blip r:embed="rId1"/>
          <a:srcRect l="0" r="0" t="-181" b="-181"/>
          <a:stretch/>
        </p:blipFill>
        <p:spPr>
          <a:xfrm>
            <a:off x="1066800" y="4947741"/>
            <a:ext cx="246757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5957" y="4851301"/>
            <a:ext cx="994902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baseline espectral resume cada janela nessas 5 bandas (potência absoluta e relativa) + SEF90, entropia espectral, RMS e line length = </a:t>
            </a:r>
            <a:r>
              <a:rPr lang="en-US" sz="14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atributos</a:t>
            </a:r>
            <a:r>
              <a:rPr lang="en-US" sz="14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893544" y="6238280"/>
            <a:ext cx="485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25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 · EEG NA ANESTESIA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que muda no EEG sob anestesia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301"/>
            <a:ext cx="112811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acordado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42517" y="1906091"/>
            <a:ext cx="7718723" cy="25400"/>
          </a:xfrm>
          <a:prstGeom prst="rect">
            <a:avLst/>
          </a:prstGeom>
          <a:gradFill rotWithShape="1">
            <a:gsLst>
              <a:gs pos="0">
                <a:srgbClr val="CFE3F1"/>
              </a:gs>
              <a:gs pos="100000">
                <a:srgbClr val="1F4E79"/>
              </a:gs>
            </a:gsLst>
            <a:lin ang="0" scaled="0"/>
          </a:gradFill>
          <a:ln/>
        </p:spPr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13640" y="1842591"/>
            <a:ext cx="254000" cy="152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20040" y="1803301"/>
            <a:ext cx="1109960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profundo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5975" y="2291556"/>
            <a:ext cx="2520950" cy="1872952"/>
          </a:xfrm>
          <a:prstGeom prst="roundRect">
            <a:avLst>
              <a:gd name="adj" fmla="val 5255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9150" y="2294731"/>
            <a:ext cx="2514600" cy="101600"/>
          </a:xfrm>
          <a:custGeom>
            <a:avLst/>
            <a:gdLst/>
            <a:ahLst/>
            <a:cxnLst/>
            <a:rect l="l" t="t" r="r" b="b"/>
            <a:pathLst>
              <a:path w="2514600" h="101600">
                <a:moveTo>
                  <a:pt x="0" y="95250"/>
                </a:moveTo>
                <a:arcTo hR="95250" wR="95250" stAng="10800000" swAng="5400000"/>
                <a:lnTo>
                  <a:pt x="2419350" y="0"/>
                </a:lnTo>
                <a:arcTo hR="95250" wR="95250" stAng="16200000" swAng="5400000"/>
                <a:lnTo>
                  <a:pt x="2514600" y="101600"/>
                </a:lnTo>
                <a:lnTo>
                  <a:pt x="0" y="101600"/>
                </a:lnTo>
                <a:close/>
              </a:path>
            </a:pathLst>
          </a:custGeom>
          <a:solidFill>
            <a:srgbClr val="CFE3F1"/>
          </a:solidFill>
          <a:ln/>
        </p:spPr>
      </p:sp>
      <p:sp>
        <p:nvSpPr>
          <p:cNvPr id="10" name="Text 7"/>
          <p:cNvSpPr/>
          <p:nvPr/>
        </p:nvSpPr>
        <p:spPr>
          <a:xfrm>
            <a:off x="1022350" y="2599531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BIS 80–100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22350" y="2901752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Acordado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22350" y="3264892"/>
            <a:ext cx="217144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Ritmos rápidos (beta, gama) e de baixa amplitude.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95675" y="2291556"/>
            <a:ext cx="2520950" cy="1872952"/>
          </a:xfrm>
          <a:prstGeom prst="roundRect">
            <a:avLst>
              <a:gd name="adj" fmla="val 5255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98850" y="2294731"/>
            <a:ext cx="2514600" cy="101600"/>
          </a:xfrm>
          <a:custGeom>
            <a:avLst/>
            <a:gdLst/>
            <a:ahLst/>
            <a:cxnLst/>
            <a:rect l="l" t="t" r="r" b="b"/>
            <a:pathLst>
              <a:path w="2514600" h="101600">
                <a:moveTo>
                  <a:pt x="0" y="95250"/>
                </a:moveTo>
                <a:arcTo hR="95250" wR="95250" stAng="10800000" swAng="5400000"/>
                <a:lnTo>
                  <a:pt x="2419350" y="0"/>
                </a:lnTo>
                <a:arcTo hR="95250" wR="95250" stAng="16200000" swAng="5400000"/>
                <a:lnTo>
                  <a:pt x="2514600" y="101600"/>
                </a:lnTo>
                <a:lnTo>
                  <a:pt x="0" y="101600"/>
                </a:lnTo>
                <a:close/>
              </a:path>
            </a:pathLst>
          </a:custGeom>
          <a:solidFill>
            <a:srgbClr val="8DBBDE"/>
          </a:solidFill>
          <a:ln/>
        </p:spPr>
      </p:sp>
      <p:sp>
        <p:nvSpPr>
          <p:cNvPr id="15" name="Text 12"/>
          <p:cNvSpPr/>
          <p:nvPr/>
        </p:nvSpPr>
        <p:spPr>
          <a:xfrm>
            <a:off x="3702050" y="2599531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BIS 60–80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02050" y="2901752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Sedação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702050" y="3264892"/>
            <a:ext cx="217144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Aumento paradoxal de beta e início da lentificação.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5375" y="2291556"/>
            <a:ext cx="2520950" cy="1872952"/>
          </a:xfrm>
          <a:prstGeom prst="roundRect">
            <a:avLst>
              <a:gd name="adj" fmla="val 5255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78550" y="2294731"/>
            <a:ext cx="2514600" cy="101600"/>
          </a:xfrm>
          <a:custGeom>
            <a:avLst/>
            <a:gdLst/>
            <a:ahLst/>
            <a:cxnLst/>
            <a:rect l="l" t="t" r="r" b="b"/>
            <a:pathLst>
              <a:path w="2514600" h="101600">
                <a:moveTo>
                  <a:pt x="0" y="95250"/>
                </a:moveTo>
                <a:arcTo hR="95250" wR="95250" stAng="10800000" swAng="5400000"/>
                <a:lnTo>
                  <a:pt x="2419350" y="0"/>
                </a:lnTo>
                <a:arcTo hR="95250" wR="95250" stAng="16200000" swAng="5400000"/>
                <a:lnTo>
                  <a:pt x="2514600" y="101600"/>
                </a:lnTo>
                <a:lnTo>
                  <a:pt x="0" y="101600"/>
                </a:lnTo>
                <a:close/>
              </a:path>
            </a:pathLst>
          </a:custGeom>
          <a:solidFill>
            <a:srgbClr val="4F93C6"/>
          </a:solidFill>
          <a:ln/>
        </p:spPr>
      </p:sp>
      <p:sp>
        <p:nvSpPr>
          <p:cNvPr id="20" name="Text 17"/>
          <p:cNvSpPr/>
          <p:nvPr/>
        </p:nvSpPr>
        <p:spPr>
          <a:xfrm>
            <a:off x="6381750" y="2599531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BIS 40–60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81750" y="2901752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Anestesia geral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81750" y="3264892"/>
            <a:ext cx="217144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Alfa frontal (~10 Hz) somado a ondas lentas de alta amplitude.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855075" y="2291556"/>
            <a:ext cx="2520950" cy="1872952"/>
          </a:xfrm>
          <a:prstGeom prst="roundRect">
            <a:avLst>
              <a:gd name="adj" fmla="val 5255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58250" y="2294731"/>
            <a:ext cx="2514600" cy="101600"/>
          </a:xfrm>
          <a:custGeom>
            <a:avLst/>
            <a:gdLst/>
            <a:ahLst/>
            <a:cxnLst/>
            <a:rect l="l" t="t" r="r" b="b"/>
            <a:pathLst>
              <a:path w="2514600" h="101600">
                <a:moveTo>
                  <a:pt x="0" y="95250"/>
                </a:moveTo>
                <a:arcTo hR="95250" wR="95250" stAng="10800000" swAng="5400000"/>
                <a:lnTo>
                  <a:pt x="2419350" y="0"/>
                </a:lnTo>
                <a:arcTo hR="95250" wR="95250" stAng="16200000" swAng="5400000"/>
                <a:lnTo>
                  <a:pt x="2514600" y="101600"/>
                </a:lnTo>
                <a:lnTo>
                  <a:pt x="0" y="101600"/>
                </a:lnTo>
                <a:close/>
              </a:path>
            </a:pathLst>
          </a:custGeom>
          <a:solidFill>
            <a:srgbClr val="1F4E79"/>
          </a:solidFill>
          <a:ln/>
        </p:spPr>
      </p:sp>
      <p:sp>
        <p:nvSpPr>
          <p:cNvPr id="25" name="Text 22"/>
          <p:cNvSpPr/>
          <p:nvPr/>
        </p:nvSpPr>
        <p:spPr>
          <a:xfrm>
            <a:off x="9061450" y="2599531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BIS 0–40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061450" y="2901752"/>
            <a:ext cx="21714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Profunda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061450" y="3264892"/>
            <a:ext cx="217144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Surto-supressão: rajadas entre trechos quase isoelétricos.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12800" y="4421684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Faixas usadas só para comunicação (acurácia e macro-F1 em 4 classes), não como limiares clínicos validados. Padrões de EEG sob anestesia: Purdon et al. (2015).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893544" y="6238280"/>
            <a:ext cx="485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25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 · O ÍNDICE BIS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BIS: a referência à beira do leito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301"/>
            <a:ext cx="4043660" cy="457200"/>
          </a:xfrm>
          <a:custGeom>
            <a:avLst/>
            <a:gdLst/>
            <a:ahLst/>
            <a:cxnLst/>
            <a:rect l="l" t="t" r="r" b="b"/>
            <a:pathLst>
              <a:path w="4043660" h="457200">
                <a:moveTo>
                  <a:pt x="0" y="76200"/>
                </a:moveTo>
                <a:arcTo hR="76200" wR="76200" stAng="10800000" swAng="5400000"/>
                <a:lnTo>
                  <a:pt x="4043660" y="0"/>
                </a:lnTo>
                <a:lnTo>
                  <a:pt x="4043660" y="457200"/>
                </a:lnTo>
                <a:lnTo>
                  <a:pt x="76200" y="457200"/>
                </a:lnTo>
                <a:arcTo hR="76200" wR="76200" stAng="5400000" swAng="5400000"/>
                <a:close/>
              </a:path>
            </a:pathLst>
          </a:custGeom>
          <a:solidFill>
            <a:srgbClr val="1F4E79"/>
          </a:solidFill>
          <a:ln/>
        </p:spPr>
        <p:txBody>
          <a:bodyPr wrap="square" lIns="152400" tIns="0" rIns="152400" bIns="0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– 40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56460" y="1803301"/>
            <a:ext cx="2174180" cy="457200"/>
          </a:xfrm>
          <a:prstGeom prst="rect">
            <a:avLst/>
          </a:prstGeom>
          <a:solidFill>
            <a:srgbClr val="4F93C6"/>
          </a:solidFill>
          <a:ln/>
        </p:spPr>
        <p:txBody>
          <a:bodyPr wrap="square" lIns="152400" tIns="0" rIns="152400" bIns="0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 – 60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30641" y="1803301"/>
            <a:ext cx="2174280" cy="457200"/>
          </a:xfrm>
          <a:prstGeom prst="rect">
            <a:avLst/>
          </a:prstGeom>
          <a:solidFill>
            <a:srgbClr val="8DBBDE"/>
          </a:solidFill>
          <a:ln/>
        </p:spPr>
        <p:txBody>
          <a:bodyPr wrap="square" lIns="152400" tIns="0" rIns="152400" bIns="0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 – 80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04920" y="1803301"/>
            <a:ext cx="2174280" cy="457200"/>
          </a:xfrm>
          <a:custGeom>
            <a:avLst/>
            <a:gdLst/>
            <a:ahLst/>
            <a:cxnLst/>
            <a:rect l="l" t="t" r="r" b="b"/>
            <a:pathLst>
              <a:path w="2174280" h="457200">
                <a:moveTo>
                  <a:pt x="2098080" y="0"/>
                </a:moveTo>
                <a:arcTo hR="76200" wR="76200" stAng="16200000" swAng="5400000"/>
                <a:lnTo>
                  <a:pt x="2174280" y="381000"/>
                </a:lnTo>
                <a:arcTo hR="76200" wR="76200" stAng="0" swAng="5400000"/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FE3F1"/>
          </a:solidFill>
          <a:ln/>
        </p:spPr>
        <p:txBody>
          <a:bodyPr wrap="square" lIns="152400" tIns="0" rIns="152400" bIns="0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 – 100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336701"/>
            <a:ext cx="435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Hipnose profunda → EEG isoelétrico (0)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39420" y="2336701"/>
            <a:ext cx="21766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Anestesia geral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52680" y="2336701"/>
            <a:ext cx="21766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Sedação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65940" y="2336701"/>
            <a:ext cx="21766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Acordado (100)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2807196"/>
            <a:ext cx="5200650" cy="1131391"/>
          </a:xfrm>
          <a:prstGeom prst="roundRect">
            <a:avLst>
              <a:gd name="adj" fmla="val 8699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" y="2988171"/>
            <a:ext cx="493153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Proprietário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2350" y="3295452"/>
            <a:ext cx="493153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Combina atributos temporais, espectrais e bispectrais por regra não publicada (Johansen; Sebel, 2000).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5375" y="2807196"/>
            <a:ext cx="5200650" cy="1131391"/>
          </a:xfrm>
          <a:prstGeom prst="roundRect">
            <a:avLst>
              <a:gd name="adj" fmla="val 8699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1750" y="2988171"/>
            <a:ext cx="493153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Sensível a confundidores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81750" y="3295452"/>
            <a:ext cx="493153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EMG, bloqueio neuromuscular e cetamina alteram a leitura (Schuller et al., 2015; Hans et al., 2005).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975" y="4097338"/>
            <a:ext cx="5200650" cy="1131391"/>
          </a:xfrm>
          <a:prstGeom prst="roundRect">
            <a:avLst>
              <a:gd name="adj" fmla="val 8699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2350" y="4278313"/>
            <a:ext cx="493153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Suavizado e com atraso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2350" y="4585593"/>
            <a:ext cx="493153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índice chega com atraso de cálculo (Pilge et al., 2006): motiva a suavização causal.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5375" y="4097338"/>
            <a:ext cx="5200650" cy="1131391"/>
          </a:xfrm>
          <a:prstGeom prst="roundRect">
            <a:avLst>
              <a:gd name="adj" fmla="val 8699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1750" y="4278313"/>
            <a:ext cx="493153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rótulo, não a verdade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1750" y="4585593"/>
            <a:ext cx="493153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Estimamos um rótulo de referência BIS — não consciência nem efeito do fármaco.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893544" y="6238280"/>
            <a:ext cx="485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25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 · EEG NA ANESTESIA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EEG real de um caso do corpus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52501"/>
            <a:ext cx="5080000" cy="4044950"/>
          </a:xfrm>
          <a:prstGeom prst="roundRect">
            <a:avLst>
              <a:gd name="adj" fmla="val 1884"/>
            </a:avLst>
          </a:prstGeom>
          <a:solidFill>
            <a:srgbClr val="FFFFFF"/>
          </a:solidFill>
          <a:ln/>
        </p:spPr>
      </p:sp>
      <p:pic>
        <p:nvPicPr>
          <p:cNvPr id="5" name="Image 0" descr="Janelas de EEG do caso 19 antes e depois do pré-processamento, espectrograma da gravação de 72 minutos e a curva BIS de referência">    </p:cNvPr>
          <p:cNvPicPr>
            <a:picLocks noChangeAspect="1"/>
          </p:cNvPicPr>
          <p:nvPr/>
        </p:nvPicPr>
        <p:blipFill>
          <a:blip r:embed="rId1"/>
          <a:srcRect l="-26" r="-26" t="0" b="0"/>
          <a:stretch/>
        </p:blipFill>
        <p:spPr>
          <a:xfrm>
            <a:off x="819150" y="1758851"/>
            <a:ext cx="5067300" cy="4032250"/>
          </a:xfrm>
          <a:prstGeom prst="roundRect">
            <a:avLst>
              <a:gd name="adj" fmla="val 1732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755676"/>
            <a:ext cx="5073650" cy="4038600"/>
          </a:xfrm>
          <a:prstGeom prst="roundRect">
            <a:avLst>
              <a:gd name="adj" fmla="val 1808"/>
            </a:avLst>
          </a:prstGeom>
          <a:noFill/>
          <a:ln w="6350">
            <a:solidFill>
              <a:srgbClr val="D9DE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99200" y="1863626"/>
            <a:ext cx="5080000" cy="0"/>
          </a:xfrm>
          <a:prstGeom prst="line">
            <a:avLst/>
          </a:prstGeom>
          <a:noFill/>
          <a:ln w="19050">
            <a:solidFill>
              <a:srgbClr val="0072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99200" y="2000151"/>
            <a:ext cx="52324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(a, b) Pré-processamento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99200" y="2294731"/>
            <a:ext cx="52324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Trecho limpo (BIS 30) quase não muda; um pico de 125 µV (BIS 75) é contido para 88 µV.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99200" y="2969617"/>
            <a:ext cx="5080000" cy="0"/>
          </a:xfrm>
          <a:prstGeom prst="line">
            <a:avLst/>
          </a:prstGeom>
          <a:noFill/>
          <a:ln w="19050">
            <a:solidFill>
              <a:srgbClr val="0072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99200" y="3106142"/>
            <a:ext cx="52324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(c) Espectro × BIS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99200" y="3400723"/>
            <a:ext cx="52324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Quando o BIS sobe, a potência relativa em teta cai e a de beta e gama sobe — a relação que a rede explora.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99200" y="4075609"/>
            <a:ext cx="5080000" cy="0"/>
          </a:xfrm>
          <a:prstGeom prst="line">
            <a:avLst/>
          </a:prstGeom>
          <a:noFill/>
          <a:ln w="19050">
            <a:solidFill>
              <a:srgbClr val="C9D0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9200" y="4212134"/>
            <a:ext cx="52324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Faixas brancas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99200" y="4506714"/>
            <a:ext cx="52324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Quedas de eletrodo a cada ~10 min, rejeitadas pelos gates de qualidade.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893544" y="6238280"/>
            <a:ext cx="485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25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 · DADOS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Duas fontes públicas, partição por caso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476"/>
            <a:ext cx="5175250" cy="1780480"/>
          </a:xfrm>
          <a:prstGeom prst="roundRect">
            <a:avLst>
              <a:gd name="adj" fmla="val 5528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12851"/>
            <a:ext cx="480072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Figshare — EEG and BIS raw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3150" y="2348111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Ma (2017) · CC BY 4.0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8494" y="2637631"/>
            <a:ext cx="470776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 casos anônimos de EEG frontal + BIS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Sensor BIS Quatro, BIS a cada 5 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identificador de participante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775" y="1806476"/>
            <a:ext cx="5175250" cy="1780480"/>
          </a:xfrm>
          <a:prstGeom prst="roundRect">
            <a:avLst>
              <a:gd name="adj" fmla="val 5528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950" y="2012851"/>
            <a:ext cx="480072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VitalDB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57950" y="2348111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Lee et al. (2022) · CC BY-NC-SA 4.0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43294" y="2637631"/>
            <a:ext cx="470776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Milhares de cirurgias (Seul), sinais perioperatórios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 BIS Vista, BIS a cada 1 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Agrupado por participante (reoperações juntas)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844131"/>
            <a:ext cx="228764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59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12800" y="4509591"/>
            <a:ext cx="228764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arquivos no corpus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37012" y="3844131"/>
            <a:ext cx="228764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37012" y="4509591"/>
            <a:ext cx="228764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casos elegíveis (23 Figshare + 10 VitalDB)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1223" y="3844131"/>
            <a:ext cx="228764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55.471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1223" y="4509591"/>
            <a:ext cx="228764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janelas de 5 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5435" y="3844131"/>
            <a:ext cx="3293765" cy="1127621"/>
          </a:xfrm>
          <a:prstGeom prst="roundRect">
            <a:avLst>
              <a:gd name="adj" fmla="val 9010"/>
            </a:avLst>
          </a:prstGeom>
          <a:solidFill>
            <a:srgbClr val="0F1B2D"/>
          </a:solidFill>
          <a:ln/>
        </p:spPr>
        <p:txBody>
          <a:bodyPr wrap="square" lIns="173442" tIns="122642" rIns="86821" bIns="122642" rtlCol="0" anchor="ctr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Regra:</a:t>
            </a:r>
            <a:r>
              <a:rPr lang="en-US" sz="13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nenhum caso cruza treino, validação e teste.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25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 · PRÉ-PROCESSAMENTO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Do sinal bruto à janela de entrada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276"/>
            <a:ext cx="1764010" cy="1250752"/>
          </a:xfrm>
          <a:prstGeom prst="roundRect">
            <a:avLst>
              <a:gd name="adj" fmla="val 7869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2012851"/>
            <a:ext cx="1503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1550" y="2276971"/>
            <a:ext cx="1503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EEG frontal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1550" y="2541091"/>
            <a:ext cx="150366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canal, em µV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84760" y="2412802"/>
            <a:ext cx="228600" cy="1397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18135" y="1857276"/>
            <a:ext cx="1764109" cy="1250752"/>
          </a:xfrm>
          <a:prstGeom prst="roundRect">
            <a:avLst>
              <a:gd name="adj" fmla="val 7869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73710" y="2012851"/>
            <a:ext cx="150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73710" y="2276971"/>
            <a:ext cx="150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73710" y="2541091"/>
            <a:ext cx="1503759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Rejeita trechos ruins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87020" y="2412802"/>
            <a:ext cx="228600" cy="1397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20395" y="1857276"/>
            <a:ext cx="1764010" cy="1250752"/>
          </a:xfrm>
          <a:prstGeom prst="roundRect">
            <a:avLst>
              <a:gd name="adj" fmla="val 7869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75970" y="2012851"/>
            <a:ext cx="1503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75970" y="2276971"/>
            <a:ext cx="1503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Filtro causal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375970" y="2541091"/>
            <a:ext cx="150366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0,5–45 Hz + notch 50 Hz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89180" y="2412802"/>
            <a:ext cx="228600" cy="1397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22555" y="1857276"/>
            <a:ext cx="1764010" cy="1250752"/>
          </a:xfrm>
          <a:prstGeom prst="roundRect">
            <a:avLst>
              <a:gd name="adj" fmla="val 7869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78130" y="2012851"/>
            <a:ext cx="1503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578130" y="2276971"/>
            <a:ext cx="1503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Amplitude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578130" y="2541091"/>
            <a:ext cx="150366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Clip ±100 µV, ÷ 50 µV</a:t>
            </a:r>
            <a:endParaRPr lang="en-US" sz="1200" dirty="0"/>
          </a:p>
        </p:txBody>
      </p:sp>
      <p:pic>
        <p:nvPicPr>
          <p:cNvPr id="2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91340" y="2412802"/>
            <a:ext cx="228600" cy="1397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21540" y="1854101"/>
            <a:ext cx="1757660" cy="1257102"/>
          </a:xfrm>
          <a:prstGeom prst="roundRect">
            <a:avLst>
              <a:gd name="adj" fmla="val 8082"/>
            </a:avLst>
          </a:prstGeom>
          <a:solidFill>
            <a:srgbClr val="0F1B2D"/>
          </a:solidFill>
          <a:ln/>
        </p:spPr>
      </p:sp>
      <p:sp>
        <p:nvSpPr>
          <p:cNvPr id="25" name="Text 19"/>
          <p:cNvSpPr/>
          <p:nvPr/>
        </p:nvSpPr>
        <p:spPr>
          <a:xfrm>
            <a:off x="9773940" y="2006501"/>
            <a:ext cx="1503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B4E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773940" y="2270621"/>
            <a:ext cx="1503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Janela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773940" y="2534741"/>
            <a:ext cx="150366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s = 640 amostras a 128 Hz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15975" y="3419177"/>
            <a:ext cx="5175250" cy="1475680"/>
          </a:xfrm>
          <a:prstGeom prst="roundRect">
            <a:avLst>
              <a:gd name="adj" fmla="val 6670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73150" y="3625552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Gates de qualidade (heurísticos)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1158494" y="3945533"/>
            <a:ext cx="470776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90% de EEG finito; lacuna máxima de 2 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Qualidade global ≥ 0,35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≥ 80% de BIS válido no caso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200775" y="3419177"/>
            <a:ext cx="5175250" cy="1475680"/>
          </a:xfrm>
          <a:prstGeom prst="roundRect">
            <a:avLst>
              <a:gd name="adj" fmla="val 6670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57950" y="3625552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 e causalidade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543294" y="3945533"/>
            <a:ext cx="470776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Alvo: BIS no instante t + offset (0 s)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Filtro usa só passado e presente, com estado por caso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Replay: buffer de 5 s, atualização a cada 1 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25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 · A REDE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Uma CNN 1-D compacta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409726"/>
            <a:ext cx="1383308" cy="882650"/>
          </a:xfrm>
          <a:prstGeom prst="roundRect">
            <a:avLst>
              <a:gd name="adj" fmla="val 8273"/>
            </a:avLst>
          </a:prstGeom>
          <a:solidFill>
            <a:srgbClr val="E3E8ED"/>
          </a:solidFill>
          <a:ln w="6350">
            <a:solidFill>
              <a:srgbClr val="B8C2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6876" y="2625030"/>
            <a:ext cx="7814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0074" y="2863751"/>
            <a:ext cx="8751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s de EEG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54858" y="2216051"/>
            <a:ext cx="1377057" cy="1270000"/>
          </a:xfrm>
          <a:prstGeom prst="roundRect">
            <a:avLst>
              <a:gd name="adj" fmla="val 6000"/>
            </a:avLst>
          </a:prstGeom>
          <a:solidFill>
            <a:srgbClr val="CFE3F1"/>
          </a:solidFill>
          <a:ln/>
        </p:spPr>
      </p:sp>
      <p:sp>
        <p:nvSpPr>
          <p:cNvPr id="8" name="Text 6"/>
          <p:cNvSpPr/>
          <p:nvPr/>
        </p:nvSpPr>
        <p:spPr>
          <a:xfrm>
            <a:off x="2707819" y="2505670"/>
            <a:ext cx="6710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11259" y="2744391"/>
            <a:ext cx="8641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1→32 · k7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0624" y="2983111"/>
            <a:ext cx="13455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BN · GELU · pool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84315" y="2057301"/>
            <a:ext cx="1377057" cy="1587500"/>
          </a:xfrm>
          <a:prstGeom prst="roundRect">
            <a:avLst>
              <a:gd name="adj" fmla="val 5534"/>
            </a:avLst>
          </a:prstGeom>
          <a:solidFill>
            <a:srgbClr val="A9CCE6"/>
          </a:solidFill>
          <a:ln/>
        </p:spPr>
      </p:sp>
      <p:sp>
        <p:nvSpPr>
          <p:cNvPr id="12" name="Text 10"/>
          <p:cNvSpPr/>
          <p:nvPr/>
        </p:nvSpPr>
        <p:spPr>
          <a:xfrm>
            <a:off x="4237276" y="2505670"/>
            <a:ext cx="6710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85828" y="2744391"/>
            <a:ext cx="9739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32→64 · k7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00081" y="2983111"/>
            <a:ext cx="13455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BN · GELU · pool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13772" y="1898551"/>
            <a:ext cx="1377057" cy="1905000"/>
          </a:xfrm>
          <a:prstGeom prst="roundRect">
            <a:avLst>
              <a:gd name="adj" fmla="val 5534"/>
            </a:avLst>
          </a:prstGeom>
          <a:solidFill>
            <a:srgbClr val="7FB2DA"/>
          </a:solidFill>
          <a:ln/>
        </p:spPr>
      </p:sp>
      <p:sp>
        <p:nvSpPr>
          <p:cNvPr id="16" name="Text 14"/>
          <p:cNvSpPr/>
          <p:nvPr/>
        </p:nvSpPr>
        <p:spPr>
          <a:xfrm>
            <a:off x="5766733" y="2505670"/>
            <a:ext cx="6710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60506" y="2744391"/>
            <a:ext cx="1083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64→128 · k5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29538" y="2983111"/>
            <a:ext cx="13455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BN · GELU · pool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3229" y="1898551"/>
            <a:ext cx="1377057" cy="1905000"/>
          </a:xfrm>
          <a:prstGeom prst="roundRect">
            <a:avLst>
              <a:gd name="adj" fmla="val 5534"/>
            </a:avLst>
          </a:prstGeom>
          <a:solidFill>
            <a:srgbClr val="5C9DCC"/>
          </a:solidFill>
          <a:ln/>
        </p:spPr>
      </p:sp>
      <p:sp>
        <p:nvSpPr>
          <p:cNvPr id="20" name="Text 18"/>
          <p:cNvSpPr/>
          <p:nvPr/>
        </p:nvSpPr>
        <p:spPr>
          <a:xfrm>
            <a:off x="7296190" y="2505670"/>
            <a:ext cx="6710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35076" y="2744391"/>
            <a:ext cx="11933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128→128 · k5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12251" y="2983111"/>
            <a:ext cx="838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BN · GELU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72686" y="2152551"/>
            <a:ext cx="1377057" cy="1397000"/>
          </a:xfrm>
          <a:prstGeom prst="roundRect">
            <a:avLst>
              <a:gd name="adj" fmla="val 5534"/>
            </a:avLst>
          </a:prstGeom>
          <a:solidFill>
            <a:srgbClr val="F6D7C1"/>
          </a:solidFill>
          <a:ln/>
        </p:spPr>
      </p:sp>
      <p:sp>
        <p:nvSpPr>
          <p:cNvPr id="24" name="Text 22"/>
          <p:cNvSpPr/>
          <p:nvPr/>
        </p:nvSpPr>
        <p:spPr>
          <a:xfrm>
            <a:off x="8795157" y="2386310"/>
            <a:ext cx="732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Cabeça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33718" y="2625030"/>
            <a:ext cx="1054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média global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49077" y="2863751"/>
            <a:ext cx="10241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128→64→1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79319" y="3102471"/>
            <a:ext cx="9636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dropout 0,2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02143" y="2406551"/>
            <a:ext cx="1377057" cy="889000"/>
          </a:xfrm>
          <a:prstGeom prst="roundRect">
            <a:avLst>
              <a:gd name="adj" fmla="val 8571"/>
            </a:avLst>
          </a:prstGeom>
          <a:solidFill>
            <a:srgbClr val="0F1B2D"/>
          </a:solidFill>
          <a:ln/>
        </p:spPr>
      </p:sp>
      <p:sp>
        <p:nvSpPr>
          <p:cNvPr id="29" name="Text 27"/>
          <p:cNvSpPr/>
          <p:nvPr/>
        </p:nvSpPr>
        <p:spPr>
          <a:xfrm>
            <a:off x="10412839" y="2625030"/>
            <a:ext cx="5556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Saída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5185" y="2863751"/>
            <a:ext cx="1270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sigmoide × 100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7400" y="4000401"/>
            <a:ext cx="14296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 × 640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18643" y="4000401"/>
            <a:ext cx="14297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32 × 320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9985" y="4000401"/>
            <a:ext cx="14296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64 × 160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81228" y="4000401"/>
            <a:ext cx="14296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128 × 80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12471" y="4000401"/>
            <a:ext cx="14296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128 × 80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43714" y="4000401"/>
            <a:ext cx="14296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128 → 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74957" y="4000401"/>
            <a:ext cx="14296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BIS 0–100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2800" y="4477246"/>
            <a:ext cx="3386634" cy="0"/>
          </a:xfrm>
          <a:prstGeom prst="line">
            <a:avLst/>
          </a:prstGeom>
          <a:noFill/>
          <a:ln w="19050">
            <a:solidFill>
              <a:srgbClr val="0072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2800" y="4613771"/>
            <a:ext cx="348823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072B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0,15 M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812800" y="5136952"/>
            <a:ext cx="34882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parâmetros — roda em CPU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402634" y="4477246"/>
            <a:ext cx="3386733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2634" y="4613771"/>
            <a:ext cx="348833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 blocos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4402634" y="5136952"/>
            <a:ext cx="348833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convolucionais com batch norm + GELU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992566" y="4477246"/>
            <a:ext cx="3386634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92566" y="4613771"/>
            <a:ext cx="348823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 número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7992566" y="5136952"/>
            <a:ext cx="34882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janela: o BIS estimado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25</a:t>
            </a:r>
            <a:endParaRPr lang="en-US" sz="1200" dirty="0"/>
          </a:p>
        </p:txBody>
      </p:sp>
      <p:sp>
        <p:nvSpPr>
          <p:cNvPr id="948" name="Text 44"/>
          <p:cNvSpPr/>
          <p:nvPr/>
        </p:nvSpPr>
        <p:spPr>
          <a:xfrm>
            <a:off x="812800" y="5700000"/>
            <a:ext cx="34882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CNN 1-D para sinais fisiológicos: Kiranyaz et al. (2021); Craik et al. (2019).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 · TREINO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Treino, checkpoints e controles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476"/>
            <a:ext cx="3198019" cy="1784052"/>
          </a:xfrm>
          <a:prstGeom prst="roundRect">
            <a:avLst>
              <a:gd name="adj" fmla="val 5517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12851"/>
            <a:ext cx="281650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3094" y="2332831"/>
            <a:ext cx="272353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Perda Smooth L1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épocas · batch 128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lr 10⁻³ · weight decay 10⁻⁴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Seed 42 · CPU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23544" y="1806476"/>
            <a:ext cx="3744912" cy="1784052"/>
          </a:xfrm>
          <a:prstGeom prst="roundRect">
            <a:avLst>
              <a:gd name="adj" fmla="val 5517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5319" y="2012851"/>
            <a:ext cx="337980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Dois checkpoints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55319" y="2358231"/>
            <a:ext cx="337980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72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Ativo:</a:t>
            </a: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só Figshare, 13 / 5 / 5 casos (treino / validação / teste).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55319" y="2921992"/>
            <a:ext cx="337980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04C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□ Misto:</a:t>
            </a: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Figshare + parte do VitalDB; ajuste com 12 + 4 casos.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78006" y="1806476"/>
            <a:ext cx="3198019" cy="1784052"/>
          </a:xfrm>
          <a:prstGeom prst="roundRect">
            <a:avLst>
              <a:gd name="adj" fmla="val 5517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9781" y="2012851"/>
            <a:ext cx="281650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Controle espectral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9781" y="2332831"/>
            <a:ext cx="281650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 Forest (100 árvores) sobre os 14 atributos espectrais, nas mesmas janelas de treino e teste.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800" y="3847703"/>
            <a:ext cx="10566400" cy="1518642"/>
          </a:xfrm>
          <a:prstGeom prst="roundRect">
            <a:avLst>
              <a:gd name="adj" fmla="val 6690"/>
            </a:avLst>
          </a:prstGeom>
          <a:solidFill>
            <a:srgbClr val="0F1B2D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" y="4101703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6B4E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PÓS-PROCESSAMENTO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7600" y="4365823"/>
            <a:ext cx="340106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Média móvel exponencial causal (EWMA), por caso, sobre predições congeladas — sem retreino.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24400" y="4248845"/>
            <a:ext cx="654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6F5F1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s[t] = α·y[t] + (1 − α)·s[t−1]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24400" y="4680645"/>
            <a:ext cx="65405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6B4E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α = 2 / (span + 1)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25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6B4E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 · RESULTADOS — HOLDOUT FIGSHARE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CNN supera o controle espectral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17601"/>
            <a:ext cx="3251200" cy="0"/>
          </a:xfrm>
          <a:prstGeom prst="line">
            <a:avLst/>
          </a:prstGeom>
          <a:noFill/>
          <a:ln w="25400">
            <a:solidFill>
              <a:srgbClr val="56B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108101"/>
            <a:ext cx="3348736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56B4E9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7,03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812800" y="3200301"/>
            <a:ext cx="33487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da CNN (pontos BIS)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70400" y="1917601"/>
            <a:ext cx="3251200" cy="0"/>
          </a:xfrm>
          <a:prstGeom prst="line">
            <a:avLst/>
          </a:prstGeom>
          <a:noFill/>
          <a:ln w="25400">
            <a:solidFill>
              <a:srgbClr val="6A75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0400" y="2108101"/>
            <a:ext cx="3348736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AEBBC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8,86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470400" y="3200301"/>
            <a:ext cx="33487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do baseline espectral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0" y="1917601"/>
            <a:ext cx="3251200" cy="0"/>
          </a:xfrm>
          <a:prstGeom prst="line">
            <a:avLst/>
          </a:prstGeom>
          <a:noFill/>
          <a:ln w="25400">
            <a:solidFill>
              <a:srgbClr val="56B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0" y="2108101"/>
            <a:ext cx="3348736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56B4E9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0,773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8128000" y="3200301"/>
            <a:ext cx="33487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 da CNN (0,5 = acaso; 1 = ordem perfeita)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408930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ΔMAE pareado </a:t>
            </a:r>
            <a:r>
              <a:rPr lang="en-US" sz="1500" b="1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−1,84</a:t>
            </a:r>
            <a:r>
              <a:rPr lang="en-US" sz="1500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(IC 95% −2,37 a −0,66) · 5 casos, 5.523 janelas · leitura exploratória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A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9A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/ 25</a:t>
            </a:r>
            <a:endParaRPr lang="en-US" sz="1200" dirty="0"/>
          </a:p>
        </p:txBody>
      </p:sp>
      <p:sp>
        <p:nvSpPr>
          <p:cNvPr id="915" name="Text 11"/>
          <p:cNvSpPr/>
          <p:nvPr/>
        </p:nvSpPr>
        <p:spPr>
          <a:xfrm>
            <a:off x="812800" y="47000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Pearson 0,784 vs 0,667 · acurácia por faixa 0,585 vs 0,540 · RMSE 11,08 vs 13,23 (CNN vs baseline espectral)</a:t>
            </a:r>
            <a:r>
              <a:rPr lang="en-US" sz="1500" b="1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500" dirty="0">
                <a:solidFill>
                  <a:srgbClr val="D5DE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 · RESULTADOS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Trajetória ao longo de uma cirurgia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77901"/>
            <a:ext cx="6858000" cy="360045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/>
        </p:spPr>
      </p:sp>
      <p:pic>
        <p:nvPicPr>
          <p:cNvPr id="5" name="Image 0" descr="Caso 19: curva BIS de referência e predição bruta da CNN ao longo da cirurgia, com o erro por janela abaixo">    </p:cNvPr>
          <p:cNvPicPr>
            <a:picLocks noChangeAspect="1"/>
          </p:cNvPicPr>
          <p:nvPr/>
        </p:nvPicPr>
        <p:blipFill>
          <a:blip r:embed="rId1"/>
          <a:srcRect l="-96" r="-96" t="0" b="0"/>
          <a:stretch/>
        </p:blipFill>
        <p:spPr>
          <a:xfrm>
            <a:off x="819150" y="1784251"/>
            <a:ext cx="6845300" cy="3587750"/>
          </a:xfrm>
          <a:prstGeom prst="roundRect">
            <a:avLst>
              <a:gd name="adj" fmla="val 1947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781076"/>
            <a:ext cx="6851650" cy="3594100"/>
          </a:xfrm>
          <a:prstGeom prst="roundRect">
            <a:avLst>
              <a:gd name="adj" fmla="val 2032"/>
            </a:avLst>
          </a:prstGeom>
          <a:noFill/>
          <a:ln w="6350">
            <a:solidFill>
              <a:srgbClr val="D9DE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479951"/>
            <a:ext cx="70637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Acompanha a queda inicial e a elevação final, mas superestima o patamar intermediário.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26400" y="1784251"/>
            <a:ext cx="3352800" cy="0"/>
          </a:xfrm>
          <a:prstGeom prst="line">
            <a:avLst/>
          </a:prstGeom>
          <a:noFill/>
          <a:ln w="12700">
            <a:solidFill>
              <a:srgbClr val="0F1B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6400" y="1879501"/>
            <a:ext cx="345338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850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026400" y="2389981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janelas aceitas (caso 19)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26400" y="2736652"/>
            <a:ext cx="3352800" cy="0"/>
          </a:xfrm>
          <a:prstGeom prst="line">
            <a:avLst/>
          </a:prstGeom>
          <a:noFill/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26400" y="2831902"/>
            <a:ext cx="345338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8,72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026400" y="3342382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no caso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26400" y="3689052"/>
            <a:ext cx="3352800" cy="0"/>
          </a:xfrm>
          <a:prstGeom prst="line">
            <a:avLst/>
          </a:prstGeom>
          <a:noFill/>
          <a:ln w="12700">
            <a:solidFill>
              <a:srgbClr val="B04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26400" y="3784302"/>
            <a:ext cx="345338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04C0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+4,79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026400" y="4294783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viés: superestima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26400" y="4641453"/>
            <a:ext cx="3352800" cy="0"/>
          </a:xfrm>
          <a:prstGeom prst="line">
            <a:avLst/>
          </a:prstGeom>
          <a:noFill/>
          <a:ln w="12700">
            <a:solidFill>
              <a:srgbClr val="0072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26400" y="4736703"/>
            <a:ext cx="345338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072B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0,910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8026400" y="5247184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Pearson intra-caso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/ 25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 · RESULTADOS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Comparação nos dois benchmarks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10566400" cy="2328466"/>
          </a:xfrm>
          <a:prstGeom prst="rect">
            <a:avLst/>
          </a:prstGeom>
          <a:solidFill>
            <a:srgbClr val="FDFDF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16001"/>
          <a:ext cx="10553700" cy="2315766"/>
        </p:xfrm>
        <a:graphic>
          <a:graphicData uri="http://schemas.openxmlformats.org/drawingml/2006/table">
            <a:tbl>
              <a:tblPr/>
              <a:tblGrid>
                <a:gridCol w="1583055"/>
                <a:gridCol w="3271647"/>
                <a:gridCol w="2532888"/>
                <a:gridCol w="1477518"/>
                <a:gridCol w="1688592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Benchmark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 (fontes vistas)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MAE (IC 95%)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Pearson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Figshare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Ativo (Figshare)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7,03 (6,38–8,24)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0,784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0,773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Figshare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Misto (Figshare + VitalDB)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6,69 (5,65–8,53)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0,818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0,774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VitalDB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Ativo (Figshare)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12,43 (11,05–14,45)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0,024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0,515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VitalDB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Misto (Figshare + VitalDB)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8,60 (7,57–9,95)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0,688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0,672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VitalDB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RF espectral (Figshare)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13,62 (11,98–16,01)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−0,036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0,502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E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5975" y="4388941"/>
            <a:ext cx="5175250" cy="1055191"/>
          </a:xfrm>
          <a:prstGeom prst="roundRect">
            <a:avLst>
              <a:gd name="adj" fmla="val 6921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  <p:txBody>
          <a:bodyPr wrap="square" lIns="184987" tIns="159587" rIns="42112" bIns="13418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de 4 MAE abaixo de 10 pontos</a:t>
            </a: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escala de leitura adotada a partir de estudos de comparação de montagens do BIS (Harada et al., 2021), não variabilidade geral do monitor nem critério clínico.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00775" y="4388941"/>
            <a:ext cx="5175250" cy="1055191"/>
          </a:xfrm>
          <a:prstGeom prst="roundRect">
            <a:avLst>
              <a:gd name="adj" fmla="val 6921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  <p:txBody>
          <a:bodyPr wrap="square" lIns="184987" tIns="159587" rIns="42112" bIns="15958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Misto vs. ativo no Figshare:</a:t>
            </a: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ΔMAE 0,34 (IC −0,28 a 0,81) — diferença não sustentada.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/ 25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 · RESULTADOS — VITALDB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desempenho não transporta entre fontes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77901"/>
            <a:ext cx="6604000" cy="3689350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/>
        </p:spPr>
      </p:sp>
      <p:pic>
        <p:nvPicPr>
          <p:cNvPr id="5" name="Image 0" descr="MAE e Pearson agregados por benchmark e MAE pareado nos 15 casos VitalDB, ativo contra misto">    </p:cNvPr>
          <p:cNvPicPr>
            <a:picLocks noChangeAspect="1"/>
          </p:cNvPicPr>
          <p:nvPr/>
        </p:nvPicPr>
        <p:blipFill>
          <a:blip r:embed="rId1"/>
          <a:srcRect l="-108" r="-108" t="0" b="0"/>
          <a:stretch/>
        </p:blipFill>
        <p:spPr>
          <a:xfrm>
            <a:off x="819150" y="1784251"/>
            <a:ext cx="6591300" cy="3676650"/>
          </a:xfrm>
          <a:prstGeom prst="roundRect">
            <a:avLst>
              <a:gd name="adj" fmla="val 19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781076"/>
            <a:ext cx="6597650" cy="3683000"/>
          </a:xfrm>
          <a:prstGeom prst="roundRect">
            <a:avLst>
              <a:gd name="adj" fmla="val 1983"/>
            </a:avLst>
          </a:prstGeom>
          <a:noFill/>
          <a:ln w="6350">
            <a:solidFill>
              <a:srgbClr val="D9DE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0" y="1784251"/>
            <a:ext cx="3606800" cy="0"/>
          </a:xfrm>
          <a:prstGeom prst="line">
            <a:avLst/>
          </a:prstGeom>
          <a:noFill/>
          <a:ln w="12700">
            <a:solidFill>
              <a:srgbClr val="B04C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1866801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B04C0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12,43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72400" y="2341761"/>
            <a:ext cx="371500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do ativo no VitalDB (era 7,03)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660452"/>
            <a:ext cx="3606800" cy="0"/>
          </a:xfrm>
          <a:prstGeom prst="line">
            <a:avLst/>
          </a:prstGeom>
          <a:noFill/>
          <a:ln w="12700">
            <a:solidFill>
              <a:srgbClr val="B04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2743002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B04C0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0,515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0" y="3217962"/>
            <a:ext cx="371500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PK: indistinguível do acaso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3536652"/>
            <a:ext cx="3606800" cy="0"/>
          </a:xfrm>
          <a:prstGeom prst="line">
            <a:avLst/>
          </a:prstGeom>
          <a:noFill/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3619202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13,62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772400" y="4094163"/>
            <a:ext cx="371500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RF espectral colapsa igual (PK 0,502)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0" y="4412853"/>
            <a:ext cx="3606800" cy="0"/>
          </a:xfrm>
          <a:prstGeom prst="line">
            <a:avLst/>
          </a:prstGeom>
          <a:noFill/>
          <a:ln w="12700">
            <a:solidFill>
              <a:srgbClr val="0072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4495403"/>
            <a:ext cx="371500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72B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14 / 15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772400" y="4970363"/>
            <a:ext cx="371500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casos melhoram com o misto — que já viu a fonte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/ 25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 · RESULTADOS — IMPLANTABILIDADE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Mesma ordem de grandeza de um modelo 7× maior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715000" cy="269875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</p:spPr>
      </p:sp>
      <p:pic>
        <p:nvPicPr>
          <p:cNvPr id="5" name="Image 0" descr="Compromisso entre atraso e erro do EWMA causal no Figshare, comparado à faixa do TCN-BiLSTM">    </p:cNvPr>
          <p:cNvPicPr>
            <a:picLocks noChangeAspect="1"/>
          </p:cNvPicPr>
          <p:nvPr/>
        </p:nvPicPr>
        <p:blipFill>
          <a:blip r:embed="rId1"/>
          <a:srcRect l="-43" r="-43" t="0" b="0"/>
          <a:stretch/>
        </p:blipFill>
        <p:spPr>
          <a:xfrm>
            <a:off x="819150" y="1809651"/>
            <a:ext cx="5702300" cy="2686050"/>
          </a:xfrm>
          <a:prstGeom prst="roundRect">
            <a:avLst>
              <a:gd name="adj" fmla="val 26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806476"/>
            <a:ext cx="5708650" cy="2692400"/>
          </a:xfrm>
          <a:prstGeom prst="roundRect">
            <a:avLst>
              <a:gd name="adj" fmla="val 2712"/>
            </a:avLst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4603651"/>
            <a:ext cx="58864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ponto é um span do EWMA. Comparação de ordem de grandeza, não ranking: protocolos, seleção da suavização e avaliação diferem; o span 5 foi escolhido pós-hoc.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32600" y="1803301"/>
            <a:ext cx="4546600" cy="1809055"/>
          </a:xfrm>
          <a:prstGeom prst="rect">
            <a:avLst/>
          </a:prstGeom>
          <a:solidFill>
            <a:srgbClr val="FDFDF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45300" y="1816001"/>
          <a:ext cx="4533900" cy="1796355"/>
        </p:xfrm>
        <a:graphic>
          <a:graphicData uri="http://schemas.openxmlformats.org/drawingml/2006/table">
            <a:tbl>
              <a:tblPr/>
              <a:tblGrid>
                <a:gridCol w="1541526"/>
                <a:gridCol w="1496187"/>
                <a:gridCol w="1496187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072B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BrainSniffer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TCN-BiLSTM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MAE Figshare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6,11 (span 5)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6,03 ± 0,38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Memória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 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45–95 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Parâmetros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0,15 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1,07 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Causal ao vivo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A46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12800" y="528429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TCN-BiLSTM: Sukriti et al. (2026) — BiLSTM bidirecional e filtro de fase zero. Com span 10, o misto chega a 5,84 (22,5 s).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/ 25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 · RESULTADOS — EXPERIMENTO FATORIAL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Mudar o treino não resolveu o transporte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9651"/>
            <a:ext cx="4064000" cy="0"/>
          </a:xfrm>
          <a:prstGeom prst="line">
            <a:avLst/>
          </a:prstGeom>
          <a:noFill/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17601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· reprodução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156321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 o harness: 7,03 no Figshare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474416"/>
            <a:ext cx="40640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579191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· winsor ±200 µV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2817912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Piora o Figshare (8,19)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136007"/>
            <a:ext cx="40640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240782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 · Huber + treino longo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479502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Único ganho interno (6,63)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3797598"/>
            <a:ext cx="40640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800" y="4459188"/>
            <a:ext cx="4064000" cy="0"/>
          </a:xfrm>
          <a:prstGeom prst="line">
            <a:avLst/>
          </a:prstGeom>
          <a:noFill/>
          <a:ln w="6350">
            <a:solidFill>
              <a:srgbClr val="C9D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90237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 · z-score por sujeito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14109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Sobe Pearson e CCC, não o MAE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83200" y="1803301"/>
            <a:ext cx="62788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no VitalDB (pontos BIS)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3200" y="2210891"/>
            <a:ext cx="749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3300" y="2161381"/>
            <a:ext cx="4013200" cy="330200"/>
          </a:xfrm>
          <a:prstGeom prst="roundRect">
            <a:avLst>
              <a:gd name="adj" fmla="val 7692"/>
            </a:avLst>
          </a:prstGeom>
          <a:solidFill>
            <a:srgbClr val="8DA5BD"/>
          </a:solidFill>
          <a:ln/>
        </p:spPr>
      </p:sp>
      <p:sp>
        <p:nvSpPr>
          <p:cNvPr id="20" name="Text 18"/>
          <p:cNvSpPr/>
          <p:nvPr/>
        </p:nvSpPr>
        <p:spPr>
          <a:xfrm>
            <a:off x="10198100" y="2210891"/>
            <a:ext cx="52947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12,64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83200" y="2668091"/>
            <a:ext cx="749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3300" y="2618581"/>
            <a:ext cx="3822700" cy="330200"/>
          </a:xfrm>
          <a:prstGeom prst="roundRect">
            <a:avLst>
              <a:gd name="adj" fmla="val 7692"/>
            </a:avLst>
          </a:prstGeom>
          <a:solidFill>
            <a:srgbClr val="8DA5BD"/>
          </a:solidFill>
          <a:ln/>
        </p:spPr>
      </p:sp>
      <p:sp>
        <p:nvSpPr>
          <p:cNvPr id="23" name="Text 21"/>
          <p:cNvSpPr/>
          <p:nvPr/>
        </p:nvSpPr>
        <p:spPr>
          <a:xfrm>
            <a:off x="10007600" y="2668091"/>
            <a:ext cx="52947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12,04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83200" y="3125291"/>
            <a:ext cx="749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3300" y="3075781"/>
            <a:ext cx="4006850" cy="330200"/>
          </a:xfrm>
          <a:prstGeom prst="roundRect">
            <a:avLst>
              <a:gd name="adj" fmla="val 7692"/>
            </a:avLst>
          </a:prstGeom>
          <a:solidFill>
            <a:srgbClr val="8DA5BD"/>
          </a:solidFill>
          <a:ln/>
        </p:spPr>
      </p:sp>
      <p:sp>
        <p:nvSpPr>
          <p:cNvPr id="26" name="Text 24"/>
          <p:cNvSpPr/>
          <p:nvPr/>
        </p:nvSpPr>
        <p:spPr>
          <a:xfrm>
            <a:off x="10191750" y="3125291"/>
            <a:ext cx="52947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12,61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3200" y="3582491"/>
            <a:ext cx="749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3300" y="3532981"/>
            <a:ext cx="3943350" cy="330200"/>
          </a:xfrm>
          <a:prstGeom prst="roundRect">
            <a:avLst>
              <a:gd name="adj" fmla="val 7692"/>
            </a:avLst>
          </a:prstGeom>
          <a:solidFill>
            <a:srgbClr val="8DA5BD"/>
          </a:solidFill>
          <a:ln/>
        </p:spPr>
      </p:sp>
      <p:sp>
        <p:nvSpPr>
          <p:cNvPr id="29" name="Text 27"/>
          <p:cNvSpPr/>
          <p:nvPr/>
        </p:nvSpPr>
        <p:spPr>
          <a:xfrm>
            <a:off x="10128250" y="3582491"/>
            <a:ext cx="52947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12,41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83200" y="4169691"/>
            <a:ext cx="749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04C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83300" y="4120181"/>
            <a:ext cx="2730500" cy="330200"/>
          </a:xfrm>
          <a:prstGeom prst="roundRect">
            <a:avLst>
              <a:gd name="adj" fmla="val 7692"/>
            </a:avLst>
          </a:prstGeom>
          <a:solidFill>
            <a:srgbClr val="D55E00"/>
          </a:solidFill>
          <a:ln/>
        </p:spPr>
      </p:sp>
      <p:sp>
        <p:nvSpPr>
          <p:cNvPr id="32" name="Text 30"/>
          <p:cNvSpPr/>
          <p:nvPr/>
        </p:nvSpPr>
        <p:spPr>
          <a:xfrm>
            <a:off x="8915400" y="4169691"/>
            <a:ext cx="153804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04C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8,60 · viu a fonte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2800" y="4716363"/>
            <a:ext cx="10566400" cy="622300"/>
          </a:xfrm>
          <a:prstGeom prst="roundRect">
            <a:avLst>
              <a:gd name="adj" fmla="val 16327"/>
            </a:avLst>
          </a:prstGeom>
          <a:solidFill>
            <a:srgbClr val="0F1B2D"/>
          </a:solidFill>
          <a:ln/>
        </p:spPr>
        <p:txBody>
          <a:bodyPr wrap="square" lIns="224242" tIns="148042" rIns="0" bIns="1226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separa os resultados é a </a:t>
            </a:r>
            <a:r>
              <a:rPr lang="en-US" sz="15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exposição ao domínio</a:t>
            </a:r>
            <a:r>
              <a:rPr lang="en-US" sz="15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não arquitetura, perda ou normalização.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/ 25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07 · CONCLUSÃO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 que este trabalho entrega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276"/>
            <a:ext cx="3380284" cy="2259112"/>
          </a:xfrm>
          <a:prstGeom prst="roundRect">
            <a:avLst>
              <a:gd name="adj" fmla="val 4357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89051"/>
            <a:ext cx="295191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72B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3150" y="2830711"/>
            <a:ext cx="295191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Supera o controle espectral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3150" y="3191371"/>
            <a:ext cx="295191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7,03 contra 8,86, com validação por caso, e ordena a cirurgia como a referência (PK 0,773).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09" y="1857276"/>
            <a:ext cx="3380383" cy="2259112"/>
          </a:xfrm>
          <a:prstGeom prst="roundRect">
            <a:avLst>
              <a:gd name="adj" fmla="val 4357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984" y="2089051"/>
            <a:ext cx="2952014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72B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ii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62984" y="2830711"/>
            <a:ext cx="295201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Competitiva e implantável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2984" y="3191371"/>
            <a:ext cx="295201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EWMA causal, 6,11 em 10 s — na faixa de um modelo 7× maior, em CPU e sem acesso ao futuro.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741" y="1857276"/>
            <a:ext cx="3380284" cy="2259112"/>
          </a:xfrm>
          <a:prstGeom prst="roundRect">
            <a:avLst>
              <a:gd name="adj" fmla="val 4357"/>
            </a:avLst>
          </a:prstGeom>
          <a:solidFill>
            <a:srgbClr val="FDFDFB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916" y="2089051"/>
            <a:ext cx="295191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B04C0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iii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52916" y="2830711"/>
            <a:ext cx="295191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transporta entre fontes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52916" y="3191371"/>
            <a:ext cx="295191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VitalDB, PK 0,515. A prioridade passa de "modelo maior" para "dados da fonte".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424363"/>
            <a:ext cx="11379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Contribuição: uma cadeia compacta, causal e auditável (hashes, partições, replay) para testar hipóteses — não um sistema clínico.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/ 25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07 · LIMITAÇÕES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Limitações e próximos passos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876"/>
            <a:ext cx="5175250" cy="2047180"/>
          </a:xfrm>
          <a:prstGeom prst="roundRect">
            <a:avLst>
              <a:gd name="adj" fmla="val 4808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6365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Limitações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8494" y="2409031"/>
            <a:ext cx="4707763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Retrospectivo e exploratório: 5 casos no holdout Figshare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Benchmark VitalDB reusado após exposição ao domínio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Imputação offline pode usar amostras futuras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Alvo é o BIS: sensível a EMG, cetamina e atrasos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EWMA pós-hoc, com span escolhido após os resultados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1831876"/>
            <a:ext cx="5175250" cy="2047180"/>
          </a:xfrm>
          <a:prstGeom prst="roundRect">
            <a:avLst>
              <a:gd name="adj" fmla="val 4808"/>
            </a:avLst>
          </a:prstGeom>
          <a:solidFill>
            <a:srgbClr val="FDFDFB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06365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43294" y="2409031"/>
            <a:ext cx="4707763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Coorte travada de outra fonte, partição definida antes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Métricas primárias pré-registradas (MAE e PK)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Treinar com mais fontes, auditando por hashes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Medir sensibilidade a EMG e ao notch por centro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Avaliação prospectiva da cadeia ao vivo</a:t>
            </a:r>
            <a:endParaRPr lang="en-US" sz="1300" dirty="0"/>
          </a:p>
        </p:txBody>
      </p:sp>
      <p:pic>
        <p:nvPicPr>
          <p:cNvPr id="10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161631"/>
            <a:ext cx="254000" cy="254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93800" y="4173041"/>
            <a:ext cx="918329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BrainSniffer não mede consciência, não prescreve dose e não deve acionar alarme ou conduta clínica.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 / 25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4763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6B4E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BRAINSNIFFER · TCC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214959"/>
            <a:ext cx="1088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Obrigado!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337000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D5DEE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Perguntas?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00" y="4042000"/>
            <a:ext cx="6985000" cy="0"/>
          </a:xfrm>
          <a:prstGeom prst="line">
            <a:avLst/>
          </a:prstGeom>
          <a:noFill/>
          <a:ln w="12700">
            <a:solidFill>
              <a:srgbClr val="2E3D5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800" y="4250000"/>
            <a:ext cx="71945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Bruno Rocha Guimarães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4580000"/>
            <a:ext cx="71945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B4E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github.com/Bruno-BRG/brainsniffer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870000"/>
            <a:ext cx="71945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EBB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Código sob licença MIT · dados não redistribuídos · relatórios com hashes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1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ANEXO · REFERÊNCIAS (1/3)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Referências</a:t>
            </a:r>
            <a:endParaRPr lang="en-US" sz="3200" dirty="0"/>
          </a:p>
        </p:txBody>
      </p:sp>
      <p:sp>
        <p:nvSpPr>
          <p:cNvPr id="5" name="Text 12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6" name="Text 13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 / 25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812800" y="18033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ARCHER, L. et al. Minimum sample size for external validation of a clinical prediction model with a continuous outcome.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Statistics in Medicine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40, n. 1, p. 133–146, 2021.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812800" y="24764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AVIDAN, M. S. et al. Anesthesia awareness and the bispectral index.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England Journal of Medicine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358, p. 1097–1108, 2008.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12800" y="29590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AVIDAN, M. S. et al. Prevention of intraoperative awareness in a high-risk surgical population.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England Journal of Medicine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365, p. 591–600, 2011.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12800" y="36321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COLLINS, G. S. et al. TRIPOD+AI statement: updated guidance for reporting clinical prediction models that use regression or machine learning methods.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BMJ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385, e078378, 2024.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12800" y="43052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CONNOR, C. W. Open reimplementation of the BIS algorithms for depth of anesthesia.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Anesthesia &amp; Analgesia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135, n. 4, p. 855–864, 2022.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248400" y="18033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CRAIK, A.; HE, Y.; CONTRERAS-VIDAL, J. L. Deep learning for electroencephalogram (EEG) classification tasks: a review.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Journal of Neural Engineering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16, n. 3, 031001, 2019.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248400" y="24764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DAHABA, A. A. et al. BIS-vista occipital montage in patients undergoing neurosurgical procedures during propofol-remifentanil anesthesia.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Anesthesiology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112, n. 3, p. 645–651, 2010.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48400" y="31495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FIELD, C. A.; WELSH, A. H. Bootstrapping clustered data.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Journal of the Royal Statistical Society: Series B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69, n. 3, p. 369–390, 2007.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248400" y="36321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GARBE, J. et al.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DOSE-I: a multimodal biosignal dataset of procedural sedation for endoscopy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Zenodo, 2026. Conjunto de dados.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248400" y="41147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HANS, P. et al. Comparative effects of ketamine on Bispectral Index and spectral entropy of the electroencephalogram under sevoflurane anaesthesia.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British Journal of Anaesthesia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94, n. 3, p. 336–340, 2005.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248400" y="47878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HARADA, H. et al. Accuracy of BIS monitoring using a novel interface device connecting conventional needle-electrodes and BIS sensors during frontal neurosurgical procedures.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PLoS ONE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16, n. 10, e0258647, 2021.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1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ANEXO · REFERÊNCIAS (2/3)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Referências</a:t>
            </a:r>
            <a:endParaRPr lang="en-US" sz="3200" dirty="0"/>
          </a:p>
        </p:txBody>
      </p:sp>
      <p:sp>
        <p:nvSpPr>
          <p:cNvPr id="5" name="Text 11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6" name="Text 12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 / 25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12800" y="18033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JOHANSEN, J. W.; SEBEL, P. S. Development and clinical application of electroencephalographic bispectrum monitoring.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Anesthesiology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93, n. 5, p. 1336–1344, 2000.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4764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KIRANYAZ, S. et al. 1D convolutional neural networks and applications: a survey.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Mechanical Systems and Signal Processing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151, 107398, 2021.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12800" y="29590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LEE, H.-C. et al. VitalDB, a high-fidelity multi-parameter vital signs database in surgical patients.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Scientific Data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9, 279, 2022.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12800" y="34416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LIU, Q. et al. Sample entropy analysis for the estimating depth of anaesthesia through human EEG signal at different levels of unconsciousness during surgeries.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PeerJ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6, e4817, 2018.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12800" y="41147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MA, L.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EEG and BIS raw data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Figshare, 2017. Conjunto de dados, v1. DOI: 10.6084/m9.figshare.5589841.v1.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248400" y="18033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MYLES, P. S. et al. Bispectral index monitoring to prevent awareness during anaesthesia: the B-Aware randomised controlled trial.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Lancet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363, p. 1757–1763, 2004.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48400" y="24764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NSUGBE, E.; CONNELLY, S. Multiscale depth of anaesthesia prediction for surgery using frontal cortex electroencephalography.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Healthcare Technology Letters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9, p. 43–53, 2022.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248400" y="31495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PARK, Y. et al. A real-time depth of anesthesia monitoring system based on deep neural network with large EDO tolerant EEG analog front-end.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Transactions on Biomedical Circuits and Systems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14, p. 825–837, 2020.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1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0072B2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ANEXO · REFERÊNCIAS (3/3)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Referências</a:t>
            </a:r>
            <a:endParaRPr lang="en-US" sz="3200" dirty="0"/>
          </a:p>
        </p:txBody>
      </p:sp>
      <p:sp>
        <p:nvSpPr>
          <p:cNvPr id="5" name="Text 11"/>
          <p:cNvSpPr/>
          <p:nvPr/>
        </p:nvSpPr>
        <p:spPr>
          <a:xfrm>
            <a:off x="812800" y="6238280"/>
            <a:ext cx="3100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BrainSniffer · Bruno Rocha Guimarães</a:t>
            </a:r>
            <a:endParaRPr lang="en-US" sz="1200" dirty="0"/>
          </a:p>
        </p:txBody>
      </p:sp>
      <p:sp>
        <p:nvSpPr>
          <p:cNvPr id="6" name="Text 12"/>
          <p:cNvSpPr/>
          <p:nvPr/>
        </p:nvSpPr>
        <p:spPr>
          <a:xfrm>
            <a:off x="10783888" y="6238280"/>
            <a:ext cx="595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 / 25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812800" y="18033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PILGE, S. et al. Time delay of index calculation: analysis of cerebral state, bispectral, and Narcotrend indices.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Anesthesiology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104, n. 3, p. 488–494, 2006.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24764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PURDON, P. L. et al. Clinical electroencephalography for anesthesiologists: part I: background and basic signatures.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Anesthesiology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123, n. 4, p. 937–960, 2015.</a:t>
            </a:r>
            <a:endParaRPr lang="en-US" sz="1200" dirty="0"/>
          </a:p>
        </p:txBody>
      </p:sp>
      <p:sp>
        <p:nvSpPr>
          <p:cNvPr id="9" name="Text 3"/>
          <p:cNvSpPr/>
          <p:nvPr/>
        </p:nvSpPr>
        <p:spPr>
          <a:xfrm>
            <a:off x="812800" y="31495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SAEB, S. et al. The need to approximate the use-case in clinical machine learning.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GigaScience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6, 2017.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812800" y="36321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SCHULLER, P. J. et al. Response of bispectral index to neuromuscular block in awake volunteers.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British Journal of Anaesthesia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115, supl. 1, p. i95–i103, 2015.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812800" y="43052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SHI, M. et al. Estimating the depth of anesthesia from EEG signals based on a deep residual shrinkage network.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Sensors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23, n. 2, 1008, 2023.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248400" y="18033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SHIRAISHI, T. et al. A comparison of frontal and occipital bispectral index values obtained during neurosurgical procedures.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Anesthesia &amp; Analgesia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98, n. 6, p. 1773–1775, 2004.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248400" y="24764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SMITH, W. D.; DUTTON, R. C.; SMITH, N. T. Measuring the performance of anesthetic depth indicators.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Anesthesiology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84, n. 1, p. 38–51, 1996.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48400" y="2959001"/>
            <a:ext cx="528472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SUKRITI et al. Predicting depth of anaesthesia from single-channel EEG using a deep TCN-BiLSTM-attention model with EWMA.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Scientific Reports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v. 16, 25470, 2026.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48400" y="3632101"/>
            <a:ext cx="52847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VITALDB. </a:t>
            </a:r>
            <a:r>
              <a:rPr lang="en-US" sz="1200" i="1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Dataset: overview and track list</a:t>
            </a:r>
            <a:r>
              <a:rPr lang="en-US" sz="1200" dirty="0">
                <a:solidFill>
                  <a:srgbClr val="3A4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2026. Disponível em: vitaldb.net/dataset.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CC – BrainSniffer">
  <a:themeElements>
    <a:clrScheme name="TCC – BrainSniffer">
      <a:dk1>
        <a:srgbClr val="0F1B2D"/>
      </a:dk1>
      <a:lt1>
        <a:srgbClr val="F6F5F1"/>
      </a:lt1>
      <a:dk2>
        <a:srgbClr val="49525E"/>
      </a:dk2>
      <a:lt2>
        <a:srgbClr val="DFDFDD"/>
      </a:lt2>
      <a:accent1>
        <a:srgbClr val="0072B2"/>
      </a:accent1>
      <a:accent2>
        <a:srgbClr val="56B4E9"/>
      </a:accent2>
      <a:accent3>
        <a:srgbClr val="B04C00"/>
      </a:accent3>
      <a:accent4>
        <a:srgbClr val="8DA5BD"/>
      </a:accent4>
      <a:accent5>
        <a:srgbClr val="1F4E79"/>
      </a:accent5>
      <a:accent6>
        <a:srgbClr val="8DBBDE"/>
      </a:accent6>
      <a:hlink>
        <a:srgbClr val="0563C1"/>
      </a:hlink>
      <a:folHlink>
        <a:srgbClr val="954F72"/>
      </a:folHlink>
    </a:clrScheme>
    <a:fontScheme name="TCC – BrainSniffer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TCC – BrainSniffer</dc:title>
  <dc:subject/>
  <dc:creator/>
  <cp:lastModifiedBy/>
  <cp:revision>1</cp:revision>
  <dcterms:created xsi:type="dcterms:W3CDTF">2026-10-03T00:08:32Z</dcterms:created>
  <dcterms:modified xsi:type="dcterms:W3CDTF">2026-10-03T00:08:32Z</dcterms:modified>
</cp:coreProperties>
</file>