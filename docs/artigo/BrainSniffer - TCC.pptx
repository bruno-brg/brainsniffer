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Inter" panose="02000503000000020004" pitchFamily="34" charset="0"/>
      <p:regular r:id="rId31"/>
      <p:bold r:id="rId32"/>
      <p:italic r:id="rId33"/>
      <p:boldItalic r:id="rId3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 tarde. Meu nome é Bruno Rocha Guimarães e vou apresentar o BrainSniffer: uma CNN compacta e causal para estimar a referência BIS a partir de EEG frontal. Trabalho de conclusão de curso em Ciência da Computação, orientado por Igor Gonzalez Pimenta. (≈20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Desenvolvido no Centro Universitário Jorge Amado, em Salvador. Slide de cortesia: vire rápido. (≈15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roteiro é curto: problema e as três perguntas; o mínimo de EEG e anestesia; dados, rede e resultados; e o que o trabalho entrega e o que não entrega. Não leia os oito itens.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anestesia geral o paciente precisa estar hipnotizado o suficiente, sem excesso de fármaco. O BIS é a referência mais usada, mas é proprietário. E há um risco metodológico: janelas vizinhas da mesma cirurgia são quase idênticas; dividir ao acaso mede memória, não generalização. A lacuna: um estimador compacto e causal, avaliado por caso e em mais de uma fonte de dados.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Três perguntas: (i) uma CNN 1-D compacta, sob validação agrupada, aproxima o BIS na faixa de variabilidade do próprio monitor? (ii) é competitiva com um modelo publicado cerca de sete vezes maior, mantendo a cadeia exportável para uso ao vivo? (iii) o desempenho se mantém ao trocar a fonte, do Figshare para o VitalDB? Métricas primárias definidas antes: MAE por janela e PK. (≈40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EEG mede atividade do córtex: neurônios piramidais alinhados, potenciais pós-sinápticos somados, campo atenuado por meninges, crânio e pele. Chega em dezenas de microvolts, por isso é amplificado, filtrado e digitalizado. Importa: resolução de milissegundos e um canal frontal a 128 Hz, o mesmo sinal do monitor BIS. (≈55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o aprofundamento o EEG muda: acordado, ritmos rápidos de baixa amplitude; na sedação, aumento paradoxal de beta e lentificação; em anestesia geral, alfa frontal em torno de 10 Hz com ondas lentas; no plano profundo, surto-supressão. As quatro faixas são classes de relato, não limiares clínicos. (≈50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BIS vai de 0 a 100: perto de 100 acordado, 40 a 60 anestesia geral, perto de zero EEG isoelétrico. Limites: proprietário, sensível a EMG, bloqueio neuromuscular e cetamina, e chega suavizado e com atraso. Por isso estimo um rótulo de referência BIS, não o BIS como verdade nem consciência. (≈50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19 do holdout. Em cima, duas janelas: uma limpa, que o pipeline quase não altera, e uma com pico de 125 microvolts contido para 88. Embaixo, o espectrograma dos 72 minutos com o BIS na mesma base: quando o BIS sobe, cai teta e sobe beta e gama. As faixas brancas são quedas de eletrodo. (≈35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Duas fontes públicas. Figshare: 24 casos anônimos, EEG frontal e BIS a cada 5 s, sem identificador de pessoa, então o grupo é o caso. VitalDB: milhares de cirurgias em Seul, BIS Vista a cada 1 s, agrupado por participante. 59 arquivos, 33 casos elegíveis, 55.471 janelas. Nenhum caso cruza partições.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passos: EEG frontal, gates de qualidade, filtro causal de 0,5 a 45 Hz com notch de 50 Hz, corte em mais ou menos 100 microvolts e janelas de 5 s com 640 amostras a 128 Hz. O filtro usa só passado e presente, com estado por caso; a mesma cadeia roda em replay ao vivo. (≈40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Rede pequena de propósito: quatro blocos convolucionais, canais de 1 a 32, 64, 128 e 128; kernels 7 e 5; batch norm e GELU; pooling nos três primeiros, de 640 para 80. Depois média global, cabeça 128-64-1 com dropout e sigmoide vezes 100. São 0,15 milhão de parâmetros, roda em CPU. (≈50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Treino curto: Smooth L1, dez épocas, batch 128. Dois checkpoints: ativo, só Figshare, e misto, com parte do VitalDB. Como o próprio BIS chega suavizado, aplico uma média móvel exponencial causal sobre as predições congeladas, sem retreino: uma recursão de uma linha que só usa o passado.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Primeiro resultado. No holdout Figshare, cinco casos e 5.523 janelas, o MAE foi de 7,03 pontos BIS, abaixo da escala de leitura de 10 pontos. A ordenação, medida pelo PK, foi 0,773: sorteados dois momentos, a rede os ordena como o BIS em 77% das vezes. Com cinco casos, isso é exploratório. (≈35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Predição bruta ao longo da cirurgia do caso 19, escolhido antes da inferência. Acompanha a queda na indução e a subida no despertar, mas superestima o patamar do meio: viés de mais 4,79. Correlação intra-caso 0,91: associação alta não elimina erro sistemático. (≈35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Dois checkpoints nos dois benchmarks, com IC de 95% por bootstrap de casos inteiros. Três dos quatro MAE ficam abaixo de 10 pontos, a diferença aceitável entre duas medições do BIS: régua de leitura, não critério clínico. No Figshare o misto não é significativamente melhor: delta 0,34, intervalo cruzando zero.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fronteira é o transporte. O ativo vai de 7 no Figshare para 12,43 no VitalDB, e o PK cai para 0,515: a rede deixa de ordenar os momentos da cirurgia. Mudam equipamento, montagem e população, e o experimento não separa a causa. O misto melhora 14 dos 15 casos, mas já viu a fonte: adaptação ao domínio, não generalização. (≈40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melhor publicado neste corpus é um TCN-BiLSTM de 2026: 1,07 milhão de parâmetros, MAE 6,03 após suavização. Com nossa EWMA causal, o misto chega a 6,11 com 10 s de memória, contra 45 a 95 s do deles. O nosso é causal; o deles usa BiLSTM bidirecional e filtro de fase zero. Comparação de ordem de grandeza, não ranking.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Respondendo às três perguntas. Um: sim, a rede compacta aproxima o rótulo BIS com erro abaixo da escala de leitura, sob validação por caso, e ordena os momentos da cirurgia como a referência. Dois: com a suavização causal ela entra na faixa do melhor modelo publicado, sendo sete vezes menor e rodando ao vivo em CPU. Três: não, o desempenho não transporta para outra fonte; a prioridade passa de modelo maior para dados da fonte. A contribuição é uma base auditável para testar hipóteses. (≈55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Limitações declaradas: retrospectivo e exploratório, cinco casos de teste; VitalDB reutilizado; imputação offline pode usar futuro; alvo é o BIS, sensível a EMG, cetamina e atraso; EWMA escolhido após os resultados. Próximo passo: coorte travada de outra fonte, partição e métricas definidas antes. O software não mede consciência nem apoia decisão clínica.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Obrigado. Fico à disposição para perguntas. Código no GitHub, licença MIT, sem redistribuir os dados. (≈15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Referências do trabalho, em ordem alfabética. Anexo: abrir só se pedirem a fonte. (≈5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Referências, continuação. Anexo. (≈5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Referências, continuação. Anexo. (≈5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635720"/>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1A1A1A"/>
                </a:solidFill>
                <a:latin typeface="Inter" pitchFamily="34" charset="0"/>
                <a:ea typeface="Inter" pitchFamily="34" charset="-122"/>
                <a:cs typeface="Inter"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2331641"/>
            <a:ext cx="10566400" cy="3713559"/>
          </a:xfrm>
          <a:prstGeom prst="rect">
            <a:avLst/>
          </a:prstGeom>
          <a:noFill/>
          <a:ln/>
        </p:spPr>
        <p:txBody>
          <a:bodyPr wrap="square" lIns="0" tIns="0" rIns="0" bIns="0" rtlCol="0" anchor="t"/>
          <a:lstStyle>
            <a:lvl1pPr algn="l" indent="0" marL="0">
              <a:lnSpc>
                <a:spcPct val="140000"/>
              </a:lnSpc>
              <a:buNone/>
              <a:defRPr lang="en-US" sz="1600" dirty="0">
                <a:solidFill>
                  <a:srgbClr val="1A1A1A"/>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635720"/>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1A1A1A"/>
                </a:solidFill>
                <a:latin typeface="Inter" pitchFamily="34" charset="0"/>
                <a:ea typeface="Inter" pitchFamily="34" charset="-122"/>
                <a:cs typeface="Inter"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2331641"/>
            <a:ext cx="10566400" cy="3713559"/>
          </a:xfrm>
          <a:prstGeom prst="rect">
            <a:avLst/>
          </a:prstGeom>
          <a:noFill/>
          <a:ln/>
        </p:spPr>
        <p:txBody>
          <a:bodyPr wrap="square" lIns="0" tIns="0" rIns="0" bIns="0" rtlCol="0" anchor="t"/>
          <a:lstStyle>
            <a:lvl1pPr algn="l" indent="0" marL="0">
              <a:lnSpc>
                <a:spcPct val="140000"/>
              </a:lnSpc>
              <a:buNone/>
              <a:defRPr lang="en-US" sz="1600" dirty="0">
                <a:solidFill>
                  <a:srgbClr val="1A1A1A"/>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10113" r="10113" t="0" b="0"/>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alpha val="85000"/>
            </a:srgbClr>
          </a:solidFill>
          <a:ln/>
        </p:spPr>
      </p:sp>
      <p:pic>
        <p:nvPicPr>
          <p:cNvPr id="4" name="Image 1" descr="Logotipo UniJorge">    </p:cNvPr>
          <p:cNvPicPr>
            <a:picLocks noChangeAspect="1"/>
          </p:cNvPicPr>
          <p:nvPr/>
        </p:nvPicPr>
        <p:blipFill>
          <a:blip r:embed="rId2"/>
          <a:srcRect l="0" r="0" t="0" b="0"/>
          <a:stretch/>
        </p:blipFill>
        <p:spPr>
          <a:xfrm>
            <a:off x="812800" y="609600"/>
            <a:ext cx="952500" cy="673100"/>
          </a:xfrm>
          <a:prstGeom prst="rect">
            <a:avLst/>
          </a:prstGeom>
        </p:spPr>
      </p:pic>
      <p:sp>
        <p:nvSpPr>
          <p:cNvPr id="5" name="Text 1"/>
          <p:cNvSpPr/>
          <p:nvPr/>
        </p:nvSpPr>
        <p:spPr>
          <a:xfrm>
            <a:off x="812800" y="21272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spc="50" kern="0" dirty="0">
                <a:solidFill>
                  <a:srgbClr val="1A1A1A"/>
                </a:solidFill>
                <a:latin typeface="Inter" pitchFamily="34" charset="0"/>
                <a:ea typeface="Inter" pitchFamily="34" charset="-122"/>
                <a:cs typeface="Inter" pitchFamily="34" charset="-120"/>
              </a:rPr>
              <a:t>TRABALHO DE CONCLUSÃO DE CURSO</a:t>
            </a:r>
            <a:endParaRPr lang="en-US" sz="2000" dirty="0"/>
          </a:p>
        </p:txBody>
      </p:sp>
      <p:sp>
        <p:nvSpPr>
          <p:cNvPr id="6" name="Text 2"/>
          <p:cNvSpPr/>
          <p:nvPr/>
        </p:nvSpPr>
        <p:spPr>
          <a:xfrm>
            <a:off x="812800" y="26860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i="1" dirty="0">
                <a:solidFill>
                  <a:srgbClr val="1A1A1A"/>
                </a:solidFill>
                <a:latin typeface="Inter" pitchFamily="34" charset="0"/>
                <a:ea typeface="Inter" pitchFamily="34" charset="-122"/>
                <a:cs typeface="Inter" pitchFamily="34" charset="-120"/>
              </a:rPr>
              <a:t>CIÊNCIA DA COMPUTAÇÃO</a:t>
            </a:r>
            <a:endParaRPr lang="en-US" sz="2000" dirty="0"/>
          </a:p>
        </p:txBody>
      </p:sp>
      <p:sp>
        <p:nvSpPr>
          <p:cNvPr id="7" name="Text 3"/>
          <p:cNvSpPr/>
          <p:nvPr>
            <p:ph type="title"/>
          </p:nvPr>
        </p:nvSpPr>
        <p:spPr>
          <a:xfrm>
            <a:off x="812800" y="3244850"/>
            <a:ext cx="10883392" cy="977900"/>
          </a:xfrm>
          <a:prstGeom prst="rect">
            <a:avLst/>
          </a:prstGeom>
          <a:noFill/>
          <a:ln/>
        </p:spPr>
        <p:txBody>
          <a:bodyPr wrap="square" lIns="0" tIns="0" rIns="0" bIns="0" rtlCol="0" anchor="t">
            <a:normAutofit/>
          </a:bodyPr>
          <a:lstStyle/>
          <a:p>
            <a:pPr algn="l" indent="0" marL="0">
              <a:lnSpc>
                <a:spcPts val="7500"/>
              </a:lnSpc>
              <a:buNone/>
            </a:pPr>
            <a:r>
              <a:rPr lang="en-US" sz="7500" b="1" i="0" spc="-100" kern="0" dirty="0">
                <a:solidFill>
                  <a:srgbClr val="1A1A1A"/>
                </a:solidFill>
                <a:latin typeface="Inter" pitchFamily="34" charset="0"/>
                <a:ea typeface="Inter" pitchFamily="34" charset="-122"/>
                <a:cs typeface="Inter" pitchFamily="34" charset="-120"/>
              </a:rPr>
              <a:t>BRAINSNIFFER</a:t>
            </a:r>
            <a:endParaRPr lang="en-US" sz="7500" dirty="0"/>
          </a:p>
        </p:txBody>
      </p:sp>
      <p:sp>
        <p:nvSpPr>
          <p:cNvPr id="8" name="Text 4"/>
          <p:cNvSpPr/>
          <p:nvPr/>
        </p:nvSpPr>
        <p:spPr>
          <a:xfrm>
            <a:off x="812800" y="440055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4D4D4D"/>
                </a:solidFill>
                <a:latin typeface="Inter" pitchFamily="34" charset="0"/>
                <a:ea typeface="Inter" pitchFamily="34" charset="-122"/>
                <a:cs typeface="Inter" pitchFamily="34" charset="-120"/>
              </a:rPr>
              <a:t>Uma CNN compacta e causal para estimar a referência BIS a partir de EEG frontal</a:t>
            </a:r>
            <a:endParaRPr lang="en-US" sz="2000" dirty="0"/>
          </a:p>
        </p:txBody>
      </p:sp>
      <p:sp>
        <p:nvSpPr>
          <p:cNvPr id="9" name="Text 5"/>
          <p:cNvSpPr/>
          <p:nvPr/>
        </p:nvSpPr>
        <p:spPr>
          <a:xfrm>
            <a:off x="812800" y="5928420"/>
            <a:ext cx="39243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1A1A"/>
                </a:solidFill>
                <a:latin typeface="Inter" pitchFamily="34" charset="0"/>
                <a:ea typeface="Inter" pitchFamily="34" charset="-122"/>
                <a:cs typeface="Inter" pitchFamily="34" charset="-120"/>
              </a:rPr>
              <a:t>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1270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05080"/>
                </a:solidFill>
                <a:latin typeface="Inter" pitchFamily="34" charset="0"/>
                <a:ea typeface="Inter" pitchFamily="34" charset="-122"/>
                <a:cs typeface="Inter" pitchFamily="34" charset="-120"/>
              </a:rPr>
              <a:t>TRABALHO DE CONCLUSÃO DE CURSO · CIÊNCIA DA COMPUTAÇÃO</a:t>
            </a:r>
            <a:endParaRPr lang="en-US" sz="1200" dirty="0"/>
          </a:p>
        </p:txBody>
      </p:sp>
      <p:sp>
        <p:nvSpPr>
          <p:cNvPr id="5" name="Text 2"/>
          <p:cNvSpPr/>
          <p:nvPr>
            <p:ph type="title"/>
          </p:nvPr>
        </p:nvSpPr>
        <p:spPr>
          <a:xfrm>
            <a:off x="812800" y="16865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A1A"/>
                </a:solidFill>
                <a:latin typeface="Inter" pitchFamily="34" charset="0"/>
                <a:ea typeface="Inter" pitchFamily="34" charset="-122"/>
                <a:cs typeface="Inter" pitchFamily="34" charset="-120"/>
              </a:rPr>
              <a:t>BRAINSNIFFER</a:t>
            </a:r>
            <a:endParaRPr lang="en-US" sz="2800" dirty="0"/>
          </a:p>
        </p:txBody>
      </p:sp>
      <p:sp>
        <p:nvSpPr>
          <p:cNvPr id="6" name="Text 3"/>
          <p:cNvSpPr/>
          <p:nvPr/>
        </p:nvSpPr>
        <p:spPr>
          <a:xfrm>
            <a:off x="812800" y="2280841"/>
            <a:ext cx="10883392"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D4D4D"/>
                </a:solidFill>
                <a:latin typeface="Inter" pitchFamily="34" charset="0"/>
                <a:ea typeface="Inter" pitchFamily="34" charset="-122"/>
                <a:cs typeface="Inter" pitchFamily="34" charset="-120"/>
              </a:rPr>
              <a:t>Uma CNN compacta e causal para estimar a referência BIS a partir de EEG frontal</a:t>
            </a:r>
            <a:endParaRPr lang="en-US" sz="1600" dirty="0"/>
          </a:p>
        </p:txBody>
      </p:sp>
      <p:sp>
        <p:nvSpPr>
          <p:cNvPr id="7" name="Text 4"/>
          <p:cNvSpPr/>
          <p:nvPr/>
        </p:nvSpPr>
        <p:spPr>
          <a:xfrm>
            <a:off x="812800" y="4475559"/>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A1A1A"/>
                </a:solidFill>
                <a:latin typeface="Inter" pitchFamily="34" charset="0"/>
                <a:ea typeface="Inter" pitchFamily="34" charset="-122"/>
                <a:cs typeface="Inter" pitchFamily="34" charset="-120"/>
              </a:rPr>
              <a:t>BRUNO ROCHA GUIMARÃES</a:t>
            </a:r>
            <a:endParaRPr lang="en-US" sz="2000" dirty="0"/>
          </a:p>
        </p:txBody>
      </p:sp>
      <p:sp>
        <p:nvSpPr>
          <p:cNvPr id="8" name="Text 5"/>
          <p:cNvSpPr/>
          <p:nvPr/>
        </p:nvSpPr>
        <p:spPr>
          <a:xfrm>
            <a:off x="812800" y="5034359"/>
            <a:ext cx="10883392" cy="345380"/>
          </a:xfrm>
          <a:prstGeom prst="rect">
            <a:avLst/>
          </a:prstGeom>
          <a:noFill/>
          <a:ln/>
        </p:spPr>
        <p:txBody>
          <a:bodyPr wrap="square" lIns="0" tIns="0" rIns="0" bIns="0" rtlCol="0" anchor="t">
            <a:normAutofit/>
          </a:bodyPr>
          <a:lstStyle/>
          <a:p>
            <a:pPr algn="l" indent="0" marL="0">
              <a:lnSpc>
                <a:spcPts val="2520"/>
              </a:lnSpc>
              <a:buNone/>
            </a:pPr>
            <a:r>
              <a:rPr lang="en-US" sz="1800" b="1" i="1" dirty="0">
                <a:solidFill>
                  <a:srgbClr val="1A1A1A"/>
                </a:solidFill>
                <a:latin typeface="Inter" pitchFamily="34" charset="0"/>
                <a:ea typeface="Inter" pitchFamily="34" charset="-122"/>
                <a:cs typeface="Inter" pitchFamily="34" charset="-120"/>
              </a:rPr>
              <a:t>ORIENTADOR(A): IGOR GONZALEZ PIMENTA</a:t>
            </a:r>
            <a:endParaRPr lang="en-US" sz="1800" dirty="0"/>
          </a:p>
        </p:txBody>
      </p:sp>
      <p:sp>
        <p:nvSpPr>
          <p:cNvPr id="9" name="Text 6"/>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D4D4D"/>
                </a:solidFill>
                <a:latin typeface="Inter" pitchFamily="34" charset="0"/>
                <a:ea typeface="Inter" pitchFamily="34" charset="-122"/>
                <a:cs typeface="Inter" pitchFamily="34" charset="-120"/>
              </a:rPr>
              <a:t>Centro Universitário Jorge Amado · Salvador, BA</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BrainSniffer · Bruno Rocha Guimarães</a:t>
            </a:r>
            <a:endParaRPr lang="en-US" sz="1200" dirty="0"/>
          </a:p>
        </p:txBody>
      </p:sp>
      <p:sp>
        <p:nvSpPr>
          <p:cNvPr id="5" name="Text 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D4D4D"/>
                </a:solidFill>
                <a:latin typeface="Inter" pitchFamily="34" charset="0"/>
                <a:ea typeface="Inter" pitchFamily="34" charset="-122"/>
                <a:cs typeface="Inter" pitchFamily="34" charset="-120"/>
              </a:rPr>
              <a:t>3 / 24</a:t>
            </a:r>
            <a:endParaRPr lang="en-US" sz="1200" dirty="0"/>
          </a:p>
        </p:txBody>
      </p:sp>
      <p:sp>
        <p:nvSpPr>
          <p:cNvPr id="6" name="Text 3"/>
          <p:cNvSpPr/>
          <p:nvPr>
            <p:ph type="title"/>
          </p:nvPr>
        </p:nvSpPr>
        <p:spPr>
          <a:xfrm>
            <a:off x="812800" y="12700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A1A1A"/>
                </a:solidFill>
                <a:latin typeface="Inter" pitchFamily="34" charset="0"/>
                <a:ea typeface="Inter" pitchFamily="34" charset="-122"/>
                <a:cs typeface="Inter" pitchFamily="34" charset="-120"/>
              </a:rPr>
              <a:t>SUMÁRIO</a:t>
            </a:r>
            <a:endParaRPr lang="en-US" sz="3600" dirty="0"/>
          </a:p>
        </p:txBody>
      </p:sp>
      <p:sp>
        <p:nvSpPr>
          <p:cNvPr id="7" name="Text 4"/>
          <p:cNvSpPr/>
          <p:nvPr/>
        </p:nvSpPr>
        <p:spPr>
          <a:xfrm>
            <a:off x="812800" y="2049760"/>
            <a:ext cx="812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305080"/>
                </a:solidFill>
                <a:latin typeface="Inter" pitchFamily="34" charset="0"/>
                <a:ea typeface="Inter" pitchFamily="34" charset="-122"/>
                <a:cs typeface="Inter" pitchFamily="34" charset="-120"/>
              </a:rPr>
              <a:t>01</a:t>
            </a:r>
            <a:endParaRPr lang="en-US" sz="2000" dirty="0"/>
          </a:p>
        </p:txBody>
      </p:sp>
      <p:sp>
        <p:nvSpPr>
          <p:cNvPr id="8" name="Text 5"/>
          <p:cNvSpPr/>
          <p:nvPr/>
        </p:nvSpPr>
        <p:spPr>
          <a:xfrm>
            <a:off x="1778000" y="2049760"/>
            <a:ext cx="509111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A1A1A"/>
                </a:solidFill>
                <a:latin typeface="Inter" pitchFamily="34" charset="0"/>
                <a:ea typeface="Inter" pitchFamily="34" charset="-122"/>
                <a:cs typeface="Inter" pitchFamily="34" charset="-120"/>
              </a:rPr>
              <a:t>Problema e perguntas de pesquisa</a:t>
            </a:r>
            <a:endParaRPr lang="en-US" sz="2000" dirty="0"/>
          </a:p>
        </p:txBody>
      </p:sp>
      <p:sp>
        <p:nvSpPr>
          <p:cNvPr id="9" name="Text 6"/>
          <p:cNvSpPr/>
          <p:nvPr/>
        </p:nvSpPr>
        <p:spPr>
          <a:xfrm>
            <a:off x="812800" y="2532360"/>
            <a:ext cx="812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305080"/>
                </a:solidFill>
                <a:latin typeface="Inter" pitchFamily="34" charset="0"/>
                <a:ea typeface="Inter" pitchFamily="34" charset="-122"/>
                <a:cs typeface="Inter" pitchFamily="34" charset="-120"/>
              </a:rPr>
              <a:t>02</a:t>
            </a:r>
            <a:endParaRPr lang="en-US" sz="2000" dirty="0"/>
          </a:p>
        </p:txBody>
      </p:sp>
      <p:sp>
        <p:nvSpPr>
          <p:cNvPr id="10" name="Text 7"/>
          <p:cNvSpPr/>
          <p:nvPr/>
        </p:nvSpPr>
        <p:spPr>
          <a:xfrm>
            <a:off x="1778000" y="2532360"/>
            <a:ext cx="317956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A1A1A"/>
                </a:solidFill>
                <a:latin typeface="Inter" pitchFamily="34" charset="0"/>
                <a:ea typeface="Inter" pitchFamily="34" charset="-122"/>
                <a:cs typeface="Inter" pitchFamily="34" charset="-120"/>
              </a:rPr>
              <a:t>Como o EEG funciona</a:t>
            </a:r>
            <a:endParaRPr lang="en-US" sz="2000" dirty="0"/>
          </a:p>
        </p:txBody>
      </p:sp>
      <p:sp>
        <p:nvSpPr>
          <p:cNvPr id="11" name="Text 8"/>
          <p:cNvSpPr/>
          <p:nvPr/>
        </p:nvSpPr>
        <p:spPr>
          <a:xfrm>
            <a:off x="812800" y="3014960"/>
            <a:ext cx="812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305080"/>
                </a:solidFill>
                <a:latin typeface="Inter" pitchFamily="34" charset="0"/>
                <a:ea typeface="Inter" pitchFamily="34" charset="-122"/>
                <a:cs typeface="Inter" pitchFamily="34" charset="-120"/>
              </a:rPr>
              <a:t>03</a:t>
            </a:r>
            <a:endParaRPr lang="en-US" sz="2000" dirty="0"/>
          </a:p>
        </p:txBody>
      </p:sp>
      <p:sp>
        <p:nvSpPr>
          <p:cNvPr id="12" name="Text 9"/>
          <p:cNvSpPr/>
          <p:nvPr/>
        </p:nvSpPr>
        <p:spPr>
          <a:xfrm>
            <a:off x="1778000" y="3014960"/>
            <a:ext cx="457938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A1A1A"/>
                </a:solidFill>
                <a:latin typeface="Inter" pitchFamily="34" charset="0"/>
                <a:ea typeface="Inter" pitchFamily="34" charset="-122"/>
                <a:cs typeface="Inter" pitchFamily="34" charset="-120"/>
              </a:rPr>
              <a:t>EEG na anestesia e o índice BIS</a:t>
            </a:r>
            <a:endParaRPr lang="en-US" sz="2000" dirty="0"/>
          </a:p>
        </p:txBody>
      </p:sp>
      <p:sp>
        <p:nvSpPr>
          <p:cNvPr id="13" name="Text 10"/>
          <p:cNvSpPr/>
          <p:nvPr/>
        </p:nvSpPr>
        <p:spPr>
          <a:xfrm>
            <a:off x="812800" y="3497560"/>
            <a:ext cx="812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305080"/>
                </a:solidFill>
                <a:latin typeface="Inter" pitchFamily="34" charset="0"/>
                <a:ea typeface="Inter" pitchFamily="34" charset="-122"/>
                <a:cs typeface="Inter" pitchFamily="34" charset="-120"/>
              </a:rPr>
              <a:t>04</a:t>
            </a:r>
            <a:endParaRPr lang="en-US" sz="2000" dirty="0"/>
          </a:p>
        </p:txBody>
      </p:sp>
      <p:sp>
        <p:nvSpPr>
          <p:cNvPr id="14" name="Text 11"/>
          <p:cNvSpPr/>
          <p:nvPr/>
        </p:nvSpPr>
        <p:spPr>
          <a:xfrm>
            <a:off x="1778000" y="3497560"/>
            <a:ext cx="418802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A1A1A"/>
                </a:solidFill>
                <a:latin typeface="Inter" pitchFamily="34" charset="0"/>
                <a:ea typeface="Inter" pitchFamily="34" charset="-122"/>
                <a:cs typeface="Inter" pitchFamily="34" charset="-120"/>
              </a:rPr>
              <a:t>Dados e pré-processamento</a:t>
            </a:r>
            <a:endParaRPr lang="en-US" sz="2000" dirty="0"/>
          </a:p>
        </p:txBody>
      </p:sp>
      <p:sp>
        <p:nvSpPr>
          <p:cNvPr id="15" name="Text 12"/>
          <p:cNvSpPr/>
          <p:nvPr/>
        </p:nvSpPr>
        <p:spPr>
          <a:xfrm>
            <a:off x="812800" y="3980160"/>
            <a:ext cx="812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305080"/>
                </a:solidFill>
                <a:latin typeface="Inter" pitchFamily="34" charset="0"/>
                <a:ea typeface="Inter" pitchFamily="34" charset="-122"/>
                <a:cs typeface="Inter" pitchFamily="34" charset="-120"/>
              </a:rPr>
              <a:t>05</a:t>
            </a:r>
            <a:endParaRPr lang="en-US" sz="2000" dirty="0"/>
          </a:p>
        </p:txBody>
      </p:sp>
      <p:sp>
        <p:nvSpPr>
          <p:cNvPr id="16" name="Text 13"/>
          <p:cNvSpPr/>
          <p:nvPr/>
        </p:nvSpPr>
        <p:spPr>
          <a:xfrm>
            <a:off x="1778000" y="3980160"/>
            <a:ext cx="309443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A1A1A"/>
                </a:solidFill>
                <a:latin typeface="Inter" pitchFamily="34" charset="0"/>
                <a:ea typeface="Inter" pitchFamily="34" charset="-122"/>
                <a:cs typeface="Inter" pitchFamily="34" charset="-120"/>
              </a:rPr>
              <a:t>A rede convolucional</a:t>
            </a:r>
            <a:endParaRPr lang="en-US" sz="2000" dirty="0"/>
          </a:p>
        </p:txBody>
      </p:sp>
      <p:sp>
        <p:nvSpPr>
          <p:cNvPr id="17" name="Text 14"/>
          <p:cNvSpPr/>
          <p:nvPr/>
        </p:nvSpPr>
        <p:spPr>
          <a:xfrm>
            <a:off x="812800" y="4462760"/>
            <a:ext cx="812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305080"/>
                </a:solidFill>
                <a:latin typeface="Inter" pitchFamily="34" charset="0"/>
                <a:ea typeface="Inter" pitchFamily="34" charset="-122"/>
                <a:cs typeface="Inter" pitchFamily="34" charset="-120"/>
              </a:rPr>
              <a:t>06</a:t>
            </a:r>
            <a:endParaRPr lang="en-US" sz="2000" dirty="0"/>
          </a:p>
        </p:txBody>
      </p:sp>
      <p:sp>
        <p:nvSpPr>
          <p:cNvPr id="18" name="Text 15"/>
          <p:cNvSpPr/>
          <p:nvPr/>
        </p:nvSpPr>
        <p:spPr>
          <a:xfrm>
            <a:off x="1778000" y="4462760"/>
            <a:ext cx="1640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A1A1A"/>
                </a:solidFill>
                <a:latin typeface="Inter" pitchFamily="34" charset="0"/>
                <a:ea typeface="Inter" pitchFamily="34" charset="-122"/>
                <a:cs typeface="Inter" pitchFamily="34" charset="-120"/>
              </a:rPr>
              <a:t>Resultados</a:t>
            </a:r>
            <a:endParaRPr lang="en-US" sz="2000" dirty="0"/>
          </a:p>
        </p:txBody>
      </p:sp>
      <p:sp>
        <p:nvSpPr>
          <p:cNvPr id="19" name="Text 16"/>
          <p:cNvSpPr/>
          <p:nvPr/>
        </p:nvSpPr>
        <p:spPr>
          <a:xfrm>
            <a:off x="812800" y="4945360"/>
            <a:ext cx="812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305080"/>
                </a:solidFill>
                <a:latin typeface="Inter" pitchFamily="34" charset="0"/>
                <a:ea typeface="Inter" pitchFamily="34" charset="-122"/>
                <a:cs typeface="Inter" pitchFamily="34" charset="-120"/>
              </a:rPr>
              <a:t>07</a:t>
            </a:r>
            <a:endParaRPr lang="en-US" sz="2000" dirty="0"/>
          </a:p>
        </p:txBody>
      </p:sp>
      <p:sp>
        <p:nvSpPr>
          <p:cNvPr id="20" name="Text 17"/>
          <p:cNvSpPr/>
          <p:nvPr/>
        </p:nvSpPr>
        <p:spPr>
          <a:xfrm>
            <a:off x="1778000" y="4945360"/>
            <a:ext cx="3411141"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A1A1A"/>
                </a:solidFill>
                <a:latin typeface="Inter" pitchFamily="34" charset="0"/>
                <a:ea typeface="Inter" pitchFamily="34" charset="-122"/>
                <a:cs typeface="Inter" pitchFamily="34" charset="-120"/>
              </a:rPr>
              <a:t>Conclusão e limitações</a:t>
            </a:r>
            <a:endParaRPr lang="en-US" sz="2000" dirty="0"/>
          </a:p>
        </p:txBody>
      </p:sp>
      <p:sp>
        <p:nvSpPr>
          <p:cNvPr id="21" name="Text 18"/>
          <p:cNvSpPr/>
          <p:nvPr/>
        </p:nvSpPr>
        <p:spPr>
          <a:xfrm>
            <a:off x="812800" y="5427960"/>
            <a:ext cx="812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305080"/>
                </a:solidFill>
                <a:latin typeface="Inter" pitchFamily="34" charset="0"/>
                <a:ea typeface="Inter" pitchFamily="34" charset="-122"/>
                <a:cs typeface="Inter" pitchFamily="34" charset="-120"/>
              </a:rPr>
              <a:t>08</a:t>
            </a:r>
            <a:endParaRPr lang="en-US" sz="2000" dirty="0"/>
          </a:p>
        </p:txBody>
      </p:sp>
      <p:sp>
        <p:nvSpPr>
          <p:cNvPr id="22" name="Text 19"/>
          <p:cNvSpPr/>
          <p:nvPr/>
        </p:nvSpPr>
        <p:spPr>
          <a:xfrm>
            <a:off x="1778000" y="5427960"/>
            <a:ext cx="293584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A1A1A"/>
                </a:solidFill>
                <a:latin typeface="Inter" pitchFamily="34" charset="0"/>
                <a:ea typeface="Inter" pitchFamily="34" charset="-122"/>
                <a:cs typeface="Inter" pitchFamily="34" charset="-120"/>
              </a:rPr>
              <a:t>Referências (anexo)</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BrainSniffer · Bruno Rocha Guimarães</a:t>
            </a:r>
            <a:endParaRPr lang="en-US" sz="1200" dirty="0"/>
          </a:p>
        </p:txBody>
      </p:sp>
      <p:sp>
        <p:nvSpPr>
          <p:cNvPr id="5" name="Text 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D4D4D"/>
                </a:solidFill>
                <a:latin typeface="Inter" pitchFamily="34" charset="0"/>
                <a:ea typeface="Inter" pitchFamily="34" charset="-122"/>
                <a:cs typeface="Inter" pitchFamily="34" charset="-120"/>
              </a:rPr>
              <a:t>4 / 24</a:t>
            </a:r>
            <a:endParaRPr lang="en-US" sz="1200" dirty="0"/>
          </a:p>
        </p:txBody>
      </p:sp>
      <p:sp>
        <p:nvSpPr>
          <p:cNvPr id="6" name="Text 3"/>
          <p:cNvSpPr/>
          <p:nvPr/>
        </p:nvSpPr>
        <p:spPr>
          <a:xfrm>
            <a:off x="812800" y="1270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05080"/>
                </a:solidFill>
                <a:latin typeface="Inter" pitchFamily="34" charset="0"/>
                <a:ea typeface="Inter" pitchFamily="34" charset="-122"/>
                <a:cs typeface="Inter" pitchFamily="34" charset="-120"/>
              </a:rPr>
              <a:t>01 · PROBLEMA</a:t>
            </a:r>
            <a:endParaRPr lang="en-US" sz="1200" dirty="0"/>
          </a:p>
        </p:txBody>
      </p:sp>
      <p:sp>
        <p:nvSpPr>
          <p:cNvPr id="7" name="Text 4"/>
          <p:cNvSpPr/>
          <p:nvPr>
            <p:ph type="title"/>
          </p:nvPr>
        </p:nvSpPr>
        <p:spPr>
          <a:xfrm>
            <a:off x="812800" y="16865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A1A"/>
                </a:solidFill>
                <a:latin typeface="Inter" pitchFamily="34" charset="0"/>
                <a:ea typeface="Inter" pitchFamily="34" charset="-122"/>
                <a:cs typeface="Inter" pitchFamily="34" charset="-120"/>
              </a:rPr>
              <a:t>POR QUE ESTIMAR A PROFUNDIDADE ANESTÉSICA?</a:t>
            </a:r>
            <a:endParaRPr lang="en-US" sz="2800" dirty="0"/>
          </a:p>
        </p:txBody>
      </p:sp>
      <p:sp>
        <p:nvSpPr>
          <p:cNvPr id="8" name="Shape 5"/>
          <p:cNvSpPr/>
          <p:nvPr/>
        </p:nvSpPr>
        <p:spPr>
          <a:xfrm>
            <a:off x="812800" y="2280841"/>
            <a:ext cx="3386634" cy="1917303"/>
          </a:xfrm>
          <a:prstGeom prst="rect">
            <a:avLst/>
          </a:prstGeom>
          <a:solidFill>
            <a:srgbClr val="F3F5F8"/>
          </a:solidFill>
          <a:ln/>
        </p:spPr>
      </p:sp>
      <p:sp>
        <p:nvSpPr>
          <p:cNvPr id="9" name="Shape 6"/>
          <p:cNvSpPr/>
          <p:nvPr/>
        </p:nvSpPr>
        <p:spPr>
          <a:xfrm>
            <a:off x="812800" y="2299891"/>
            <a:ext cx="3386634" cy="0"/>
          </a:xfrm>
          <a:prstGeom prst="line">
            <a:avLst/>
          </a:prstGeom>
          <a:noFill/>
          <a:ln w="38100">
            <a:solidFill>
              <a:srgbClr val="305080"/>
            </a:solidFill>
            <a:prstDash val="solid"/>
          </a:ln>
        </p:spPr>
      </p:sp>
      <p:sp>
        <p:nvSpPr>
          <p:cNvPr id="10" name="Text 7"/>
          <p:cNvSpPr/>
          <p:nvPr/>
        </p:nvSpPr>
        <p:spPr>
          <a:xfrm>
            <a:off x="1066800" y="2572941"/>
            <a:ext cx="296499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Inter" pitchFamily="34" charset="0"/>
                <a:ea typeface="Inter" pitchFamily="34" charset="-122"/>
                <a:cs typeface="Inter" pitchFamily="34" charset="-120"/>
              </a:rPr>
              <a:t>Dose na medida</a:t>
            </a:r>
            <a:endParaRPr lang="en-US" sz="1800" dirty="0"/>
          </a:p>
        </p:txBody>
      </p:sp>
      <p:sp>
        <p:nvSpPr>
          <p:cNvPr id="11" name="Text 8"/>
          <p:cNvSpPr/>
          <p:nvPr/>
        </p:nvSpPr>
        <p:spPr>
          <a:xfrm>
            <a:off x="1066800" y="2948781"/>
            <a:ext cx="2964993"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Na anestesia geral o paciente precisa estar hipnotizado o suficiente, sem excesso de fármaco.</a:t>
            </a:r>
            <a:endParaRPr lang="en-US" sz="1400" dirty="0"/>
          </a:p>
        </p:txBody>
      </p:sp>
      <p:sp>
        <p:nvSpPr>
          <p:cNvPr id="12" name="Shape 9"/>
          <p:cNvSpPr/>
          <p:nvPr/>
        </p:nvSpPr>
        <p:spPr>
          <a:xfrm>
            <a:off x="4402634" y="2280841"/>
            <a:ext cx="3386733" cy="1917303"/>
          </a:xfrm>
          <a:prstGeom prst="rect">
            <a:avLst/>
          </a:prstGeom>
          <a:solidFill>
            <a:srgbClr val="F3F5F8"/>
          </a:solidFill>
          <a:ln/>
        </p:spPr>
      </p:sp>
      <p:sp>
        <p:nvSpPr>
          <p:cNvPr id="13" name="Shape 10"/>
          <p:cNvSpPr/>
          <p:nvPr/>
        </p:nvSpPr>
        <p:spPr>
          <a:xfrm>
            <a:off x="4402634" y="2299891"/>
            <a:ext cx="3386733" cy="0"/>
          </a:xfrm>
          <a:prstGeom prst="line">
            <a:avLst/>
          </a:prstGeom>
          <a:noFill/>
          <a:ln w="38100">
            <a:solidFill>
              <a:srgbClr val="305080"/>
            </a:solidFill>
            <a:prstDash val="solid"/>
          </a:ln>
        </p:spPr>
      </p:sp>
      <p:sp>
        <p:nvSpPr>
          <p:cNvPr id="14" name="Text 11"/>
          <p:cNvSpPr/>
          <p:nvPr/>
        </p:nvSpPr>
        <p:spPr>
          <a:xfrm>
            <a:off x="4656634" y="2572941"/>
            <a:ext cx="296509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Inter" pitchFamily="34" charset="0"/>
                <a:ea typeface="Inter" pitchFamily="34" charset="-122"/>
                <a:cs typeface="Inter" pitchFamily="34" charset="-120"/>
              </a:rPr>
              <a:t>O BIS é fechado</a:t>
            </a:r>
            <a:endParaRPr lang="en-US" sz="1800" dirty="0"/>
          </a:p>
        </p:txBody>
      </p:sp>
      <p:sp>
        <p:nvSpPr>
          <p:cNvPr id="15" name="Text 12"/>
          <p:cNvSpPr/>
          <p:nvPr/>
        </p:nvSpPr>
        <p:spPr>
          <a:xfrm>
            <a:off x="4656634" y="2948781"/>
            <a:ext cx="296509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O índice mais usado à beira do leito é proprietário: a regra que o calcula não é publicada.</a:t>
            </a:r>
            <a:endParaRPr lang="en-US" sz="1400" dirty="0"/>
          </a:p>
        </p:txBody>
      </p:sp>
      <p:sp>
        <p:nvSpPr>
          <p:cNvPr id="16" name="Shape 13"/>
          <p:cNvSpPr/>
          <p:nvPr/>
        </p:nvSpPr>
        <p:spPr>
          <a:xfrm>
            <a:off x="7992566" y="2280841"/>
            <a:ext cx="3386634" cy="1917303"/>
          </a:xfrm>
          <a:prstGeom prst="rect">
            <a:avLst/>
          </a:prstGeom>
          <a:solidFill>
            <a:srgbClr val="F3F5F8"/>
          </a:solidFill>
          <a:ln/>
        </p:spPr>
      </p:sp>
      <p:sp>
        <p:nvSpPr>
          <p:cNvPr id="17" name="Shape 14"/>
          <p:cNvSpPr/>
          <p:nvPr/>
        </p:nvSpPr>
        <p:spPr>
          <a:xfrm>
            <a:off x="7992566" y="2299891"/>
            <a:ext cx="3386634" cy="0"/>
          </a:xfrm>
          <a:prstGeom prst="line">
            <a:avLst/>
          </a:prstGeom>
          <a:noFill/>
          <a:ln w="38100">
            <a:solidFill>
              <a:srgbClr val="305080"/>
            </a:solidFill>
            <a:prstDash val="solid"/>
          </a:ln>
        </p:spPr>
      </p:sp>
      <p:sp>
        <p:nvSpPr>
          <p:cNvPr id="18" name="Text 15"/>
          <p:cNvSpPr/>
          <p:nvPr/>
        </p:nvSpPr>
        <p:spPr>
          <a:xfrm>
            <a:off x="8246566" y="2572941"/>
            <a:ext cx="296499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Inter" pitchFamily="34" charset="0"/>
                <a:ea typeface="Inter" pitchFamily="34" charset="-122"/>
                <a:cs typeface="Inter" pitchFamily="34" charset="-120"/>
              </a:rPr>
              <a:t>Vazamento silencioso</a:t>
            </a:r>
            <a:endParaRPr lang="en-US" sz="1800" dirty="0"/>
          </a:p>
        </p:txBody>
      </p:sp>
      <p:sp>
        <p:nvSpPr>
          <p:cNvPr id="19" name="Text 16"/>
          <p:cNvSpPr/>
          <p:nvPr/>
        </p:nvSpPr>
        <p:spPr>
          <a:xfrm>
            <a:off x="8246566" y="2948781"/>
            <a:ext cx="2964993"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Janelas vizinhas da mesma cirurgia são quase iguais; dividir ao acaso mede memória, não generalização.</a:t>
            </a:r>
            <a:endParaRPr lang="en-US" sz="1400" dirty="0"/>
          </a:p>
        </p:txBody>
      </p:sp>
      <p:sp>
        <p:nvSpPr>
          <p:cNvPr id="20" name="Text 17"/>
          <p:cNvSpPr/>
          <p:nvPr/>
        </p:nvSpPr>
        <p:spPr>
          <a:xfrm>
            <a:off x="812800" y="4401344"/>
            <a:ext cx="10566400" cy="1076920"/>
          </a:xfrm>
          <a:prstGeom prst="rect">
            <a:avLst/>
          </a:prstGeom>
          <a:solidFill>
            <a:srgbClr val="F3F5F8"/>
          </a:solidFill>
          <a:ln/>
        </p:spPr>
        <p:txBody>
          <a:bodyPr wrap="square" lIns="304800" tIns="254000" rIns="0" bIns="228600" rtlCol="0" anchor="t">
            <a:normAutofit/>
          </a:bodyPr>
          <a:lstStyle/>
          <a:p>
            <a:pPr algn="l" indent="0" marL="0">
              <a:lnSpc>
                <a:spcPts val="2240"/>
              </a:lnSpc>
              <a:buNone/>
            </a:pPr>
            <a:r>
              <a:rPr lang="en-US" sz="1600" b="1" dirty="0">
                <a:solidFill>
                  <a:srgbClr val="1A1A1A"/>
                </a:solidFill>
                <a:latin typeface="Inter" pitchFamily="34" charset="0"/>
                <a:ea typeface="Inter" pitchFamily="34" charset="-122"/>
                <a:cs typeface="Inter" pitchFamily="34" charset="-120"/>
              </a:rPr>
              <a:t>Lacuna:</a:t>
            </a:r>
            <a:r>
              <a:rPr lang="en-US" sz="1600" dirty="0">
                <a:solidFill>
                  <a:srgbClr val="1A1A1A"/>
                </a:solidFill>
                <a:latin typeface="Inter" pitchFamily="34" charset="0"/>
                <a:ea typeface="Inter" pitchFamily="34" charset="-122"/>
                <a:cs typeface="Inter" pitchFamily="34" charset="-120"/>
              </a:rPr>
              <a:t> um estimador compacto e causal, avaliado com partição por caso e em mais de uma fonte de dados.</a:t>
            </a:r>
            <a:endParaRPr lang="en-US" sz="1600" dirty="0"/>
          </a:p>
        </p:txBody>
      </p:sp>
      <p:sp>
        <p:nvSpPr>
          <p:cNvPr id="21" name="Shape 18"/>
          <p:cNvSpPr/>
          <p:nvPr/>
        </p:nvSpPr>
        <p:spPr>
          <a:xfrm>
            <a:off x="838200" y="4401344"/>
            <a:ext cx="0" cy="1076920"/>
          </a:xfrm>
          <a:prstGeom prst="line">
            <a:avLst/>
          </a:prstGeom>
          <a:noFill/>
          <a:ln w="50800">
            <a:solidFill>
              <a:srgbClr val="305080"/>
            </a:solidFill>
            <a:prstDash val="solid"/>
          </a:ln>
        </p:spPr>
      </p:sp>
      <p:sp>
        <p:nvSpPr>
          <p:cNvPr id="22" name="Text 19"/>
          <p:cNvSpPr/>
          <p:nvPr/>
        </p:nvSpPr>
        <p:spPr>
          <a:xfrm>
            <a:off x="812800" y="5787430"/>
            <a:ext cx="10464800"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305080"/>
                </a:solidFill>
                <a:latin typeface="Inter" pitchFamily="34" charset="0"/>
                <a:ea typeface="Inter" pitchFamily="34" charset="-122"/>
                <a:cs typeface="Inter" pitchFamily="34" charset="-120"/>
              </a:rPr>
              <a:t>Fonte:</a:t>
            </a:r>
            <a:r>
              <a:rPr lang="en-US" sz="1100" dirty="0">
                <a:solidFill>
                  <a:srgbClr val="7A7A7A"/>
                </a:solidFill>
                <a:latin typeface="Inter" pitchFamily="34" charset="0"/>
                <a:ea typeface="Inter" pitchFamily="34" charset="-122"/>
                <a:cs typeface="Inter" pitchFamily="34" charset="-120"/>
              </a:rPr>
              <a:t> Johansen; Sebel (2000); Avidan et al. (2008; 2011); Saeb et al. (2017).</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BrainSniffer · Bruno Rocha Guimarães</a:t>
            </a:r>
            <a:endParaRPr lang="en-US" sz="1200" dirty="0"/>
          </a:p>
        </p:txBody>
      </p:sp>
      <p:sp>
        <p:nvSpPr>
          <p:cNvPr id="5" name="Text 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D4D4D"/>
                </a:solidFill>
                <a:latin typeface="Inter" pitchFamily="34" charset="0"/>
                <a:ea typeface="Inter" pitchFamily="34" charset="-122"/>
                <a:cs typeface="Inter" pitchFamily="34" charset="-120"/>
              </a:rPr>
              <a:t>5 / 24</a:t>
            </a:r>
            <a:endParaRPr lang="en-US" sz="1200" dirty="0"/>
          </a:p>
        </p:txBody>
      </p:sp>
      <p:sp>
        <p:nvSpPr>
          <p:cNvPr id="6" name="Text 3"/>
          <p:cNvSpPr/>
          <p:nvPr/>
        </p:nvSpPr>
        <p:spPr>
          <a:xfrm>
            <a:off x="812800" y="1270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05080"/>
                </a:solidFill>
                <a:latin typeface="Inter" pitchFamily="34" charset="0"/>
                <a:ea typeface="Inter" pitchFamily="34" charset="-122"/>
                <a:cs typeface="Inter" pitchFamily="34" charset="-120"/>
              </a:rPr>
              <a:t>01 · PERGUNTAS</a:t>
            </a:r>
            <a:endParaRPr lang="en-US" sz="1200" dirty="0"/>
          </a:p>
        </p:txBody>
      </p:sp>
      <p:sp>
        <p:nvSpPr>
          <p:cNvPr id="7" name="Text 4"/>
          <p:cNvSpPr/>
          <p:nvPr>
            <p:ph type="title"/>
          </p:nvPr>
        </p:nvSpPr>
        <p:spPr>
          <a:xfrm>
            <a:off x="812800" y="16865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A1A"/>
                </a:solidFill>
                <a:latin typeface="Inter" pitchFamily="34" charset="0"/>
                <a:ea typeface="Inter" pitchFamily="34" charset="-122"/>
                <a:cs typeface="Inter" pitchFamily="34" charset="-120"/>
              </a:rPr>
              <a:t>TRÊS PERGUNTAS DE PESQUISA</a:t>
            </a:r>
            <a:endParaRPr lang="en-US" sz="2800" dirty="0"/>
          </a:p>
        </p:txBody>
      </p:sp>
      <p:sp>
        <p:nvSpPr>
          <p:cNvPr id="8" name="Shape 5"/>
          <p:cNvSpPr/>
          <p:nvPr/>
        </p:nvSpPr>
        <p:spPr>
          <a:xfrm>
            <a:off x="812800" y="2287191"/>
            <a:ext cx="10566400" cy="0"/>
          </a:xfrm>
          <a:prstGeom prst="line">
            <a:avLst/>
          </a:prstGeom>
          <a:noFill/>
          <a:ln w="12700">
            <a:solidFill>
              <a:srgbClr val="D9D9D9"/>
            </a:solidFill>
            <a:prstDash val="solid"/>
          </a:ln>
        </p:spPr>
      </p:sp>
      <p:sp>
        <p:nvSpPr>
          <p:cNvPr id="9" name="Text 6"/>
          <p:cNvSpPr/>
          <p:nvPr/>
        </p:nvSpPr>
        <p:spPr>
          <a:xfrm>
            <a:off x="812800" y="2420541"/>
            <a:ext cx="8128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05080"/>
                </a:solidFill>
                <a:latin typeface="Inter" pitchFamily="34" charset="0"/>
                <a:ea typeface="Inter" pitchFamily="34" charset="-122"/>
                <a:cs typeface="Inter" pitchFamily="34" charset="-120"/>
              </a:rPr>
              <a:t>i</a:t>
            </a:r>
            <a:endParaRPr lang="en-US" sz="2400" dirty="0"/>
          </a:p>
        </p:txBody>
      </p:sp>
      <p:sp>
        <p:nvSpPr>
          <p:cNvPr id="10" name="Text 7"/>
          <p:cNvSpPr/>
          <p:nvPr/>
        </p:nvSpPr>
        <p:spPr>
          <a:xfrm>
            <a:off x="1828800" y="2509441"/>
            <a:ext cx="9836912"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A1A1A"/>
                </a:solidFill>
                <a:latin typeface="Inter" pitchFamily="34" charset="0"/>
                <a:ea typeface="Inter" pitchFamily="34" charset="-122"/>
                <a:cs typeface="Inter" pitchFamily="34" charset="-120"/>
              </a:rPr>
              <a:t>Uma CNN 1-D compacta, sob validação agrupada, aproxima o rótulo BIS na faixa de variabilidade do próprio monitor?</a:t>
            </a:r>
            <a:endParaRPr lang="en-US" sz="1800" dirty="0"/>
          </a:p>
        </p:txBody>
      </p:sp>
      <p:sp>
        <p:nvSpPr>
          <p:cNvPr id="11" name="Shape 8"/>
          <p:cNvSpPr/>
          <p:nvPr/>
        </p:nvSpPr>
        <p:spPr>
          <a:xfrm>
            <a:off x="812800" y="3259931"/>
            <a:ext cx="10566400" cy="0"/>
          </a:xfrm>
          <a:prstGeom prst="line">
            <a:avLst/>
          </a:prstGeom>
          <a:noFill/>
          <a:ln w="12700">
            <a:solidFill>
              <a:srgbClr val="D9D9D9"/>
            </a:solidFill>
            <a:prstDash val="solid"/>
          </a:ln>
        </p:spPr>
      </p:sp>
      <p:sp>
        <p:nvSpPr>
          <p:cNvPr id="12" name="Text 9"/>
          <p:cNvSpPr/>
          <p:nvPr/>
        </p:nvSpPr>
        <p:spPr>
          <a:xfrm>
            <a:off x="812800" y="3393281"/>
            <a:ext cx="8128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05080"/>
                </a:solidFill>
                <a:latin typeface="Inter" pitchFamily="34" charset="0"/>
                <a:ea typeface="Inter" pitchFamily="34" charset="-122"/>
                <a:cs typeface="Inter" pitchFamily="34" charset="-120"/>
              </a:rPr>
              <a:t>ii</a:t>
            </a:r>
            <a:endParaRPr lang="en-US" sz="2400" dirty="0"/>
          </a:p>
        </p:txBody>
      </p:sp>
      <p:sp>
        <p:nvSpPr>
          <p:cNvPr id="13" name="Text 10"/>
          <p:cNvSpPr/>
          <p:nvPr/>
        </p:nvSpPr>
        <p:spPr>
          <a:xfrm>
            <a:off x="1828800" y="3482181"/>
            <a:ext cx="9836912"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A1A1A"/>
                </a:solidFill>
                <a:latin typeface="Inter" pitchFamily="34" charset="0"/>
                <a:ea typeface="Inter" pitchFamily="34" charset="-122"/>
                <a:cs typeface="Inter" pitchFamily="34" charset="-120"/>
              </a:rPr>
              <a:t>É competitiva com um modelo publicado ~7× maior, mantendo uma cadeia exportável para uso ao vivo?</a:t>
            </a:r>
            <a:endParaRPr lang="en-US" sz="1800" dirty="0"/>
          </a:p>
        </p:txBody>
      </p:sp>
      <p:sp>
        <p:nvSpPr>
          <p:cNvPr id="14" name="Shape 11"/>
          <p:cNvSpPr/>
          <p:nvPr/>
        </p:nvSpPr>
        <p:spPr>
          <a:xfrm>
            <a:off x="812800" y="4232672"/>
            <a:ext cx="10566400" cy="0"/>
          </a:xfrm>
          <a:prstGeom prst="line">
            <a:avLst/>
          </a:prstGeom>
          <a:noFill/>
          <a:ln w="12700">
            <a:solidFill>
              <a:srgbClr val="D9D9D9"/>
            </a:solidFill>
            <a:prstDash val="solid"/>
          </a:ln>
        </p:spPr>
      </p:sp>
      <p:sp>
        <p:nvSpPr>
          <p:cNvPr id="15" name="Text 12"/>
          <p:cNvSpPr/>
          <p:nvPr/>
        </p:nvSpPr>
        <p:spPr>
          <a:xfrm>
            <a:off x="812800" y="4366022"/>
            <a:ext cx="8128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05080"/>
                </a:solidFill>
                <a:latin typeface="Inter" pitchFamily="34" charset="0"/>
                <a:ea typeface="Inter" pitchFamily="34" charset="-122"/>
                <a:cs typeface="Inter" pitchFamily="34" charset="-120"/>
              </a:rPr>
              <a:t>iii</a:t>
            </a:r>
            <a:endParaRPr lang="en-US" sz="2400" dirty="0"/>
          </a:p>
        </p:txBody>
      </p:sp>
      <p:sp>
        <p:nvSpPr>
          <p:cNvPr id="16" name="Text 13"/>
          <p:cNvSpPr/>
          <p:nvPr/>
        </p:nvSpPr>
        <p:spPr>
          <a:xfrm>
            <a:off x="1828800" y="4454922"/>
            <a:ext cx="9836912"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A1A1A"/>
                </a:solidFill>
                <a:latin typeface="Inter" pitchFamily="34" charset="0"/>
                <a:ea typeface="Inter" pitchFamily="34" charset="-122"/>
                <a:cs typeface="Inter" pitchFamily="34" charset="-120"/>
              </a:rPr>
              <a:t>O desempenho se mantém ao trocar a fonte dos dados, do Figshare para o VitalDB?</a:t>
            </a:r>
            <a:endParaRPr lang="en-US" sz="1800" dirty="0"/>
          </a:p>
        </p:txBody>
      </p:sp>
      <p:sp>
        <p:nvSpPr>
          <p:cNvPr id="17" name="Text 14"/>
          <p:cNvSpPr/>
          <p:nvPr/>
        </p:nvSpPr>
        <p:spPr>
          <a:xfrm>
            <a:off x="812800" y="4995863"/>
            <a:ext cx="10566400" cy="756841"/>
          </a:xfrm>
          <a:prstGeom prst="rect">
            <a:avLst/>
          </a:prstGeom>
          <a:solidFill>
            <a:srgbClr val="F3F5F8"/>
          </a:solidFill>
          <a:ln/>
        </p:spPr>
        <p:txBody>
          <a:bodyPr wrap="square" lIns="254000" tIns="254000" rIns="0" bIns="228600" rtlCol="0" anchor="t">
            <a:normAutofit/>
          </a:bodyPr>
          <a:lstStyle/>
          <a:p>
            <a:pPr algn="l" indent="0" marL="0">
              <a:lnSpc>
                <a:spcPts val="1960"/>
              </a:lnSpc>
              <a:buNone/>
            </a:pPr>
            <a:r>
              <a:rPr lang="en-US" sz="1400" b="1" dirty="0">
                <a:solidFill>
                  <a:srgbClr val="1A1A1A"/>
                </a:solidFill>
                <a:latin typeface="Inter" pitchFamily="34" charset="0"/>
                <a:ea typeface="Inter" pitchFamily="34" charset="-122"/>
                <a:cs typeface="Inter" pitchFamily="34" charset="-120"/>
              </a:rPr>
              <a:t>Métricas primárias definidas de antemão:</a:t>
            </a:r>
            <a:r>
              <a:rPr lang="en-US" sz="1400" dirty="0">
                <a:solidFill>
                  <a:srgbClr val="1A1A1A"/>
                </a:solidFill>
                <a:latin typeface="Inter" pitchFamily="34" charset="0"/>
                <a:ea typeface="Inter" pitchFamily="34" charset="-122"/>
                <a:cs typeface="Inter" pitchFamily="34" charset="-120"/>
              </a:rPr>
              <a:t> MAE por janela (erro em pontos BIS) e PK (ordenação).</a:t>
            </a:r>
            <a:endParaRPr lang="en-US" sz="1400" dirty="0"/>
          </a:p>
        </p:txBody>
      </p:sp>
      <p:sp>
        <p:nvSpPr>
          <p:cNvPr id="18" name="Text 15"/>
          <p:cNvSpPr/>
          <p:nvPr/>
        </p:nvSpPr>
        <p:spPr>
          <a:xfrm>
            <a:off x="812800" y="5787430"/>
            <a:ext cx="10464800"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305080"/>
                </a:solidFill>
                <a:latin typeface="Inter" pitchFamily="34" charset="0"/>
                <a:ea typeface="Inter" pitchFamily="34" charset="-122"/>
                <a:cs typeface="Inter" pitchFamily="34" charset="-120"/>
              </a:rPr>
              <a:t>Fonte:</a:t>
            </a:r>
            <a:r>
              <a:rPr lang="en-US" sz="1100" dirty="0">
                <a:solidFill>
                  <a:srgbClr val="7A7A7A"/>
                </a:solidFill>
                <a:latin typeface="Inter" pitchFamily="34" charset="0"/>
                <a:ea typeface="Inter" pitchFamily="34" charset="-122"/>
                <a:cs typeface="Inter" pitchFamily="34" charset="-120"/>
              </a:rPr>
              <a:t> Smith et al. (1996); Collins et al. (2024).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BrainSniffer · Bruno Rocha Guimarães</a:t>
            </a:r>
            <a:endParaRPr lang="en-US" sz="1200" dirty="0"/>
          </a:p>
        </p:txBody>
      </p:sp>
      <p:sp>
        <p:nvSpPr>
          <p:cNvPr id="5" name="Text 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D4D4D"/>
                </a:solidFill>
                <a:latin typeface="Inter" pitchFamily="34" charset="0"/>
                <a:ea typeface="Inter" pitchFamily="34" charset="-122"/>
                <a:cs typeface="Inter" pitchFamily="34" charset="-120"/>
              </a:rPr>
              <a:t>6 / 24</a:t>
            </a:r>
            <a:endParaRPr lang="en-US" sz="1200" dirty="0"/>
          </a:p>
        </p:txBody>
      </p:sp>
      <p:sp>
        <p:nvSpPr>
          <p:cNvPr id="6" name="Text 3"/>
          <p:cNvSpPr/>
          <p:nvPr/>
        </p:nvSpPr>
        <p:spPr>
          <a:xfrm>
            <a:off x="812800" y="1270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05080"/>
                </a:solidFill>
                <a:latin typeface="Inter" pitchFamily="34" charset="0"/>
                <a:ea typeface="Inter" pitchFamily="34" charset="-122"/>
                <a:cs typeface="Inter" pitchFamily="34" charset="-120"/>
              </a:rPr>
              <a:t>02 · COMO O EEG FUNCIONA</a:t>
            </a:r>
            <a:endParaRPr lang="en-US" sz="1200" dirty="0"/>
          </a:p>
        </p:txBody>
      </p:sp>
      <p:sp>
        <p:nvSpPr>
          <p:cNvPr id="7" name="Text 4"/>
          <p:cNvSpPr/>
          <p:nvPr>
            <p:ph type="title"/>
          </p:nvPr>
        </p:nvSpPr>
        <p:spPr>
          <a:xfrm>
            <a:off x="812800" y="16865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A1A"/>
                </a:solidFill>
                <a:latin typeface="Inter" pitchFamily="34" charset="0"/>
                <a:ea typeface="Inter" pitchFamily="34" charset="-122"/>
                <a:cs typeface="Inter" pitchFamily="34" charset="-120"/>
              </a:rPr>
              <a:t>COMO O EEG É GERADO E MEDIDO</a:t>
            </a:r>
            <a:endParaRPr lang="en-US" sz="2800" dirty="0"/>
          </a:p>
        </p:txBody>
      </p:sp>
      <p:sp>
        <p:nvSpPr>
          <p:cNvPr id="8" name="Shape 5"/>
          <p:cNvSpPr/>
          <p:nvPr/>
        </p:nvSpPr>
        <p:spPr>
          <a:xfrm>
            <a:off x="812800" y="2287191"/>
            <a:ext cx="5130800" cy="0"/>
          </a:xfrm>
          <a:prstGeom prst="line">
            <a:avLst/>
          </a:prstGeom>
          <a:noFill/>
          <a:ln w="12700">
            <a:solidFill>
              <a:srgbClr val="D9D9D9"/>
            </a:solidFill>
            <a:prstDash val="solid"/>
          </a:ln>
        </p:spPr>
      </p:sp>
      <p:sp>
        <p:nvSpPr>
          <p:cNvPr id="9" name="Text 6"/>
          <p:cNvSpPr/>
          <p:nvPr/>
        </p:nvSpPr>
        <p:spPr>
          <a:xfrm>
            <a:off x="812800" y="2395141"/>
            <a:ext cx="528472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05080"/>
                </a:solidFill>
                <a:latin typeface="Inter" pitchFamily="34" charset="0"/>
                <a:ea typeface="Inter" pitchFamily="34" charset="-122"/>
                <a:cs typeface="Inter" pitchFamily="34" charset="-120"/>
              </a:rPr>
              <a:t>01</a:t>
            </a:r>
            <a:endParaRPr lang="en-US" sz="1400" dirty="0"/>
          </a:p>
        </p:txBody>
      </p:sp>
      <p:sp>
        <p:nvSpPr>
          <p:cNvPr id="10" name="Text 7"/>
          <p:cNvSpPr/>
          <p:nvPr/>
        </p:nvSpPr>
        <p:spPr>
          <a:xfrm>
            <a:off x="812800" y="2694781"/>
            <a:ext cx="528472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A1A"/>
                </a:solidFill>
                <a:latin typeface="Inter" pitchFamily="34" charset="0"/>
                <a:ea typeface="Inter" pitchFamily="34" charset="-122"/>
                <a:cs typeface="Inter" pitchFamily="34" charset="-120"/>
              </a:rPr>
              <a:t>Neurônios piramidais</a:t>
            </a:r>
            <a:endParaRPr lang="en-US" sz="1600" dirty="0"/>
          </a:p>
        </p:txBody>
      </p:sp>
      <p:sp>
        <p:nvSpPr>
          <p:cNvPr id="11" name="Text 8"/>
          <p:cNvSpPr/>
          <p:nvPr/>
        </p:nvSpPr>
        <p:spPr>
          <a:xfrm>
            <a:off x="812800" y="2989362"/>
            <a:ext cx="528472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Células do córtex alinhadas perpendicularmente à superfície.</a:t>
            </a:r>
            <a:endParaRPr lang="en-US" sz="1400" dirty="0"/>
          </a:p>
        </p:txBody>
      </p:sp>
      <p:sp>
        <p:nvSpPr>
          <p:cNvPr id="12" name="Shape 9"/>
          <p:cNvSpPr/>
          <p:nvPr/>
        </p:nvSpPr>
        <p:spPr>
          <a:xfrm>
            <a:off x="6248400" y="2287191"/>
            <a:ext cx="5130800" cy="0"/>
          </a:xfrm>
          <a:prstGeom prst="line">
            <a:avLst/>
          </a:prstGeom>
          <a:noFill/>
          <a:ln w="12700">
            <a:solidFill>
              <a:srgbClr val="D9D9D9"/>
            </a:solidFill>
            <a:prstDash val="solid"/>
          </a:ln>
        </p:spPr>
      </p:sp>
      <p:sp>
        <p:nvSpPr>
          <p:cNvPr id="13" name="Text 10"/>
          <p:cNvSpPr/>
          <p:nvPr/>
        </p:nvSpPr>
        <p:spPr>
          <a:xfrm>
            <a:off x="6248400" y="2395141"/>
            <a:ext cx="528472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05080"/>
                </a:solidFill>
                <a:latin typeface="Inter" pitchFamily="34" charset="0"/>
                <a:ea typeface="Inter" pitchFamily="34" charset="-122"/>
                <a:cs typeface="Inter" pitchFamily="34" charset="-120"/>
              </a:rPr>
              <a:t>02</a:t>
            </a:r>
            <a:endParaRPr lang="en-US" sz="1400" dirty="0"/>
          </a:p>
        </p:txBody>
      </p:sp>
      <p:sp>
        <p:nvSpPr>
          <p:cNvPr id="14" name="Text 11"/>
          <p:cNvSpPr/>
          <p:nvPr/>
        </p:nvSpPr>
        <p:spPr>
          <a:xfrm>
            <a:off x="6248400" y="2694781"/>
            <a:ext cx="528472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A1A"/>
                </a:solidFill>
                <a:latin typeface="Inter" pitchFamily="34" charset="0"/>
                <a:ea typeface="Inter" pitchFamily="34" charset="-122"/>
                <a:cs typeface="Inter" pitchFamily="34" charset="-120"/>
              </a:rPr>
              <a:t>Atividade sincronizada</a:t>
            </a:r>
            <a:endParaRPr lang="en-US" sz="1600" dirty="0"/>
          </a:p>
        </p:txBody>
      </p:sp>
      <p:sp>
        <p:nvSpPr>
          <p:cNvPr id="15" name="Text 12"/>
          <p:cNvSpPr/>
          <p:nvPr/>
        </p:nvSpPr>
        <p:spPr>
          <a:xfrm>
            <a:off x="6248400" y="2989362"/>
            <a:ext cx="528472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Potenciais pós-sinápticos de milhões de neurônios se somam.</a:t>
            </a:r>
            <a:endParaRPr lang="en-US" sz="1400" dirty="0"/>
          </a:p>
        </p:txBody>
      </p:sp>
      <p:sp>
        <p:nvSpPr>
          <p:cNvPr id="16" name="Shape 13"/>
          <p:cNvSpPr/>
          <p:nvPr/>
        </p:nvSpPr>
        <p:spPr>
          <a:xfrm>
            <a:off x="812800" y="3645793"/>
            <a:ext cx="5130800" cy="0"/>
          </a:xfrm>
          <a:prstGeom prst="line">
            <a:avLst/>
          </a:prstGeom>
          <a:noFill/>
          <a:ln w="12700">
            <a:solidFill>
              <a:srgbClr val="D9D9D9"/>
            </a:solidFill>
            <a:prstDash val="solid"/>
          </a:ln>
        </p:spPr>
      </p:sp>
      <p:sp>
        <p:nvSpPr>
          <p:cNvPr id="17" name="Text 14"/>
          <p:cNvSpPr/>
          <p:nvPr/>
        </p:nvSpPr>
        <p:spPr>
          <a:xfrm>
            <a:off x="812800" y="3753743"/>
            <a:ext cx="528472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05080"/>
                </a:solidFill>
                <a:latin typeface="Inter" pitchFamily="34" charset="0"/>
                <a:ea typeface="Inter" pitchFamily="34" charset="-122"/>
                <a:cs typeface="Inter" pitchFamily="34" charset="-120"/>
              </a:rPr>
              <a:t>03</a:t>
            </a:r>
            <a:endParaRPr lang="en-US" sz="1400" dirty="0"/>
          </a:p>
        </p:txBody>
      </p:sp>
      <p:sp>
        <p:nvSpPr>
          <p:cNvPr id="18" name="Text 15"/>
          <p:cNvSpPr/>
          <p:nvPr/>
        </p:nvSpPr>
        <p:spPr>
          <a:xfrm>
            <a:off x="812800" y="4053384"/>
            <a:ext cx="528472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A1A"/>
                </a:solidFill>
                <a:latin typeface="Inter" pitchFamily="34" charset="0"/>
                <a:ea typeface="Inter" pitchFamily="34" charset="-122"/>
                <a:cs typeface="Inter" pitchFamily="34" charset="-120"/>
              </a:rPr>
              <a:t>Volume condutor</a:t>
            </a:r>
            <a:endParaRPr lang="en-US" sz="1600" dirty="0"/>
          </a:p>
        </p:txBody>
      </p:sp>
      <p:sp>
        <p:nvSpPr>
          <p:cNvPr id="19" name="Text 16"/>
          <p:cNvSpPr/>
          <p:nvPr/>
        </p:nvSpPr>
        <p:spPr>
          <a:xfrm>
            <a:off x="812800" y="4347964"/>
            <a:ext cx="528472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O campo atravessa meninges, crânio e couro cabeludo e chega atenuado.</a:t>
            </a:r>
            <a:endParaRPr lang="en-US" sz="1400" dirty="0"/>
          </a:p>
        </p:txBody>
      </p:sp>
      <p:sp>
        <p:nvSpPr>
          <p:cNvPr id="20" name="Shape 17"/>
          <p:cNvSpPr/>
          <p:nvPr/>
        </p:nvSpPr>
        <p:spPr>
          <a:xfrm>
            <a:off x="6248400" y="3645793"/>
            <a:ext cx="5130800" cy="0"/>
          </a:xfrm>
          <a:prstGeom prst="line">
            <a:avLst/>
          </a:prstGeom>
          <a:noFill/>
          <a:ln w="12700">
            <a:solidFill>
              <a:srgbClr val="D9D9D9"/>
            </a:solidFill>
            <a:prstDash val="solid"/>
          </a:ln>
        </p:spPr>
      </p:sp>
      <p:sp>
        <p:nvSpPr>
          <p:cNvPr id="21" name="Text 18"/>
          <p:cNvSpPr/>
          <p:nvPr/>
        </p:nvSpPr>
        <p:spPr>
          <a:xfrm>
            <a:off x="6248400" y="3753743"/>
            <a:ext cx="528472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05080"/>
                </a:solidFill>
                <a:latin typeface="Inter" pitchFamily="34" charset="0"/>
                <a:ea typeface="Inter" pitchFamily="34" charset="-122"/>
                <a:cs typeface="Inter" pitchFamily="34" charset="-120"/>
              </a:rPr>
              <a:t>04</a:t>
            </a:r>
            <a:endParaRPr lang="en-US" sz="1400" dirty="0"/>
          </a:p>
        </p:txBody>
      </p:sp>
      <p:sp>
        <p:nvSpPr>
          <p:cNvPr id="22" name="Text 19"/>
          <p:cNvSpPr/>
          <p:nvPr/>
        </p:nvSpPr>
        <p:spPr>
          <a:xfrm>
            <a:off x="6248400" y="4053384"/>
            <a:ext cx="528472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A1A"/>
                </a:solidFill>
                <a:latin typeface="Inter" pitchFamily="34" charset="0"/>
                <a:ea typeface="Inter" pitchFamily="34" charset="-122"/>
                <a:cs typeface="Inter" pitchFamily="34" charset="-120"/>
              </a:rPr>
              <a:t>Eletrodos e conversor</a:t>
            </a:r>
            <a:endParaRPr lang="en-US" sz="1600" dirty="0"/>
          </a:p>
        </p:txBody>
      </p:sp>
      <p:sp>
        <p:nvSpPr>
          <p:cNvPr id="23" name="Text 20"/>
          <p:cNvSpPr/>
          <p:nvPr/>
        </p:nvSpPr>
        <p:spPr>
          <a:xfrm>
            <a:off x="6248400" y="4347964"/>
            <a:ext cx="528472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A diferença de potencial é amplificada, filtrada e digitalizada.</a:t>
            </a:r>
            <a:endParaRPr lang="en-US" sz="1400" dirty="0"/>
          </a:p>
        </p:txBody>
      </p:sp>
      <p:sp>
        <p:nvSpPr>
          <p:cNvPr id="24" name="Text 21"/>
          <p:cNvSpPr/>
          <p:nvPr/>
        </p:nvSpPr>
        <p:spPr>
          <a:xfrm>
            <a:off x="812800" y="5048845"/>
            <a:ext cx="3418433"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305080"/>
                </a:solidFill>
                <a:latin typeface="Inter" pitchFamily="34" charset="0"/>
                <a:ea typeface="Inter" pitchFamily="34" charset="-122"/>
                <a:cs typeface="Inter" pitchFamily="34" charset="-120"/>
              </a:rPr>
              <a:t>10–100 µV</a:t>
            </a:r>
            <a:endParaRPr lang="en-US" sz="2800" dirty="0"/>
          </a:p>
        </p:txBody>
      </p:sp>
      <p:sp>
        <p:nvSpPr>
          <p:cNvPr id="25" name="Text 22"/>
          <p:cNvSpPr/>
          <p:nvPr/>
        </p:nvSpPr>
        <p:spPr>
          <a:xfrm>
            <a:off x="812800" y="5597426"/>
            <a:ext cx="34184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Amplitude típica no couro cabeludo</a:t>
            </a:r>
            <a:endParaRPr lang="en-US" sz="1200" dirty="0"/>
          </a:p>
        </p:txBody>
      </p:sp>
      <p:sp>
        <p:nvSpPr>
          <p:cNvPr id="26" name="Text 23"/>
          <p:cNvSpPr/>
          <p:nvPr/>
        </p:nvSpPr>
        <p:spPr>
          <a:xfrm>
            <a:off x="4436467" y="5048845"/>
            <a:ext cx="3418535"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305080"/>
                </a:solidFill>
                <a:latin typeface="Inter" pitchFamily="34" charset="0"/>
                <a:ea typeface="Inter" pitchFamily="34" charset="-122"/>
                <a:cs typeface="Inter" pitchFamily="34" charset="-120"/>
              </a:rPr>
              <a:t>milissegundos</a:t>
            </a:r>
            <a:endParaRPr lang="en-US" sz="2800" dirty="0"/>
          </a:p>
        </p:txBody>
      </p:sp>
      <p:sp>
        <p:nvSpPr>
          <p:cNvPr id="27" name="Text 24"/>
          <p:cNvSpPr/>
          <p:nvPr/>
        </p:nvSpPr>
        <p:spPr>
          <a:xfrm>
            <a:off x="4436467" y="5597426"/>
            <a:ext cx="34185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Resolução temporal do sinal</a:t>
            </a:r>
            <a:endParaRPr lang="en-US" sz="1200" dirty="0"/>
          </a:p>
        </p:txBody>
      </p:sp>
      <p:sp>
        <p:nvSpPr>
          <p:cNvPr id="28" name="Text 25"/>
          <p:cNvSpPr/>
          <p:nvPr/>
        </p:nvSpPr>
        <p:spPr>
          <a:xfrm>
            <a:off x="8060234" y="5048845"/>
            <a:ext cx="3418535"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305080"/>
                </a:solidFill>
                <a:latin typeface="Inter" pitchFamily="34" charset="0"/>
                <a:ea typeface="Inter" pitchFamily="34" charset="-122"/>
                <a:cs typeface="Inter" pitchFamily="34" charset="-120"/>
              </a:rPr>
              <a:t>1 canal · 128 Hz</a:t>
            </a:r>
            <a:endParaRPr lang="en-US" sz="2800" dirty="0"/>
          </a:p>
        </p:txBody>
      </p:sp>
      <p:sp>
        <p:nvSpPr>
          <p:cNvPr id="29" name="Text 26"/>
          <p:cNvSpPr/>
          <p:nvPr/>
        </p:nvSpPr>
        <p:spPr>
          <a:xfrm>
            <a:off x="8060234" y="5597426"/>
            <a:ext cx="34185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EEG frontal usado neste trabalho</a:t>
            </a:r>
            <a:endParaRPr lang="en-US" sz="1200" dirty="0"/>
          </a:p>
        </p:txBody>
      </p:sp>
      <p:sp>
        <p:nvSpPr>
          <p:cNvPr id="30" name="Text 27"/>
          <p:cNvSpPr/>
          <p:nvPr/>
        </p:nvSpPr>
        <p:spPr>
          <a:xfrm>
            <a:off x="812800" y="5787430"/>
            <a:ext cx="10464800"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305080"/>
                </a:solidFill>
                <a:latin typeface="Inter" pitchFamily="34" charset="0"/>
                <a:ea typeface="Inter" pitchFamily="34" charset="-122"/>
                <a:cs typeface="Inter" pitchFamily="34" charset="-120"/>
              </a:rPr>
              <a:t>Fonte:</a:t>
            </a:r>
            <a:r>
              <a:rPr lang="en-US" sz="1100" dirty="0">
                <a:solidFill>
                  <a:srgbClr val="7A7A7A"/>
                </a:solidFill>
                <a:latin typeface="Inter" pitchFamily="34" charset="0"/>
                <a:ea typeface="Inter" pitchFamily="34" charset="-122"/>
                <a:cs typeface="Inter" pitchFamily="34" charset="-120"/>
              </a:rPr>
              <a:t> Purdon et al. (2015); Craik et al. (2019).</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BrainSniffer · Bruno Rocha Guimarães</a:t>
            </a:r>
            <a:endParaRPr lang="en-US" sz="1200" dirty="0"/>
          </a:p>
        </p:txBody>
      </p:sp>
      <p:sp>
        <p:nvSpPr>
          <p:cNvPr id="5" name="Text 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D4D4D"/>
                </a:solidFill>
                <a:latin typeface="Inter" pitchFamily="34" charset="0"/>
                <a:ea typeface="Inter" pitchFamily="34" charset="-122"/>
                <a:cs typeface="Inter" pitchFamily="34" charset="-120"/>
              </a:rPr>
              <a:t>7 / 24</a:t>
            </a:r>
            <a:endParaRPr lang="en-US" sz="1200" dirty="0"/>
          </a:p>
        </p:txBody>
      </p:sp>
      <p:sp>
        <p:nvSpPr>
          <p:cNvPr id="6" name="Text 3"/>
          <p:cNvSpPr/>
          <p:nvPr/>
        </p:nvSpPr>
        <p:spPr>
          <a:xfrm>
            <a:off x="812800" y="1270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05080"/>
                </a:solidFill>
                <a:latin typeface="Inter" pitchFamily="34" charset="0"/>
                <a:ea typeface="Inter" pitchFamily="34" charset="-122"/>
                <a:cs typeface="Inter" pitchFamily="34" charset="-120"/>
              </a:rPr>
              <a:t>03 · EEG NA ANESTESIA</a:t>
            </a:r>
            <a:endParaRPr lang="en-US" sz="1200" dirty="0"/>
          </a:p>
        </p:txBody>
      </p:sp>
      <p:sp>
        <p:nvSpPr>
          <p:cNvPr id="7" name="Text 4"/>
          <p:cNvSpPr/>
          <p:nvPr>
            <p:ph type="title"/>
          </p:nvPr>
        </p:nvSpPr>
        <p:spPr>
          <a:xfrm>
            <a:off x="812800" y="16865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A1A"/>
                </a:solidFill>
                <a:latin typeface="Inter" pitchFamily="34" charset="0"/>
                <a:ea typeface="Inter" pitchFamily="34" charset="-122"/>
                <a:cs typeface="Inter" pitchFamily="34" charset="-120"/>
              </a:rPr>
              <a:t>O QUE MUDA NO EEG SOB ANESTESIA</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2293541"/>
          <a:ext cx="10553700" cy="1968500"/>
        </p:xfrm>
        <a:graphic>
          <a:graphicData uri="http://schemas.openxmlformats.org/drawingml/2006/table">
            <a:tbl>
              <a:tblPr/>
              <a:tblGrid>
                <a:gridCol w="1899666"/>
                <a:gridCol w="2321814"/>
                <a:gridCol w="6332220"/>
              </a:tblGrid>
              <a:tr h="393700">
                <a:tc>
                  <a:txBody>
                    <a:bodyPr/>
                    <a:lstStyle/>
                    <a:p>
                      <a:pPr indent="0" marL="0">
                        <a:lnSpc>
                          <a:spcPts val="2100"/>
                        </a:lnSpc>
                        <a:buNone/>
                      </a:pPr>
                      <a:r>
                        <a:rPr lang="en-US" sz="1500" b="1" dirty="0">
                          <a:solidFill>
                            <a:srgbClr val="305080"/>
                          </a:solidFill>
                          <a:latin typeface="Inter" pitchFamily="34" charset="0"/>
                          <a:ea typeface="Inter" pitchFamily="34" charset="-122"/>
                          <a:cs typeface="Inter" pitchFamily="34" charset="-120"/>
                        </a:rPr>
                        <a:t>Faixa BIS</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2100"/>
                        </a:lnSpc>
                        <a:buNone/>
                      </a:pPr>
                      <a:r>
                        <a:rPr lang="en-US" sz="1500" b="1" dirty="0">
                          <a:solidFill>
                            <a:srgbClr val="305080"/>
                          </a:solidFill>
                          <a:latin typeface="Inter" pitchFamily="34" charset="0"/>
                          <a:ea typeface="Inter" pitchFamily="34" charset="-122"/>
                          <a:cs typeface="Inter" pitchFamily="34" charset="-120"/>
                        </a:rPr>
                        <a:t>Estado</a:t>
                      </a:r>
                      <a:endParaRPr lang="en-US" sz="1500" dirty="0">
                        <a:latin typeface="Inter" charset="0"/>
                        <a:ea typeface="Inter" charset="0"/>
                        <a:cs typeface="Inter" charset="0"/>
                      </a:endParaRPr>
                    </a:p>
                  </a:txBody>
                  <a:tcPr marL="66675" marR="66675" marT="66675" marB="6667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2100"/>
                        </a:lnSpc>
                        <a:buNone/>
                      </a:pPr>
                      <a:r>
                        <a:rPr lang="en-US" sz="1500" b="1" dirty="0">
                          <a:solidFill>
                            <a:srgbClr val="305080"/>
                          </a:solidFill>
                          <a:latin typeface="Inter" pitchFamily="34" charset="0"/>
                          <a:ea typeface="Inter" pitchFamily="34" charset="-122"/>
                          <a:cs typeface="Inter" pitchFamily="34" charset="-120"/>
                        </a:rPr>
                        <a:t>Padrão no EEG</a:t>
                      </a:r>
                      <a:endParaRPr lang="en-US" sz="1500" dirty="0">
                        <a:latin typeface="Inter" charset="0"/>
                        <a:ea typeface="Inter" charset="0"/>
                        <a:cs typeface="Inter" charset="0"/>
                      </a:endParaRPr>
                    </a:p>
                  </a:txBody>
                  <a:tcPr marL="66675" marR="66675" marT="66675" marB="6667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93700">
                <a:tc>
                  <a:txBody>
                    <a:bodyPr/>
                    <a:lstStyle/>
                    <a:p>
                      <a:pPr indent="0" marL="0">
                        <a:lnSpc>
                          <a:spcPts val="2100"/>
                        </a:lnSpc>
                        <a:buNone/>
                      </a:pPr>
                      <a:r>
                        <a:rPr lang="en-US" sz="1500" dirty="0">
                          <a:solidFill>
                            <a:srgbClr val="1A1A1A"/>
                          </a:solidFill>
                          <a:latin typeface="Inter" pitchFamily="34" charset="0"/>
                          <a:ea typeface="Inter" pitchFamily="34" charset="-122"/>
                          <a:cs typeface="Inter" pitchFamily="34" charset="-120"/>
                        </a:rPr>
                        <a:t>80–100</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A1A1A"/>
                          </a:solidFill>
                          <a:latin typeface="Inter" pitchFamily="34" charset="0"/>
                          <a:ea typeface="Inter" pitchFamily="34" charset="-122"/>
                          <a:cs typeface="Inter" pitchFamily="34" charset="-120"/>
                        </a:rPr>
                        <a:t>Acordado</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A1A1A"/>
                          </a:solidFill>
                          <a:latin typeface="Inter" pitchFamily="34" charset="0"/>
                          <a:ea typeface="Inter" pitchFamily="34" charset="-122"/>
                          <a:cs typeface="Inter" pitchFamily="34" charset="-120"/>
                        </a:rPr>
                        <a:t>Ritmos rápidos (beta, gama) e de baixa amplitude.</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93700">
                <a:tc>
                  <a:txBody>
                    <a:bodyPr/>
                    <a:lstStyle/>
                    <a:p>
                      <a:pPr indent="0" marL="0">
                        <a:lnSpc>
                          <a:spcPts val="2100"/>
                        </a:lnSpc>
                        <a:buNone/>
                      </a:pPr>
                      <a:r>
                        <a:rPr lang="en-US" sz="1500" dirty="0">
                          <a:solidFill>
                            <a:srgbClr val="1A1A1A"/>
                          </a:solidFill>
                          <a:latin typeface="Inter" pitchFamily="34" charset="0"/>
                          <a:ea typeface="Inter" pitchFamily="34" charset="-122"/>
                          <a:cs typeface="Inter" pitchFamily="34" charset="-120"/>
                        </a:rPr>
                        <a:t>60–80</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A1A1A"/>
                          </a:solidFill>
                          <a:latin typeface="Inter" pitchFamily="34" charset="0"/>
                          <a:ea typeface="Inter" pitchFamily="34" charset="-122"/>
                          <a:cs typeface="Inter" pitchFamily="34" charset="-120"/>
                        </a:rPr>
                        <a:t>Sedação</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A1A1A"/>
                          </a:solidFill>
                          <a:latin typeface="Inter" pitchFamily="34" charset="0"/>
                          <a:ea typeface="Inter" pitchFamily="34" charset="-122"/>
                          <a:cs typeface="Inter" pitchFamily="34" charset="-120"/>
                        </a:rPr>
                        <a:t>Aumento paradoxal de beta e início da lentificação.</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93700">
                <a:tc>
                  <a:txBody>
                    <a:bodyPr/>
                    <a:lstStyle/>
                    <a:p>
                      <a:pPr indent="0" marL="0">
                        <a:lnSpc>
                          <a:spcPts val="2100"/>
                        </a:lnSpc>
                        <a:buNone/>
                      </a:pPr>
                      <a:r>
                        <a:rPr lang="en-US" sz="1500" dirty="0">
                          <a:solidFill>
                            <a:srgbClr val="1A1A1A"/>
                          </a:solidFill>
                          <a:latin typeface="Inter" pitchFamily="34" charset="0"/>
                          <a:ea typeface="Inter" pitchFamily="34" charset="-122"/>
                          <a:cs typeface="Inter" pitchFamily="34" charset="-120"/>
                        </a:rPr>
                        <a:t>40–60</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A1A1A"/>
                          </a:solidFill>
                          <a:latin typeface="Inter" pitchFamily="34" charset="0"/>
                          <a:ea typeface="Inter" pitchFamily="34" charset="-122"/>
                          <a:cs typeface="Inter" pitchFamily="34" charset="-120"/>
                        </a:rPr>
                        <a:t>Anestesia geral</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A1A1A"/>
                          </a:solidFill>
                          <a:latin typeface="Inter" pitchFamily="34" charset="0"/>
                          <a:ea typeface="Inter" pitchFamily="34" charset="-122"/>
                          <a:cs typeface="Inter" pitchFamily="34" charset="-120"/>
                        </a:rPr>
                        <a:t>Alfa frontal (~10 Hz) somado a ondas lentas de alta amplitude.</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93700">
                <a:tc>
                  <a:txBody>
                    <a:bodyPr/>
                    <a:lstStyle/>
                    <a:p>
                      <a:pPr indent="0" marL="0">
                        <a:lnSpc>
                          <a:spcPts val="2100"/>
                        </a:lnSpc>
                        <a:buNone/>
                      </a:pPr>
                      <a:r>
                        <a:rPr lang="en-US" sz="1500" dirty="0">
                          <a:solidFill>
                            <a:srgbClr val="1A1A1A"/>
                          </a:solidFill>
                          <a:latin typeface="Inter" pitchFamily="34" charset="0"/>
                          <a:ea typeface="Inter" pitchFamily="34" charset="-122"/>
                          <a:cs typeface="Inter" pitchFamily="34" charset="-120"/>
                        </a:rPr>
                        <a:t>0–40</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A1A1A"/>
                          </a:solidFill>
                          <a:latin typeface="Inter" pitchFamily="34" charset="0"/>
                          <a:ea typeface="Inter" pitchFamily="34" charset="-122"/>
                          <a:cs typeface="Inter" pitchFamily="34" charset="-120"/>
                        </a:rPr>
                        <a:t>Profunda</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A1A1A"/>
                          </a:solidFill>
                          <a:latin typeface="Inter" pitchFamily="34" charset="0"/>
                          <a:ea typeface="Inter" pitchFamily="34" charset="-122"/>
                          <a:cs typeface="Inter" pitchFamily="34" charset="-120"/>
                        </a:rPr>
                        <a:t>Surto-supressão: rajadas entre trechos quase isoelétricos.</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Text 5"/>
          <p:cNvSpPr/>
          <p:nvPr/>
        </p:nvSpPr>
        <p:spPr>
          <a:xfrm>
            <a:off x="812800" y="446524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4D4D"/>
                </a:solidFill>
                <a:latin typeface="Inter" pitchFamily="34" charset="0"/>
                <a:ea typeface="Inter" pitchFamily="34" charset="-122"/>
                <a:cs typeface="Inter" pitchFamily="34" charset="-120"/>
              </a:rPr>
              <a:t>Faixas usadas só para comunicação (acurácia e macro-F1 em 4 classes), não como limiares clínicos validados.</a:t>
            </a:r>
            <a:endParaRPr lang="en-US" sz="1400" dirty="0"/>
          </a:p>
        </p:txBody>
      </p:sp>
      <p:sp>
        <p:nvSpPr>
          <p:cNvPr id="10" name="Text 6"/>
          <p:cNvSpPr/>
          <p:nvPr/>
        </p:nvSpPr>
        <p:spPr>
          <a:xfrm>
            <a:off x="812800" y="5787430"/>
            <a:ext cx="10464800"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305080"/>
                </a:solidFill>
                <a:latin typeface="Inter" pitchFamily="34" charset="0"/>
                <a:ea typeface="Inter" pitchFamily="34" charset="-122"/>
                <a:cs typeface="Inter" pitchFamily="34" charset="-120"/>
              </a:rPr>
              <a:t>Fonte:</a:t>
            </a:r>
            <a:r>
              <a:rPr lang="en-US" sz="1100" dirty="0">
                <a:solidFill>
                  <a:srgbClr val="7A7A7A"/>
                </a:solidFill>
                <a:latin typeface="Inter" pitchFamily="34" charset="0"/>
                <a:ea typeface="Inter" pitchFamily="34" charset="-122"/>
                <a:cs typeface="Inter" pitchFamily="34" charset="-120"/>
              </a:rPr>
              <a:t> Purdon et al. (2015); Shi et al. (2023).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BrainSniffer · Bruno Rocha Guimarães</a:t>
            </a:r>
            <a:endParaRPr lang="en-US" sz="1200" dirty="0"/>
          </a:p>
        </p:txBody>
      </p:sp>
      <p:sp>
        <p:nvSpPr>
          <p:cNvPr id="5" name="Text 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D4D4D"/>
                </a:solidFill>
                <a:latin typeface="Inter" pitchFamily="34" charset="0"/>
                <a:ea typeface="Inter" pitchFamily="34" charset="-122"/>
                <a:cs typeface="Inter" pitchFamily="34" charset="-120"/>
              </a:rPr>
              <a:t>8 / 24</a:t>
            </a:r>
            <a:endParaRPr lang="en-US" sz="1200" dirty="0"/>
          </a:p>
        </p:txBody>
      </p:sp>
      <p:sp>
        <p:nvSpPr>
          <p:cNvPr id="6" name="Text 3"/>
          <p:cNvSpPr/>
          <p:nvPr/>
        </p:nvSpPr>
        <p:spPr>
          <a:xfrm>
            <a:off x="812800" y="1270000"/>
            <a:ext cx="10883392" cy="236736"/>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305080"/>
                </a:solidFill>
                <a:latin typeface="Inter" pitchFamily="34" charset="0"/>
                <a:ea typeface="Inter" pitchFamily="34" charset="-122"/>
                <a:cs typeface="Inter" pitchFamily="34" charset="-120"/>
              </a:rPr>
              <a:t>03 · O ÍNDICE BIS</a:t>
            </a:r>
            <a:endParaRPr lang="en-US" sz="1196" dirty="0"/>
          </a:p>
        </p:txBody>
      </p:sp>
      <p:sp>
        <p:nvSpPr>
          <p:cNvPr id="7" name="Text 4"/>
          <p:cNvSpPr/>
          <p:nvPr>
            <p:ph type="title"/>
          </p:nvPr>
        </p:nvSpPr>
        <p:spPr>
          <a:xfrm>
            <a:off x="812800" y="1684536"/>
            <a:ext cx="10883392" cy="412849"/>
          </a:xfrm>
          <a:prstGeom prst="rect">
            <a:avLst/>
          </a:prstGeom>
          <a:noFill/>
          <a:ln/>
        </p:spPr>
        <p:txBody>
          <a:bodyPr wrap="square" lIns="0" tIns="0" rIns="0" bIns="0" rtlCol="0" anchor="t">
            <a:normAutofit/>
          </a:bodyPr>
          <a:lstStyle/>
          <a:p>
            <a:pPr algn="l" indent="0" marL="0">
              <a:lnSpc>
                <a:spcPts val="3070"/>
              </a:lnSpc>
              <a:buNone/>
            </a:pPr>
            <a:r>
              <a:rPr lang="en-US" sz="2791" b="1" i="0" dirty="0">
                <a:solidFill>
                  <a:srgbClr val="1A1A1A"/>
                </a:solidFill>
                <a:latin typeface="Inter" pitchFamily="34" charset="0"/>
                <a:ea typeface="Inter" pitchFamily="34" charset="-122"/>
                <a:cs typeface="Inter" pitchFamily="34" charset="-120"/>
              </a:rPr>
              <a:t>BIS: A REFERÊNCIA À BEIRA DO LEITO</a:t>
            </a:r>
            <a:endParaRPr lang="en-US" sz="2791" dirty="0"/>
          </a:p>
        </p:txBody>
      </p:sp>
      <p:sp>
        <p:nvSpPr>
          <p:cNvPr id="8" name="Shape 5"/>
          <p:cNvSpPr/>
          <p:nvPr/>
        </p:nvSpPr>
        <p:spPr>
          <a:xfrm>
            <a:off x="812800" y="2281535"/>
            <a:ext cx="2489200" cy="0"/>
          </a:xfrm>
          <a:prstGeom prst="line">
            <a:avLst/>
          </a:prstGeom>
          <a:noFill/>
          <a:ln w="12700">
            <a:solidFill>
              <a:srgbClr val="D9D9D9"/>
            </a:solidFill>
            <a:prstDash val="solid"/>
          </a:ln>
        </p:spPr>
      </p:sp>
      <p:sp>
        <p:nvSpPr>
          <p:cNvPr id="9" name="Text 6"/>
          <p:cNvSpPr/>
          <p:nvPr/>
        </p:nvSpPr>
        <p:spPr>
          <a:xfrm>
            <a:off x="812800" y="2389485"/>
            <a:ext cx="2563876" cy="447278"/>
          </a:xfrm>
          <a:prstGeom prst="rect">
            <a:avLst/>
          </a:prstGeom>
          <a:noFill/>
          <a:ln/>
        </p:spPr>
        <p:txBody>
          <a:bodyPr wrap="square" lIns="0" tIns="0" rIns="0" bIns="0" rtlCol="0" anchor="t">
            <a:normAutofit/>
          </a:bodyPr>
          <a:lstStyle/>
          <a:p>
            <a:pPr algn="l" indent="0" marL="0">
              <a:lnSpc>
                <a:spcPts val="3318"/>
              </a:lnSpc>
              <a:buNone/>
            </a:pPr>
            <a:r>
              <a:rPr lang="en-US" sz="2370" b="1" dirty="0">
                <a:solidFill>
                  <a:srgbClr val="305080"/>
                </a:solidFill>
                <a:latin typeface="Inter" pitchFamily="34" charset="0"/>
                <a:ea typeface="Inter" pitchFamily="34" charset="-122"/>
                <a:cs typeface="Inter" pitchFamily="34" charset="-120"/>
              </a:rPr>
              <a:t>0 – 40</a:t>
            </a:r>
            <a:endParaRPr lang="en-US" sz="2370" dirty="0"/>
          </a:p>
        </p:txBody>
      </p:sp>
      <p:sp>
        <p:nvSpPr>
          <p:cNvPr id="10" name="Text 7"/>
          <p:cNvSpPr/>
          <p:nvPr/>
        </p:nvSpPr>
        <p:spPr>
          <a:xfrm>
            <a:off x="812800" y="2862163"/>
            <a:ext cx="2563876" cy="447278"/>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D4D4D"/>
                </a:solidFill>
                <a:latin typeface="Inter" pitchFamily="34" charset="0"/>
                <a:ea typeface="Inter" pitchFamily="34" charset="-122"/>
                <a:cs typeface="Inter" pitchFamily="34" charset="-120"/>
              </a:rPr>
              <a:t>Hipnose profunda → EEG isoelétrico (0)</a:t>
            </a:r>
            <a:endParaRPr lang="en-US" sz="1185" dirty="0"/>
          </a:p>
        </p:txBody>
      </p:sp>
      <p:sp>
        <p:nvSpPr>
          <p:cNvPr id="11" name="Shape 8"/>
          <p:cNvSpPr/>
          <p:nvPr/>
        </p:nvSpPr>
        <p:spPr>
          <a:xfrm>
            <a:off x="3505200" y="2281535"/>
            <a:ext cx="2489200" cy="0"/>
          </a:xfrm>
          <a:prstGeom prst="line">
            <a:avLst/>
          </a:prstGeom>
          <a:noFill/>
          <a:ln w="12700">
            <a:solidFill>
              <a:srgbClr val="D9D9D9"/>
            </a:solidFill>
            <a:prstDash val="solid"/>
          </a:ln>
        </p:spPr>
      </p:sp>
      <p:sp>
        <p:nvSpPr>
          <p:cNvPr id="12" name="Text 9"/>
          <p:cNvSpPr/>
          <p:nvPr/>
        </p:nvSpPr>
        <p:spPr>
          <a:xfrm>
            <a:off x="3505200" y="2389485"/>
            <a:ext cx="2563876"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05080"/>
                </a:solidFill>
                <a:latin typeface="Inter" pitchFamily="34" charset="0"/>
                <a:ea typeface="Inter" pitchFamily="34" charset="-122"/>
                <a:cs typeface="Inter" pitchFamily="34" charset="-120"/>
              </a:rPr>
              <a:t>40 – 60</a:t>
            </a:r>
            <a:endParaRPr lang="en-US" sz="2400" dirty="0"/>
          </a:p>
        </p:txBody>
      </p:sp>
      <p:sp>
        <p:nvSpPr>
          <p:cNvPr id="13" name="Text 10"/>
          <p:cNvSpPr/>
          <p:nvPr/>
        </p:nvSpPr>
        <p:spPr>
          <a:xfrm>
            <a:off x="3505200" y="2866926"/>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Anestesia geral</a:t>
            </a:r>
            <a:endParaRPr lang="en-US" sz="1200" dirty="0"/>
          </a:p>
        </p:txBody>
      </p:sp>
      <p:sp>
        <p:nvSpPr>
          <p:cNvPr id="14" name="Shape 11"/>
          <p:cNvSpPr/>
          <p:nvPr/>
        </p:nvSpPr>
        <p:spPr>
          <a:xfrm>
            <a:off x="6197600" y="2281535"/>
            <a:ext cx="2489200" cy="0"/>
          </a:xfrm>
          <a:prstGeom prst="line">
            <a:avLst/>
          </a:prstGeom>
          <a:noFill/>
          <a:ln w="12700">
            <a:solidFill>
              <a:srgbClr val="D9D9D9"/>
            </a:solidFill>
            <a:prstDash val="solid"/>
          </a:ln>
        </p:spPr>
      </p:sp>
      <p:sp>
        <p:nvSpPr>
          <p:cNvPr id="15" name="Text 12"/>
          <p:cNvSpPr/>
          <p:nvPr/>
        </p:nvSpPr>
        <p:spPr>
          <a:xfrm>
            <a:off x="6197600" y="2389485"/>
            <a:ext cx="2563876"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05080"/>
                </a:solidFill>
                <a:latin typeface="Inter" pitchFamily="34" charset="0"/>
                <a:ea typeface="Inter" pitchFamily="34" charset="-122"/>
                <a:cs typeface="Inter" pitchFamily="34" charset="-120"/>
              </a:rPr>
              <a:t>60 – 80</a:t>
            </a:r>
            <a:endParaRPr lang="en-US" sz="2400" dirty="0"/>
          </a:p>
        </p:txBody>
      </p:sp>
      <p:sp>
        <p:nvSpPr>
          <p:cNvPr id="16" name="Text 13"/>
          <p:cNvSpPr/>
          <p:nvPr/>
        </p:nvSpPr>
        <p:spPr>
          <a:xfrm>
            <a:off x="6197600" y="2866926"/>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Sedação</a:t>
            </a:r>
            <a:endParaRPr lang="en-US" sz="1200" dirty="0"/>
          </a:p>
        </p:txBody>
      </p:sp>
      <p:sp>
        <p:nvSpPr>
          <p:cNvPr id="17" name="Shape 14"/>
          <p:cNvSpPr/>
          <p:nvPr/>
        </p:nvSpPr>
        <p:spPr>
          <a:xfrm>
            <a:off x="8890000" y="2281535"/>
            <a:ext cx="2489200" cy="0"/>
          </a:xfrm>
          <a:prstGeom prst="line">
            <a:avLst/>
          </a:prstGeom>
          <a:noFill/>
          <a:ln w="12700">
            <a:solidFill>
              <a:srgbClr val="D9D9D9"/>
            </a:solidFill>
            <a:prstDash val="solid"/>
          </a:ln>
        </p:spPr>
      </p:sp>
      <p:sp>
        <p:nvSpPr>
          <p:cNvPr id="18" name="Text 15"/>
          <p:cNvSpPr/>
          <p:nvPr/>
        </p:nvSpPr>
        <p:spPr>
          <a:xfrm>
            <a:off x="8890000" y="2389485"/>
            <a:ext cx="2563876"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05080"/>
                </a:solidFill>
                <a:latin typeface="Inter" pitchFamily="34" charset="0"/>
                <a:ea typeface="Inter" pitchFamily="34" charset="-122"/>
                <a:cs typeface="Inter" pitchFamily="34" charset="-120"/>
              </a:rPr>
              <a:t>80 – 100</a:t>
            </a:r>
            <a:endParaRPr lang="en-US" sz="2400" dirty="0"/>
          </a:p>
        </p:txBody>
      </p:sp>
      <p:sp>
        <p:nvSpPr>
          <p:cNvPr id="19" name="Text 16"/>
          <p:cNvSpPr/>
          <p:nvPr/>
        </p:nvSpPr>
        <p:spPr>
          <a:xfrm>
            <a:off x="8890000" y="2866926"/>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Acordado (100)</a:t>
            </a:r>
            <a:endParaRPr lang="en-US" sz="1200" dirty="0"/>
          </a:p>
        </p:txBody>
      </p:sp>
      <p:sp>
        <p:nvSpPr>
          <p:cNvPr id="20" name="Shape 17"/>
          <p:cNvSpPr/>
          <p:nvPr/>
        </p:nvSpPr>
        <p:spPr>
          <a:xfrm>
            <a:off x="812800" y="3487241"/>
            <a:ext cx="5181600" cy="1101229"/>
          </a:xfrm>
          <a:prstGeom prst="rect">
            <a:avLst/>
          </a:prstGeom>
          <a:solidFill>
            <a:srgbClr val="F3F5F8"/>
          </a:solidFill>
          <a:ln/>
        </p:spPr>
      </p:sp>
      <p:sp>
        <p:nvSpPr>
          <p:cNvPr id="21" name="Text 18"/>
          <p:cNvSpPr/>
          <p:nvPr/>
        </p:nvSpPr>
        <p:spPr>
          <a:xfrm>
            <a:off x="990600" y="3665041"/>
            <a:ext cx="4970780" cy="26541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A1A"/>
                </a:solidFill>
                <a:latin typeface="Inter" pitchFamily="34" charset="0"/>
                <a:ea typeface="Inter" pitchFamily="34" charset="-122"/>
                <a:cs typeface="Inter" pitchFamily="34" charset="-120"/>
              </a:rPr>
              <a:t>Proprietário</a:t>
            </a:r>
            <a:endParaRPr lang="en-US" sz="1600" dirty="0"/>
          </a:p>
        </p:txBody>
      </p:sp>
      <p:sp>
        <p:nvSpPr>
          <p:cNvPr id="22" name="Text 19"/>
          <p:cNvSpPr/>
          <p:nvPr/>
        </p:nvSpPr>
        <p:spPr>
          <a:xfrm>
            <a:off x="990600" y="3955852"/>
            <a:ext cx="4970780" cy="480219"/>
          </a:xfrm>
          <a:prstGeom prst="rect">
            <a:avLst/>
          </a:prstGeom>
          <a:noFill/>
          <a:ln/>
        </p:spPr>
        <p:txBody>
          <a:bodyPr wrap="square" lIns="0" tIns="0" rIns="0" bIns="0" rtlCol="0" anchor="t">
            <a:normAutofit/>
          </a:bodyPr>
          <a:lstStyle/>
          <a:p>
            <a:pPr algn="l" indent="0" marL="0">
              <a:lnSpc>
                <a:spcPts val="1809"/>
              </a:lnSpc>
              <a:buNone/>
            </a:pPr>
            <a:r>
              <a:rPr lang="en-US" sz="1292" dirty="0">
                <a:solidFill>
                  <a:srgbClr val="1A1A1A"/>
                </a:solidFill>
                <a:latin typeface="Inter" pitchFamily="34" charset="0"/>
                <a:ea typeface="Inter" pitchFamily="34" charset="-122"/>
                <a:cs typeface="Inter" pitchFamily="34" charset="-120"/>
              </a:rPr>
              <a:t>Combina atributos temporais, espectrais e bispectrais por regra não publicada (Johansen; Sebel, 2000).</a:t>
            </a:r>
            <a:endParaRPr lang="en-US" sz="1292" dirty="0"/>
          </a:p>
        </p:txBody>
      </p:sp>
      <p:sp>
        <p:nvSpPr>
          <p:cNvPr id="23" name="Shape 20"/>
          <p:cNvSpPr/>
          <p:nvPr/>
        </p:nvSpPr>
        <p:spPr>
          <a:xfrm>
            <a:off x="6197600" y="3487241"/>
            <a:ext cx="5181600" cy="1101229"/>
          </a:xfrm>
          <a:prstGeom prst="rect">
            <a:avLst/>
          </a:prstGeom>
          <a:solidFill>
            <a:srgbClr val="F3F5F8"/>
          </a:solidFill>
          <a:ln/>
        </p:spPr>
      </p:sp>
      <p:sp>
        <p:nvSpPr>
          <p:cNvPr id="24" name="Text 21"/>
          <p:cNvSpPr/>
          <p:nvPr/>
        </p:nvSpPr>
        <p:spPr>
          <a:xfrm>
            <a:off x="6375400" y="3665041"/>
            <a:ext cx="4970780" cy="26541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A1A"/>
                </a:solidFill>
                <a:latin typeface="Inter" pitchFamily="34" charset="0"/>
                <a:ea typeface="Inter" pitchFamily="34" charset="-122"/>
                <a:cs typeface="Inter" pitchFamily="34" charset="-120"/>
              </a:rPr>
              <a:t>Sensível a confundidores</a:t>
            </a:r>
            <a:endParaRPr lang="en-US" sz="1600" dirty="0"/>
          </a:p>
        </p:txBody>
      </p:sp>
      <p:sp>
        <p:nvSpPr>
          <p:cNvPr id="25" name="Text 22"/>
          <p:cNvSpPr/>
          <p:nvPr/>
        </p:nvSpPr>
        <p:spPr>
          <a:xfrm>
            <a:off x="6375400" y="3955852"/>
            <a:ext cx="4970780" cy="480219"/>
          </a:xfrm>
          <a:prstGeom prst="rect">
            <a:avLst/>
          </a:prstGeom>
          <a:noFill/>
          <a:ln/>
        </p:spPr>
        <p:txBody>
          <a:bodyPr wrap="square" lIns="0" tIns="0" rIns="0" bIns="0" rtlCol="0" anchor="t">
            <a:normAutofit/>
          </a:bodyPr>
          <a:lstStyle/>
          <a:p>
            <a:pPr algn="l" indent="0" marL="0">
              <a:lnSpc>
                <a:spcPts val="1809"/>
              </a:lnSpc>
              <a:buNone/>
            </a:pPr>
            <a:r>
              <a:rPr lang="en-US" sz="1292" dirty="0">
                <a:solidFill>
                  <a:srgbClr val="1A1A1A"/>
                </a:solidFill>
                <a:latin typeface="Inter" pitchFamily="34" charset="0"/>
                <a:ea typeface="Inter" pitchFamily="34" charset="-122"/>
                <a:cs typeface="Inter" pitchFamily="34" charset="-120"/>
              </a:rPr>
              <a:t>EMG, bloqueio neuromuscular e cetamina alteram a leitura (Schuller et al., 2015; Hans et al., 2005).</a:t>
            </a:r>
            <a:endParaRPr lang="en-US" sz="1292" dirty="0"/>
          </a:p>
        </p:txBody>
      </p:sp>
      <p:sp>
        <p:nvSpPr>
          <p:cNvPr id="26" name="Shape 23"/>
          <p:cNvSpPr/>
          <p:nvPr/>
        </p:nvSpPr>
        <p:spPr>
          <a:xfrm>
            <a:off x="812800" y="4740870"/>
            <a:ext cx="5181600" cy="1101130"/>
          </a:xfrm>
          <a:prstGeom prst="rect">
            <a:avLst/>
          </a:prstGeom>
          <a:solidFill>
            <a:srgbClr val="F3F5F8"/>
          </a:solidFill>
          <a:ln/>
        </p:spPr>
      </p:sp>
      <p:sp>
        <p:nvSpPr>
          <p:cNvPr id="27" name="Text 24"/>
          <p:cNvSpPr/>
          <p:nvPr/>
        </p:nvSpPr>
        <p:spPr>
          <a:xfrm>
            <a:off x="990600" y="4918670"/>
            <a:ext cx="4970780" cy="26531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A1A"/>
                </a:solidFill>
                <a:latin typeface="Inter" pitchFamily="34" charset="0"/>
                <a:ea typeface="Inter" pitchFamily="34" charset="-122"/>
                <a:cs typeface="Inter" pitchFamily="34" charset="-120"/>
              </a:rPr>
              <a:t>Suavizado e com atraso</a:t>
            </a:r>
            <a:endParaRPr lang="en-US" sz="1600" dirty="0"/>
          </a:p>
        </p:txBody>
      </p:sp>
      <p:sp>
        <p:nvSpPr>
          <p:cNvPr id="28" name="Text 25"/>
          <p:cNvSpPr/>
          <p:nvPr/>
        </p:nvSpPr>
        <p:spPr>
          <a:xfrm>
            <a:off x="990600" y="5209381"/>
            <a:ext cx="4970780" cy="480219"/>
          </a:xfrm>
          <a:prstGeom prst="rect">
            <a:avLst/>
          </a:prstGeom>
          <a:noFill/>
          <a:ln/>
        </p:spPr>
        <p:txBody>
          <a:bodyPr wrap="square" lIns="0" tIns="0" rIns="0" bIns="0" rtlCol="0" anchor="t">
            <a:normAutofit/>
          </a:bodyPr>
          <a:lstStyle/>
          <a:p>
            <a:pPr algn="l" indent="0" marL="0">
              <a:lnSpc>
                <a:spcPts val="1809"/>
              </a:lnSpc>
              <a:buNone/>
            </a:pPr>
            <a:r>
              <a:rPr lang="en-US" sz="1292" dirty="0">
                <a:solidFill>
                  <a:srgbClr val="1A1A1A"/>
                </a:solidFill>
                <a:latin typeface="Inter" pitchFamily="34" charset="0"/>
                <a:ea typeface="Inter" pitchFamily="34" charset="-122"/>
                <a:cs typeface="Inter" pitchFamily="34" charset="-120"/>
              </a:rPr>
              <a:t>O índice chega com atraso de cálculo (Pilge et al., 2006): motiva a suavização causal.</a:t>
            </a:r>
            <a:endParaRPr lang="en-US" sz="1292" dirty="0"/>
          </a:p>
        </p:txBody>
      </p:sp>
      <p:sp>
        <p:nvSpPr>
          <p:cNvPr id="29" name="Shape 26"/>
          <p:cNvSpPr/>
          <p:nvPr/>
        </p:nvSpPr>
        <p:spPr>
          <a:xfrm>
            <a:off x="6197600" y="4740870"/>
            <a:ext cx="5181600" cy="1101130"/>
          </a:xfrm>
          <a:prstGeom prst="rect">
            <a:avLst/>
          </a:prstGeom>
          <a:solidFill>
            <a:srgbClr val="F3F5F8"/>
          </a:solidFill>
          <a:ln/>
        </p:spPr>
      </p:sp>
      <p:sp>
        <p:nvSpPr>
          <p:cNvPr id="30" name="Text 27"/>
          <p:cNvSpPr/>
          <p:nvPr/>
        </p:nvSpPr>
        <p:spPr>
          <a:xfrm>
            <a:off x="6375400" y="4918670"/>
            <a:ext cx="4970780" cy="26531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A1A"/>
                </a:solidFill>
                <a:latin typeface="Inter" pitchFamily="34" charset="0"/>
                <a:ea typeface="Inter" pitchFamily="34" charset="-122"/>
                <a:cs typeface="Inter" pitchFamily="34" charset="-120"/>
              </a:rPr>
              <a:t>Um rótulo, não a verdade</a:t>
            </a:r>
            <a:endParaRPr lang="en-US" sz="1600" dirty="0"/>
          </a:p>
        </p:txBody>
      </p:sp>
      <p:sp>
        <p:nvSpPr>
          <p:cNvPr id="31" name="Text 28"/>
          <p:cNvSpPr/>
          <p:nvPr/>
        </p:nvSpPr>
        <p:spPr>
          <a:xfrm>
            <a:off x="6375400" y="5209381"/>
            <a:ext cx="4970780" cy="480219"/>
          </a:xfrm>
          <a:prstGeom prst="rect">
            <a:avLst/>
          </a:prstGeom>
          <a:noFill/>
          <a:ln/>
        </p:spPr>
        <p:txBody>
          <a:bodyPr wrap="square" lIns="0" tIns="0" rIns="0" bIns="0" rtlCol="0" anchor="t">
            <a:normAutofit/>
          </a:bodyPr>
          <a:lstStyle/>
          <a:p>
            <a:pPr algn="l" indent="0" marL="0">
              <a:lnSpc>
                <a:spcPts val="1809"/>
              </a:lnSpc>
              <a:buNone/>
            </a:pPr>
            <a:r>
              <a:rPr lang="en-US" sz="1292" dirty="0">
                <a:solidFill>
                  <a:srgbClr val="1A1A1A"/>
                </a:solidFill>
                <a:latin typeface="Inter" pitchFamily="34" charset="0"/>
                <a:ea typeface="Inter" pitchFamily="34" charset="-122"/>
                <a:cs typeface="Inter" pitchFamily="34" charset="-120"/>
              </a:rPr>
              <a:t>Estimamos um rótulo de referência BIS — não consciência nem efeito do fármaco.</a:t>
            </a:r>
            <a:endParaRPr lang="en-US" sz="1292" dirty="0"/>
          </a:p>
        </p:txBody>
      </p:sp>
      <p:sp>
        <p:nvSpPr>
          <p:cNvPr id="32" name="Text 29"/>
          <p:cNvSpPr/>
          <p:nvPr/>
        </p:nvSpPr>
        <p:spPr>
          <a:xfrm>
            <a:off x="812800" y="5875139"/>
            <a:ext cx="10464800" cy="388541"/>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305080"/>
                </a:solidFill>
                <a:latin typeface="Inter" pitchFamily="34" charset="0"/>
                <a:ea typeface="Inter" pitchFamily="34" charset="-122"/>
                <a:cs typeface="Inter" pitchFamily="34" charset="-120"/>
              </a:rPr>
              <a:t>Fonte:</a:t>
            </a:r>
            <a:r>
              <a:rPr lang="en-US" sz="1100" dirty="0">
                <a:solidFill>
                  <a:srgbClr val="7A7A7A"/>
                </a:solidFill>
                <a:latin typeface="Inter" pitchFamily="34" charset="0"/>
                <a:ea typeface="Inter" pitchFamily="34" charset="-122"/>
                <a:cs typeface="Inter" pitchFamily="34" charset="-120"/>
              </a:rPr>
              <a:t> Johansen; Sebel (2000); Myles et al. (2004); Hans et al. (2005); Schuller et al. (2015); Pilge et al. (2006); Connor (2022); Dahaba et al. (2010); Shiraishi et al. (2004).</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BrainSniffer · Bruno Rocha Guimarães</a:t>
            </a:r>
            <a:endParaRPr lang="en-US" sz="1200" dirty="0"/>
          </a:p>
        </p:txBody>
      </p:sp>
      <p:sp>
        <p:nvSpPr>
          <p:cNvPr id="5" name="Text 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D4D4D"/>
                </a:solidFill>
                <a:latin typeface="Inter" pitchFamily="34" charset="0"/>
                <a:ea typeface="Inter" pitchFamily="34" charset="-122"/>
                <a:cs typeface="Inter" pitchFamily="34" charset="-120"/>
              </a:rPr>
              <a:t>9 / 24</a:t>
            </a:r>
            <a:endParaRPr lang="en-US" sz="1200" dirty="0"/>
          </a:p>
        </p:txBody>
      </p:sp>
      <p:sp>
        <p:nvSpPr>
          <p:cNvPr id="6" name="Text 3"/>
          <p:cNvSpPr/>
          <p:nvPr/>
        </p:nvSpPr>
        <p:spPr>
          <a:xfrm>
            <a:off x="812800" y="1270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05080"/>
                </a:solidFill>
                <a:latin typeface="Inter" pitchFamily="34" charset="0"/>
                <a:ea typeface="Inter" pitchFamily="34" charset="-122"/>
                <a:cs typeface="Inter" pitchFamily="34" charset="-120"/>
              </a:rPr>
              <a:t>03 · CASO REAL</a:t>
            </a:r>
            <a:endParaRPr lang="en-US" sz="1200" dirty="0"/>
          </a:p>
        </p:txBody>
      </p:sp>
      <p:sp>
        <p:nvSpPr>
          <p:cNvPr id="7" name="Text 4"/>
          <p:cNvSpPr/>
          <p:nvPr>
            <p:ph type="title"/>
          </p:nvPr>
        </p:nvSpPr>
        <p:spPr>
          <a:xfrm>
            <a:off x="812800" y="16865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A1A"/>
                </a:solidFill>
                <a:latin typeface="Inter" pitchFamily="34" charset="0"/>
                <a:ea typeface="Inter" pitchFamily="34" charset="-122"/>
                <a:cs typeface="Inter" pitchFamily="34" charset="-120"/>
              </a:rPr>
              <a:t>O EEG REAL DE UM CASO DO CORPUS</a:t>
            </a:r>
            <a:endParaRPr lang="en-US" sz="2800" dirty="0"/>
          </a:p>
        </p:txBody>
      </p:sp>
      <p:pic>
        <p:nvPicPr>
          <p:cNvPr id="8" name="Image 1" descr="Espectrograma de 72 minutos do caso 19, com trechos de EEG antes e depois do pré-processamento e o BIS na mesma escala de tempo">    </p:cNvPr>
          <p:cNvPicPr>
            <a:picLocks noChangeAspect="1"/>
          </p:cNvPicPr>
          <p:nvPr/>
        </p:nvPicPr>
        <p:blipFill>
          <a:blip r:embed="rId2"/>
          <a:srcRect l="0" r="0" t="-19" b="-19"/>
          <a:stretch/>
        </p:blipFill>
        <p:spPr>
          <a:xfrm>
            <a:off x="812800" y="2280841"/>
            <a:ext cx="4305300" cy="3429000"/>
          </a:xfrm>
          <a:prstGeom prst="rect">
            <a:avLst/>
          </a:prstGeom>
        </p:spPr>
      </p:pic>
      <p:sp>
        <p:nvSpPr>
          <p:cNvPr id="9" name="Text 5"/>
          <p:cNvSpPr/>
          <p:nvPr/>
        </p:nvSpPr>
        <p:spPr>
          <a:xfrm>
            <a:off x="5422900" y="2651919"/>
            <a:ext cx="61349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A1A"/>
                </a:solidFill>
                <a:latin typeface="Inter" pitchFamily="34" charset="0"/>
                <a:ea typeface="Inter" pitchFamily="34" charset="-122"/>
                <a:cs typeface="Inter" pitchFamily="34" charset="-120"/>
              </a:rPr>
              <a:t>(a, b) Pré-processamento</a:t>
            </a:r>
            <a:endParaRPr lang="en-US" sz="1500" dirty="0"/>
          </a:p>
        </p:txBody>
      </p:sp>
      <p:sp>
        <p:nvSpPr>
          <p:cNvPr id="10" name="Text 6"/>
          <p:cNvSpPr/>
          <p:nvPr/>
        </p:nvSpPr>
        <p:spPr>
          <a:xfrm>
            <a:off x="5422900" y="2931319"/>
            <a:ext cx="613498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Trecho limpo (BIS 30) quase não muda; um pico de 125 µV (BIS 75) é contido para 88 µV.</a:t>
            </a:r>
            <a:endParaRPr lang="en-US" sz="1400" dirty="0"/>
          </a:p>
        </p:txBody>
      </p:sp>
      <p:sp>
        <p:nvSpPr>
          <p:cNvPr id="11" name="Text 7"/>
          <p:cNvSpPr/>
          <p:nvPr/>
        </p:nvSpPr>
        <p:spPr>
          <a:xfrm>
            <a:off x="5422900" y="3606800"/>
            <a:ext cx="61349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A1A"/>
                </a:solidFill>
                <a:latin typeface="Inter" pitchFamily="34" charset="0"/>
                <a:ea typeface="Inter" pitchFamily="34" charset="-122"/>
                <a:cs typeface="Inter" pitchFamily="34" charset="-120"/>
              </a:rPr>
              <a:t>(c) Espectro × BIS</a:t>
            </a:r>
            <a:endParaRPr lang="en-US" sz="1500" dirty="0"/>
          </a:p>
        </p:txBody>
      </p:sp>
      <p:sp>
        <p:nvSpPr>
          <p:cNvPr id="12" name="Text 8"/>
          <p:cNvSpPr/>
          <p:nvPr/>
        </p:nvSpPr>
        <p:spPr>
          <a:xfrm>
            <a:off x="5422900" y="3886200"/>
            <a:ext cx="613498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Quando o BIS sobe, a potência relativa em teta cai e a de beta e gama sobe — a relação que a rede explora.</a:t>
            </a:r>
            <a:endParaRPr lang="en-US" sz="1400" dirty="0"/>
          </a:p>
        </p:txBody>
      </p:sp>
      <p:sp>
        <p:nvSpPr>
          <p:cNvPr id="13" name="Text 9"/>
          <p:cNvSpPr/>
          <p:nvPr/>
        </p:nvSpPr>
        <p:spPr>
          <a:xfrm>
            <a:off x="5422900" y="4561681"/>
            <a:ext cx="61349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A1A"/>
                </a:solidFill>
                <a:latin typeface="Inter" pitchFamily="34" charset="0"/>
                <a:ea typeface="Inter" pitchFamily="34" charset="-122"/>
                <a:cs typeface="Inter" pitchFamily="34" charset="-120"/>
              </a:rPr>
              <a:t>Faixas brancas</a:t>
            </a:r>
            <a:endParaRPr lang="en-US" sz="1500" dirty="0"/>
          </a:p>
        </p:txBody>
      </p:sp>
      <p:sp>
        <p:nvSpPr>
          <p:cNvPr id="14" name="Text 10"/>
          <p:cNvSpPr/>
          <p:nvPr/>
        </p:nvSpPr>
        <p:spPr>
          <a:xfrm>
            <a:off x="5422900" y="4841081"/>
            <a:ext cx="613498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Quedas de eletrodo a cada ~10 min, rejeitadas pelos gates de qualidade.</a:t>
            </a:r>
            <a:endParaRPr lang="en-US" sz="1400" dirty="0"/>
          </a:p>
        </p:txBody>
      </p:sp>
      <p:sp>
        <p:nvSpPr>
          <p:cNvPr id="15" name="Text 11"/>
          <p:cNvSpPr/>
          <p:nvPr/>
        </p:nvSpPr>
        <p:spPr>
          <a:xfrm>
            <a:off x="812800" y="5787430"/>
            <a:ext cx="10464800"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305080"/>
                </a:solidFill>
                <a:latin typeface="Inter" pitchFamily="34" charset="0"/>
                <a:ea typeface="Inter" pitchFamily="34" charset="-122"/>
                <a:cs typeface="Inter" pitchFamily="34" charset="-120"/>
              </a:rPr>
              <a:t>Fonte:</a:t>
            </a:r>
            <a:r>
              <a:rPr lang="en-US" sz="1100" dirty="0">
                <a:solidFill>
                  <a:srgbClr val="7A7A7A"/>
                </a:solidFill>
                <a:latin typeface="Inter" pitchFamily="34" charset="0"/>
                <a:ea typeface="Inter" pitchFamily="34" charset="-122"/>
                <a:cs typeface="Inter" pitchFamily="34" charset="-120"/>
              </a:rPr>
              <a:t> Ma (2017), caso 19 do corpus; figura produzida neste trabalho.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BrainSniffer · Bruno Rocha Guimarães</a:t>
            </a:r>
            <a:endParaRPr lang="en-US" sz="1200" dirty="0"/>
          </a:p>
        </p:txBody>
      </p:sp>
      <p:sp>
        <p:nvSpPr>
          <p:cNvPr id="5" name="Text 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D4D4D"/>
                </a:solidFill>
                <a:latin typeface="Inter" pitchFamily="34" charset="0"/>
                <a:ea typeface="Inter" pitchFamily="34" charset="-122"/>
                <a:cs typeface="Inter" pitchFamily="34" charset="-120"/>
              </a:rPr>
              <a:t>10 / 24</a:t>
            </a:r>
            <a:endParaRPr lang="en-US" sz="1200" dirty="0"/>
          </a:p>
        </p:txBody>
      </p:sp>
      <p:sp>
        <p:nvSpPr>
          <p:cNvPr id="6" name="Text 3"/>
          <p:cNvSpPr/>
          <p:nvPr/>
        </p:nvSpPr>
        <p:spPr>
          <a:xfrm>
            <a:off x="812800" y="1270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05080"/>
                </a:solidFill>
                <a:latin typeface="Inter" pitchFamily="34" charset="0"/>
                <a:ea typeface="Inter" pitchFamily="34" charset="-122"/>
                <a:cs typeface="Inter" pitchFamily="34" charset="-120"/>
              </a:rPr>
              <a:t>04 · DADOS</a:t>
            </a:r>
            <a:endParaRPr lang="en-US" sz="1200" dirty="0"/>
          </a:p>
        </p:txBody>
      </p:sp>
      <p:sp>
        <p:nvSpPr>
          <p:cNvPr id="7" name="Text 4"/>
          <p:cNvSpPr/>
          <p:nvPr>
            <p:ph type="title"/>
          </p:nvPr>
        </p:nvSpPr>
        <p:spPr>
          <a:xfrm>
            <a:off x="812800" y="1635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A1A"/>
                </a:solidFill>
                <a:latin typeface="Inter" pitchFamily="34" charset="0"/>
                <a:ea typeface="Inter" pitchFamily="34" charset="-122"/>
                <a:cs typeface="Inter" pitchFamily="34" charset="-120"/>
              </a:rPr>
              <a:t>DUAS FONTES PÚBLICAS, PARTIÇÃO POR CASO</a:t>
            </a:r>
            <a:endParaRPr lang="en-US" sz="2800" dirty="0"/>
          </a:p>
        </p:txBody>
      </p:sp>
      <p:sp>
        <p:nvSpPr>
          <p:cNvPr id="8" name="Shape 5"/>
          <p:cNvSpPr/>
          <p:nvPr/>
        </p:nvSpPr>
        <p:spPr>
          <a:xfrm>
            <a:off x="812800" y="2179241"/>
            <a:ext cx="5181600" cy="2054523"/>
          </a:xfrm>
          <a:prstGeom prst="rect">
            <a:avLst/>
          </a:prstGeom>
          <a:solidFill>
            <a:srgbClr val="F3F5F8"/>
          </a:solidFill>
          <a:ln/>
        </p:spPr>
      </p:sp>
      <p:sp>
        <p:nvSpPr>
          <p:cNvPr id="9" name="Shape 6"/>
          <p:cNvSpPr/>
          <p:nvPr/>
        </p:nvSpPr>
        <p:spPr>
          <a:xfrm>
            <a:off x="812800" y="2198291"/>
            <a:ext cx="5181600" cy="0"/>
          </a:xfrm>
          <a:prstGeom prst="line">
            <a:avLst/>
          </a:prstGeom>
          <a:noFill/>
          <a:ln w="38100">
            <a:solidFill>
              <a:srgbClr val="305080"/>
            </a:solidFill>
            <a:prstDash val="solid"/>
          </a:ln>
        </p:spPr>
      </p:sp>
      <p:sp>
        <p:nvSpPr>
          <p:cNvPr id="10" name="Text 7"/>
          <p:cNvSpPr/>
          <p:nvPr/>
        </p:nvSpPr>
        <p:spPr>
          <a:xfrm>
            <a:off x="1066800" y="2471341"/>
            <a:ext cx="48138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A1A"/>
                </a:solidFill>
                <a:latin typeface="Inter" pitchFamily="34" charset="0"/>
                <a:ea typeface="Inter" pitchFamily="34" charset="-122"/>
                <a:cs typeface="Inter" pitchFamily="34" charset="-120"/>
              </a:rPr>
              <a:t>Figshare — EEG and BIS raw data</a:t>
            </a:r>
            <a:endParaRPr lang="en-US" sz="1600" dirty="0"/>
          </a:p>
        </p:txBody>
      </p:sp>
      <p:sp>
        <p:nvSpPr>
          <p:cNvPr id="11" name="Text 8"/>
          <p:cNvSpPr/>
          <p:nvPr/>
        </p:nvSpPr>
        <p:spPr>
          <a:xfrm>
            <a:off x="1066800" y="2791321"/>
            <a:ext cx="48138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Ma (2017) · CC BY 4.0</a:t>
            </a:r>
            <a:endParaRPr lang="en-US" sz="1200" dirty="0"/>
          </a:p>
        </p:txBody>
      </p:sp>
      <p:sp>
        <p:nvSpPr>
          <p:cNvPr id="12" name="Text 9"/>
          <p:cNvSpPr/>
          <p:nvPr/>
        </p:nvSpPr>
        <p:spPr>
          <a:xfrm>
            <a:off x="1066800" y="3080841"/>
            <a:ext cx="48138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24 casos anônimos de EEG frontal + BIS</a:t>
            </a:r>
            <a:endParaRPr lang="en-US" sz="1400" dirty="0"/>
          </a:p>
        </p:txBody>
      </p:sp>
      <p:sp>
        <p:nvSpPr>
          <p:cNvPr id="13" name="Text 10"/>
          <p:cNvSpPr/>
          <p:nvPr/>
        </p:nvSpPr>
        <p:spPr>
          <a:xfrm>
            <a:off x="1066800" y="3405882"/>
            <a:ext cx="48138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Sensor BIS Quatro, BIS a cada 5 s</a:t>
            </a:r>
            <a:endParaRPr lang="en-US" sz="1400" dirty="0"/>
          </a:p>
        </p:txBody>
      </p:sp>
      <p:sp>
        <p:nvSpPr>
          <p:cNvPr id="14" name="Text 11"/>
          <p:cNvSpPr/>
          <p:nvPr/>
        </p:nvSpPr>
        <p:spPr>
          <a:xfrm>
            <a:off x="1066800" y="3730923"/>
            <a:ext cx="48138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Sem identificador de participante</a:t>
            </a:r>
            <a:endParaRPr lang="en-US" sz="1400" dirty="0"/>
          </a:p>
        </p:txBody>
      </p:sp>
      <p:sp>
        <p:nvSpPr>
          <p:cNvPr id="15" name="Shape 12"/>
          <p:cNvSpPr/>
          <p:nvPr/>
        </p:nvSpPr>
        <p:spPr>
          <a:xfrm>
            <a:off x="6197600" y="2179241"/>
            <a:ext cx="5181600" cy="2054523"/>
          </a:xfrm>
          <a:prstGeom prst="rect">
            <a:avLst/>
          </a:prstGeom>
          <a:solidFill>
            <a:srgbClr val="F3F5F8"/>
          </a:solidFill>
          <a:ln/>
        </p:spPr>
      </p:sp>
      <p:sp>
        <p:nvSpPr>
          <p:cNvPr id="16" name="Shape 13"/>
          <p:cNvSpPr/>
          <p:nvPr/>
        </p:nvSpPr>
        <p:spPr>
          <a:xfrm>
            <a:off x="6197600" y="2198291"/>
            <a:ext cx="5181600" cy="0"/>
          </a:xfrm>
          <a:prstGeom prst="line">
            <a:avLst/>
          </a:prstGeom>
          <a:noFill/>
          <a:ln w="38100">
            <a:solidFill>
              <a:srgbClr val="305080"/>
            </a:solidFill>
            <a:prstDash val="solid"/>
          </a:ln>
        </p:spPr>
      </p:sp>
      <p:sp>
        <p:nvSpPr>
          <p:cNvPr id="17" name="Text 14"/>
          <p:cNvSpPr/>
          <p:nvPr/>
        </p:nvSpPr>
        <p:spPr>
          <a:xfrm>
            <a:off x="6451600" y="2471341"/>
            <a:ext cx="48138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A1A"/>
                </a:solidFill>
                <a:latin typeface="Inter" pitchFamily="34" charset="0"/>
                <a:ea typeface="Inter" pitchFamily="34" charset="-122"/>
                <a:cs typeface="Inter" pitchFamily="34" charset="-120"/>
              </a:rPr>
              <a:t>VitalDB</a:t>
            </a:r>
            <a:endParaRPr lang="en-US" sz="1600" dirty="0"/>
          </a:p>
        </p:txBody>
      </p:sp>
      <p:sp>
        <p:nvSpPr>
          <p:cNvPr id="18" name="Text 15"/>
          <p:cNvSpPr/>
          <p:nvPr/>
        </p:nvSpPr>
        <p:spPr>
          <a:xfrm>
            <a:off x="6451600" y="2791321"/>
            <a:ext cx="48138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Lee et al. (2022) · CC BY-NC-SA 4.0</a:t>
            </a:r>
            <a:endParaRPr lang="en-US" sz="1200" dirty="0"/>
          </a:p>
        </p:txBody>
      </p:sp>
      <p:sp>
        <p:nvSpPr>
          <p:cNvPr id="19" name="Text 16"/>
          <p:cNvSpPr/>
          <p:nvPr/>
        </p:nvSpPr>
        <p:spPr>
          <a:xfrm>
            <a:off x="6451600" y="3080841"/>
            <a:ext cx="48138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Milhares de cirurgias (Seul), sinais perioperatórios</a:t>
            </a:r>
            <a:endParaRPr lang="en-US" sz="1400" dirty="0"/>
          </a:p>
        </p:txBody>
      </p:sp>
      <p:sp>
        <p:nvSpPr>
          <p:cNvPr id="20" name="Text 17"/>
          <p:cNvSpPr/>
          <p:nvPr/>
        </p:nvSpPr>
        <p:spPr>
          <a:xfrm>
            <a:off x="6451600" y="3405882"/>
            <a:ext cx="48138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Monitor BIS Vista, BIS a cada 1 s</a:t>
            </a:r>
            <a:endParaRPr lang="en-US" sz="1400" dirty="0"/>
          </a:p>
        </p:txBody>
      </p:sp>
      <p:sp>
        <p:nvSpPr>
          <p:cNvPr id="21" name="Text 18"/>
          <p:cNvSpPr/>
          <p:nvPr/>
        </p:nvSpPr>
        <p:spPr>
          <a:xfrm>
            <a:off x="6451600" y="3730923"/>
            <a:ext cx="48138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Agrupado por participante (reoperações juntas)</a:t>
            </a:r>
            <a:endParaRPr lang="en-US" sz="1400" dirty="0"/>
          </a:p>
        </p:txBody>
      </p:sp>
      <p:sp>
        <p:nvSpPr>
          <p:cNvPr id="22" name="Text 19"/>
          <p:cNvSpPr/>
          <p:nvPr/>
        </p:nvSpPr>
        <p:spPr>
          <a:xfrm>
            <a:off x="812800" y="4386163"/>
            <a:ext cx="3488233"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305080"/>
                </a:solidFill>
                <a:latin typeface="Inter" pitchFamily="34" charset="0"/>
                <a:ea typeface="Inter" pitchFamily="34" charset="-122"/>
                <a:cs typeface="Inter" pitchFamily="34" charset="-120"/>
              </a:rPr>
              <a:t>59</a:t>
            </a:r>
            <a:endParaRPr lang="en-US" sz="3200" dirty="0"/>
          </a:p>
        </p:txBody>
      </p:sp>
      <p:sp>
        <p:nvSpPr>
          <p:cNvPr id="23" name="Text 20"/>
          <p:cNvSpPr/>
          <p:nvPr/>
        </p:nvSpPr>
        <p:spPr>
          <a:xfrm>
            <a:off x="812800" y="5005884"/>
            <a:ext cx="3488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arquivos no corpus</a:t>
            </a:r>
            <a:endParaRPr lang="en-US" sz="1200" dirty="0"/>
          </a:p>
        </p:txBody>
      </p:sp>
      <p:sp>
        <p:nvSpPr>
          <p:cNvPr id="24" name="Text 21"/>
          <p:cNvSpPr/>
          <p:nvPr/>
        </p:nvSpPr>
        <p:spPr>
          <a:xfrm>
            <a:off x="4402634" y="4386163"/>
            <a:ext cx="3488335"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305080"/>
                </a:solidFill>
                <a:latin typeface="Inter" pitchFamily="34" charset="0"/>
                <a:ea typeface="Inter" pitchFamily="34" charset="-122"/>
                <a:cs typeface="Inter" pitchFamily="34" charset="-120"/>
              </a:rPr>
              <a:t>33</a:t>
            </a:r>
            <a:endParaRPr lang="en-US" sz="3200" dirty="0"/>
          </a:p>
        </p:txBody>
      </p:sp>
      <p:sp>
        <p:nvSpPr>
          <p:cNvPr id="25" name="Text 22"/>
          <p:cNvSpPr/>
          <p:nvPr/>
        </p:nvSpPr>
        <p:spPr>
          <a:xfrm>
            <a:off x="4402634" y="5005884"/>
            <a:ext cx="34883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casos elegíveis (23 Figshare + 10 VitalDB)</a:t>
            </a:r>
            <a:endParaRPr lang="en-US" sz="1200" dirty="0"/>
          </a:p>
        </p:txBody>
      </p:sp>
      <p:sp>
        <p:nvSpPr>
          <p:cNvPr id="26" name="Text 23"/>
          <p:cNvSpPr/>
          <p:nvPr/>
        </p:nvSpPr>
        <p:spPr>
          <a:xfrm>
            <a:off x="7992566" y="4386163"/>
            <a:ext cx="3488233"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305080"/>
                </a:solidFill>
                <a:latin typeface="Inter" pitchFamily="34" charset="0"/>
                <a:ea typeface="Inter" pitchFamily="34" charset="-122"/>
                <a:cs typeface="Inter" pitchFamily="34" charset="-120"/>
              </a:rPr>
              <a:t>55.471</a:t>
            </a:r>
            <a:endParaRPr lang="en-US" sz="3200" dirty="0"/>
          </a:p>
        </p:txBody>
      </p:sp>
      <p:sp>
        <p:nvSpPr>
          <p:cNvPr id="27" name="Text 24"/>
          <p:cNvSpPr/>
          <p:nvPr/>
        </p:nvSpPr>
        <p:spPr>
          <a:xfrm>
            <a:off x="7992566" y="5005884"/>
            <a:ext cx="3488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janelas de 5 s</a:t>
            </a:r>
            <a:endParaRPr lang="en-US" sz="1200" dirty="0"/>
          </a:p>
        </p:txBody>
      </p:sp>
      <p:sp>
        <p:nvSpPr>
          <p:cNvPr id="28" name="Text 25"/>
          <p:cNvSpPr/>
          <p:nvPr/>
        </p:nvSpPr>
        <p:spPr>
          <a:xfrm>
            <a:off x="812800" y="5371604"/>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1A1A"/>
                </a:solidFill>
                <a:latin typeface="Inter" pitchFamily="34" charset="0"/>
                <a:ea typeface="Inter" pitchFamily="34" charset="-122"/>
                <a:cs typeface="Inter" pitchFamily="34" charset="-120"/>
              </a:rPr>
              <a:t>Regra:</a:t>
            </a:r>
            <a:r>
              <a:rPr lang="en-US" sz="1400" dirty="0">
                <a:solidFill>
                  <a:srgbClr val="1A1A1A"/>
                </a:solidFill>
                <a:latin typeface="Inter" pitchFamily="34" charset="0"/>
                <a:ea typeface="Inter" pitchFamily="34" charset="-122"/>
                <a:cs typeface="Inter" pitchFamily="34" charset="-120"/>
              </a:rPr>
              <a:t> nenhum caso cruza treino, validação e teste.</a:t>
            </a:r>
            <a:endParaRPr lang="en-US" sz="1400" dirty="0"/>
          </a:p>
        </p:txBody>
      </p:sp>
      <p:sp>
        <p:nvSpPr>
          <p:cNvPr id="29" name="Text 26"/>
          <p:cNvSpPr/>
          <p:nvPr/>
        </p:nvSpPr>
        <p:spPr>
          <a:xfrm>
            <a:off x="812800" y="5787430"/>
            <a:ext cx="10464800"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305080"/>
                </a:solidFill>
                <a:latin typeface="Inter" pitchFamily="34" charset="0"/>
                <a:ea typeface="Inter" pitchFamily="34" charset="-122"/>
                <a:cs typeface="Inter" pitchFamily="34" charset="-120"/>
              </a:rPr>
              <a:t>Fonte:</a:t>
            </a:r>
            <a:r>
              <a:rPr lang="en-US" sz="1100" dirty="0">
                <a:solidFill>
                  <a:srgbClr val="7A7A7A"/>
                </a:solidFill>
                <a:latin typeface="Inter" pitchFamily="34" charset="0"/>
                <a:ea typeface="Inter" pitchFamily="34" charset="-122"/>
                <a:cs typeface="Inter" pitchFamily="34" charset="-120"/>
              </a:rPr>
              <a:t> Ma (2017); Lee et al. (2022); VitalDB.</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BrainSniffer · Bruno Rocha Guimarães</a:t>
            </a:r>
            <a:endParaRPr lang="en-US" sz="1200" dirty="0"/>
          </a:p>
        </p:txBody>
      </p:sp>
      <p:sp>
        <p:nvSpPr>
          <p:cNvPr id="5" name="Text 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D4D4D"/>
                </a:solidFill>
                <a:latin typeface="Inter" pitchFamily="34" charset="0"/>
                <a:ea typeface="Inter" pitchFamily="34" charset="-122"/>
                <a:cs typeface="Inter" pitchFamily="34" charset="-120"/>
              </a:rPr>
              <a:t>11 / 24</a:t>
            </a:r>
            <a:endParaRPr lang="en-US" sz="1200" dirty="0"/>
          </a:p>
        </p:txBody>
      </p:sp>
      <p:sp>
        <p:nvSpPr>
          <p:cNvPr id="6" name="Text 3"/>
          <p:cNvSpPr/>
          <p:nvPr/>
        </p:nvSpPr>
        <p:spPr>
          <a:xfrm>
            <a:off x="812800" y="5787430"/>
            <a:ext cx="10464800"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305080"/>
                </a:solidFill>
                <a:latin typeface="Inter" pitchFamily="34" charset="0"/>
                <a:ea typeface="Inter" pitchFamily="34" charset="-122"/>
                <a:cs typeface="Inter" pitchFamily="34" charset="-120"/>
              </a:rPr>
              <a:t>Fonte:</a:t>
            </a:r>
            <a:r>
              <a:rPr lang="en-US" sz="1100" dirty="0">
                <a:solidFill>
                  <a:srgbClr val="7A7A7A"/>
                </a:solidFill>
                <a:latin typeface="Inter" pitchFamily="34" charset="0"/>
                <a:ea typeface="Inter" pitchFamily="34" charset="-122"/>
                <a:cs typeface="Inter" pitchFamily="34" charset="-120"/>
              </a:rPr>
              <a:t> Nsugbe; Connelly (2022); Purdon et al. (2015).</a:t>
            </a:r>
            <a:endParaRPr lang="en-US" sz="1100" dirty="0"/>
          </a:p>
        </p:txBody>
      </p:sp>
      <p:sp>
        <p:nvSpPr>
          <p:cNvPr id="7" name="Text 4"/>
          <p:cNvSpPr/>
          <p:nvPr/>
        </p:nvSpPr>
        <p:spPr>
          <a:xfrm>
            <a:off x="812800" y="1270000"/>
            <a:ext cx="1088993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05080"/>
                </a:solidFill>
                <a:latin typeface="Inter" pitchFamily="34" charset="0"/>
                <a:ea typeface="Inter" pitchFamily="34" charset="-122"/>
                <a:cs typeface="Inter" pitchFamily="34" charset="-120"/>
              </a:rPr>
              <a:t>04 · PRÉ-PROCESSAMENTO</a:t>
            </a:r>
            <a:endParaRPr lang="en-US" sz="1200" dirty="0"/>
          </a:p>
        </p:txBody>
      </p:sp>
      <p:sp>
        <p:nvSpPr>
          <p:cNvPr id="8" name="Text 5"/>
          <p:cNvSpPr/>
          <p:nvPr>
            <p:ph type="title"/>
          </p:nvPr>
        </p:nvSpPr>
        <p:spPr>
          <a:xfrm>
            <a:off x="812800" y="1638300"/>
            <a:ext cx="10889933"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A1A"/>
                </a:solidFill>
                <a:latin typeface="Inter" pitchFamily="34" charset="0"/>
                <a:ea typeface="Inter" pitchFamily="34" charset="-122"/>
                <a:cs typeface="Inter" pitchFamily="34" charset="-120"/>
              </a:rPr>
              <a:t>DO SINAL BRUTO À JANELA DE ENTRADA</a:t>
            </a:r>
            <a:endParaRPr lang="en-US" sz="2800" dirty="0"/>
          </a:p>
        </p:txBody>
      </p:sp>
      <p:sp>
        <p:nvSpPr>
          <p:cNvPr id="9" name="Shape 6"/>
          <p:cNvSpPr/>
          <p:nvPr/>
        </p:nvSpPr>
        <p:spPr>
          <a:xfrm>
            <a:off x="812800" y="2178050"/>
            <a:ext cx="1992610" cy="1530350"/>
          </a:xfrm>
          <a:prstGeom prst="rect">
            <a:avLst/>
          </a:prstGeom>
          <a:solidFill>
            <a:srgbClr val="F3F5F8"/>
          </a:solidFill>
          <a:ln/>
        </p:spPr>
      </p:sp>
      <p:sp>
        <p:nvSpPr>
          <p:cNvPr id="10" name="Text 7"/>
          <p:cNvSpPr/>
          <p:nvPr/>
        </p:nvSpPr>
        <p:spPr>
          <a:xfrm>
            <a:off x="965200" y="2330450"/>
            <a:ext cx="173861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05080"/>
                </a:solidFill>
                <a:latin typeface="Inter" pitchFamily="34" charset="0"/>
                <a:ea typeface="Inter" pitchFamily="34" charset="-122"/>
                <a:cs typeface="Inter" pitchFamily="34" charset="-120"/>
              </a:rPr>
              <a:t>1</a:t>
            </a:r>
            <a:endParaRPr lang="en-US" sz="2400" dirty="0"/>
          </a:p>
        </p:txBody>
      </p:sp>
      <p:sp>
        <p:nvSpPr>
          <p:cNvPr id="11" name="Text 8"/>
          <p:cNvSpPr/>
          <p:nvPr/>
        </p:nvSpPr>
        <p:spPr>
          <a:xfrm>
            <a:off x="965200" y="2807891"/>
            <a:ext cx="17386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A1A"/>
                </a:solidFill>
                <a:latin typeface="Inter" pitchFamily="34" charset="0"/>
                <a:ea typeface="Inter" pitchFamily="34" charset="-122"/>
                <a:cs typeface="Inter" pitchFamily="34" charset="-120"/>
              </a:rPr>
              <a:t>EEG frontal</a:t>
            </a:r>
            <a:endParaRPr lang="en-US" sz="1500" dirty="0"/>
          </a:p>
        </p:txBody>
      </p:sp>
      <p:sp>
        <p:nvSpPr>
          <p:cNvPr id="12" name="Text 9"/>
          <p:cNvSpPr/>
          <p:nvPr/>
        </p:nvSpPr>
        <p:spPr>
          <a:xfrm>
            <a:off x="965200" y="3087291"/>
            <a:ext cx="17386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1 canal, em µV</a:t>
            </a:r>
            <a:endParaRPr lang="en-US" sz="1300" dirty="0"/>
          </a:p>
        </p:txBody>
      </p:sp>
      <p:sp>
        <p:nvSpPr>
          <p:cNvPr id="13" name="Shape 10"/>
          <p:cNvSpPr/>
          <p:nvPr/>
        </p:nvSpPr>
        <p:spPr>
          <a:xfrm>
            <a:off x="2957810" y="2178050"/>
            <a:ext cx="1992709" cy="1530350"/>
          </a:xfrm>
          <a:prstGeom prst="rect">
            <a:avLst/>
          </a:prstGeom>
          <a:solidFill>
            <a:srgbClr val="F3F5F8"/>
          </a:solidFill>
          <a:ln/>
        </p:spPr>
      </p:sp>
      <p:sp>
        <p:nvSpPr>
          <p:cNvPr id="14" name="Text 11"/>
          <p:cNvSpPr/>
          <p:nvPr/>
        </p:nvSpPr>
        <p:spPr>
          <a:xfrm>
            <a:off x="3110210" y="2330450"/>
            <a:ext cx="1738709"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05080"/>
                </a:solidFill>
                <a:latin typeface="Inter" pitchFamily="34" charset="0"/>
                <a:ea typeface="Inter" pitchFamily="34" charset="-122"/>
                <a:cs typeface="Inter" pitchFamily="34" charset="-120"/>
              </a:rPr>
              <a:t>2</a:t>
            </a:r>
            <a:endParaRPr lang="en-US" sz="2400" dirty="0"/>
          </a:p>
        </p:txBody>
      </p:sp>
      <p:sp>
        <p:nvSpPr>
          <p:cNvPr id="15" name="Text 12"/>
          <p:cNvSpPr/>
          <p:nvPr/>
        </p:nvSpPr>
        <p:spPr>
          <a:xfrm>
            <a:off x="3110210" y="2807891"/>
            <a:ext cx="173870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A1A"/>
                </a:solidFill>
                <a:latin typeface="Inter" pitchFamily="34" charset="0"/>
                <a:ea typeface="Inter" pitchFamily="34" charset="-122"/>
                <a:cs typeface="Inter" pitchFamily="34" charset="-120"/>
              </a:rPr>
              <a:t>Gates</a:t>
            </a:r>
            <a:endParaRPr lang="en-US" sz="1500" dirty="0"/>
          </a:p>
        </p:txBody>
      </p:sp>
      <p:sp>
        <p:nvSpPr>
          <p:cNvPr id="16" name="Text 13"/>
          <p:cNvSpPr/>
          <p:nvPr/>
        </p:nvSpPr>
        <p:spPr>
          <a:xfrm>
            <a:off x="3110210" y="3087291"/>
            <a:ext cx="173870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Rejeita trechos ruins</a:t>
            </a:r>
            <a:endParaRPr lang="en-US" sz="1300" dirty="0"/>
          </a:p>
        </p:txBody>
      </p:sp>
      <p:sp>
        <p:nvSpPr>
          <p:cNvPr id="17" name="Shape 14"/>
          <p:cNvSpPr/>
          <p:nvPr/>
        </p:nvSpPr>
        <p:spPr>
          <a:xfrm>
            <a:off x="5102920" y="2178050"/>
            <a:ext cx="1992610" cy="1530350"/>
          </a:xfrm>
          <a:prstGeom prst="rect">
            <a:avLst/>
          </a:prstGeom>
          <a:solidFill>
            <a:srgbClr val="F3F5F8"/>
          </a:solidFill>
          <a:ln/>
        </p:spPr>
      </p:sp>
      <p:sp>
        <p:nvSpPr>
          <p:cNvPr id="18" name="Text 15"/>
          <p:cNvSpPr/>
          <p:nvPr/>
        </p:nvSpPr>
        <p:spPr>
          <a:xfrm>
            <a:off x="5255320" y="2330450"/>
            <a:ext cx="173861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05080"/>
                </a:solidFill>
                <a:latin typeface="Inter" pitchFamily="34" charset="0"/>
                <a:ea typeface="Inter" pitchFamily="34" charset="-122"/>
                <a:cs typeface="Inter" pitchFamily="34" charset="-120"/>
              </a:rPr>
              <a:t>3</a:t>
            </a:r>
            <a:endParaRPr lang="en-US" sz="2400" dirty="0"/>
          </a:p>
        </p:txBody>
      </p:sp>
      <p:sp>
        <p:nvSpPr>
          <p:cNvPr id="19" name="Text 16"/>
          <p:cNvSpPr/>
          <p:nvPr/>
        </p:nvSpPr>
        <p:spPr>
          <a:xfrm>
            <a:off x="5255320" y="2807891"/>
            <a:ext cx="17386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A1A"/>
                </a:solidFill>
                <a:latin typeface="Inter" pitchFamily="34" charset="0"/>
                <a:ea typeface="Inter" pitchFamily="34" charset="-122"/>
                <a:cs typeface="Inter" pitchFamily="34" charset="-120"/>
              </a:rPr>
              <a:t>Filtro causal</a:t>
            </a:r>
            <a:endParaRPr lang="en-US" sz="1500" dirty="0"/>
          </a:p>
        </p:txBody>
      </p:sp>
      <p:sp>
        <p:nvSpPr>
          <p:cNvPr id="20" name="Text 17"/>
          <p:cNvSpPr/>
          <p:nvPr/>
        </p:nvSpPr>
        <p:spPr>
          <a:xfrm>
            <a:off x="5255320" y="3087291"/>
            <a:ext cx="17386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0,5–45 Hz + notch 50 Hz</a:t>
            </a:r>
            <a:endParaRPr lang="en-US" sz="1300" dirty="0"/>
          </a:p>
        </p:txBody>
      </p:sp>
      <p:sp>
        <p:nvSpPr>
          <p:cNvPr id="21" name="Shape 18"/>
          <p:cNvSpPr/>
          <p:nvPr/>
        </p:nvSpPr>
        <p:spPr>
          <a:xfrm>
            <a:off x="7247930" y="2178050"/>
            <a:ext cx="1992610" cy="1530350"/>
          </a:xfrm>
          <a:prstGeom prst="rect">
            <a:avLst/>
          </a:prstGeom>
          <a:solidFill>
            <a:srgbClr val="F3F5F8"/>
          </a:solidFill>
          <a:ln/>
        </p:spPr>
      </p:sp>
      <p:sp>
        <p:nvSpPr>
          <p:cNvPr id="22" name="Text 19"/>
          <p:cNvSpPr/>
          <p:nvPr/>
        </p:nvSpPr>
        <p:spPr>
          <a:xfrm>
            <a:off x="7400330" y="2330450"/>
            <a:ext cx="173861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05080"/>
                </a:solidFill>
                <a:latin typeface="Inter" pitchFamily="34" charset="0"/>
                <a:ea typeface="Inter" pitchFamily="34" charset="-122"/>
                <a:cs typeface="Inter" pitchFamily="34" charset="-120"/>
              </a:rPr>
              <a:t>4</a:t>
            </a:r>
            <a:endParaRPr lang="en-US" sz="2400" dirty="0"/>
          </a:p>
        </p:txBody>
      </p:sp>
      <p:sp>
        <p:nvSpPr>
          <p:cNvPr id="23" name="Text 20"/>
          <p:cNvSpPr/>
          <p:nvPr/>
        </p:nvSpPr>
        <p:spPr>
          <a:xfrm>
            <a:off x="7400330" y="2807891"/>
            <a:ext cx="17386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A1A"/>
                </a:solidFill>
                <a:latin typeface="Inter" pitchFamily="34" charset="0"/>
                <a:ea typeface="Inter" pitchFamily="34" charset="-122"/>
                <a:cs typeface="Inter" pitchFamily="34" charset="-120"/>
              </a:rPr>
              <a:t>Amplitude</a:t>
            </a:r>
            <a:endParaRPr lang="en-US" sz="1500" dirty="0"/>
          </a:p>
        </p:txBody>
      </p:sp>
      <p:sp>
        <p:nvSpPr>
          <p:cNvPr id="24" name="Text 21"/>
          <p:cNvSpPr/>
          <p:nvPr/>
        </p:nvSpPr>
        <p:spPr>
          <a:xfrm>
            <a:off x="7400330" y="3087291"/>
            <a:ext cx="18402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Clip ±100 µV, ÷ 50 µV</a:t>
            </a:r>
            <a:endParaRPr lang="en-US" sz="1300" dirty="0"/>
          </a:p>
        </p:txBody>
      </p:sp>
      <p:sp>
        <p:nvSpPr>
          <p:cNvPr id="25" name="Shape 22"/>
          <p:cNvSpPr/>
          <p:nvPr/>
        </p:nvSpPr>
        <p:spPr>
          <a:xfrm>
            <a:off x="9392940" y="2178050"/>
            <a:ext cx="1992610" cy="1530350"/>
          </a:xfrm>
          <a:prstGeom prst="rect">
            <a:avLst/>
          </a:prstGeom>
          <a:solidFill>
            <a:srgbClr val="F3F5F8"/>
          </a:solidFill>
          <a:ln/>
        </p:spPr>
      </p:sp>
      <p:sp>
        <p:nvSpPr>
          <p:cNvPr id="26" name="Text 23"/>
          <p:cNvSpPr/>
          <p:nvPr/>
        </p:nvSpPr>
        <p:spPr>
          <a:xfrm>
            <a:off x="9545340" y="2330450"/>
            <a:ext cx="173861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05080"/>
                </a:solidFill>
                <a:latin typeface="Inter" pitchFamily="34" charset="0"/>
                <a:ea typeface="Inter" pitchFamily="34" charset="-122"/>
                <a:cs typeface="Inter" pitchFamily="34" charset="-120"/>
              </a:rPr>
              <a:t>5</a:t>
            </a:r>
            <a:endParaRPr lang="en-US" sz="2400" dirty="0"/>
          </a:p>
        </p:txBody>
      </p:sp>
      <p:sp>
        <p:nvSpPr>
          <p:cNvPr id="27" name="Text 24"/>
          <p:cNvSpPr/>
          <p:nvPr/>
        </p:nvSpPr>
        <p:spPr>
          <a:xfrm>
            <a:off x="9545340" y="2807891"/>
            <a:ext cx="17386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A1A"/>
                </a:solidFill>
                <a:latin typeface="Inter" pitchFamily="34" charset="0"/>
                <a:ea typeface="Inter" pitchFamily="34" charset="-122"/>
                <a:cs typeface="Inter" pitchFamily="34" charset="-120"/>
              </a:rPr>
              <a:t>Janela</a:t>
            </a:r>
            <a:endParaRPr lang="en-US" sz="1500" dirty="0"/>
          </a:p>
        </p:txBody>
      </p:sp>
      <p:sp>
        <p:nvSpPr>
          <p:cNvPr id="28" name="Text 25"/>
          <p:cNvSpPr/>
          <p:nvPr/>
        </p:nvSpPr>
        <p:spPr>
          <a:xfrm>
            <a:off x="9545340" y="3087291"/>
            <a:ext cx="17386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5 s = 640 amostras a 128 Hz</a:t>
            </a:r>
            <a:endParaRPr lang="en-US" sz="1300" dirty="0"/>
          </a:p>
        </p:txBody>
      </p:sp>
      <p:sp>
        <p:nvSpPr>
          <p:cNvPr id="29" name="Shape 26"/>
          <p:cNvSpPr/>
          <p:nvPr/>
        </p:nvSpPr>
        <p:spPr>
          <a:xfrm>
            <a:off x="812800" y="3854450"/>
            <a:ext cx="5184775" cy="1612900"/>
          </a:xfrm>
          <a:prstGeom prst="rect">
            <a:avLst/>
          </a:prstGeom>
          <a:solidFill>
            <a:srgbClr val="F3F5F8"/>
          </a:solidFill>
          <a:ln/>
        </p:spPr>
      </p:sp>
      <p:sp>
        <p:nvSpPr>
          <p:cNvPr id="30" name="Shape 27"/>
          <p:cNvSpPr/>
          <p:nvPr/>
        </p:nvSpPr>
        <p:spPr>
          <a:xfrm>
            <a:off x="838200" y="3854450"/>
            <a:ext cx="0" cy="1612900"/>
          </a:xfrm>
          <a:prstGeom prst="line">
            <a:avLst/>
          </a:prstGeom>
          <a:noFill/>
          <a:ln w="50800">
            <a:solidFill>
              <a:srgbClr val="305080"/>
            </a:solidFill>
            <a:prstDash val="solid"/>
          </a:ln>
        </p:spPr>
      </p:sp>
      <p:sp>
        <p:nvSpPr>
          <p:cNvPr id="31" name="Text 28"/>
          <p:cNvSpPr/>
          <p:nvPr/>
        </p:nvSpPr>
        <p:spPr>
          <a:xfrm>
            <a:off x="1066800" y="4057650"/>
            <a:ext cx="486940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A1A"/>
                </a:solidFill>
                <a:latin typeface="Inter" pitchFamily="34" charset="0"/>
                <a:ea typeface="Inter" pitchFamily="34" charset="-122"/>
                <a:cs typeface="Inter" pitchFamily="34" charset="-120"/>
              </a:rPr>
              <a:t>Gates de qualidade (heurísticos)</a:t>
            </a:r>
            <a:endParaRPr lang="en-US" sz="1500" dirty="0"/>
          </a:p>
        </p:txBody>
      </p:sp>
      <p:sp>
        <p:nvSpPr>
          <p:cNvPr id="32" name="Text 29"/>
          <p:cNvSpPr/>
          <p:nvPr/>
        </p:nvSpPr>
        <p:spPr>
          <a:xfrm>
            <a:off x="1066800" y="4362450"/>
            <a:ext cx="486940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 90% de EEG finito; lacuna máxima de 2 s</a:t>
            </a:r>
            <a:endParaRPr lang="en-US" sz="1400" dirty="0"/>
          </a:p>
        </p:txBody>
      </p:sp>
      <p:sp>
        <p:nvSpPr>
          <p:cNvPr id="33" name="Text 30"/>
          <p:cNvSpPr/>
          <p:nvPr/>
        </p:nvSpPr>
        <p:spPr>
          <a:xfrm>
            <a:off x="1066800" y="4687491"/>
            <a:ext cx="486940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Qualidade global ≥ 0,35</a:t>
            </a:r>
            <a:endParaRPr lang="en-US" sz="1400" dirty="0"/>
          </a:p>
        </p:txBody>
      </p:sp>
      <p:sp>
        <p:nvSpPr>
          <p:cNvPr id="34" name="Text 31"/>
          <p:cNvSpPr/>
          <p:nvPr/>
        </p:nvSpPr>
        <p:spPr>
          <a:xfrm>
            <a:off x="1066800" y="5012531"/>
            <a:ext cx="486940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 80% de BIS válido no caso</a:t>
            </a:r>
            <a:endParaRPr lang="en-US" sz="1400" dirty="0"/>
          </a:p>
        </p:txBody>
      </p:sp>
      <p:sp>
        <p:nvSpPr>
          <p:cNvPr id="35" name="Shape 32"/>
          <p:cNvSpPr/>
          <p:nvPr/>
        </p:nvSpPr>
        <p:spPr>
          <a:xfrm>
            <a:off x="6200775" y="3854450"/>
            <a:ext cx="5184775" cy="1612900"/>
          </a:xfrm>
          <a:prstGeom prst="rect">
            <a:avLst/>
          </a:prstGeom>
          <a:solidFill>
            <a:srgbClr val="F3F5F8"/>
          </a:solidFill>
          <a:ln/>
        </p:spPr>
      </p:sp>
      <p:sp>
        <p:nvSpPr>
          <p:cNvPr id="36" name="Shape 33"/>
          <p:cNvSpPr/>
          <p:nvPr/>
        </p:nvSpPr>
        <p:spPr>
          <a:xfrm>
            <a:off x="6226175" y="3854450"/>
            <a:ext cx="0" cy="1612900"/>
          </a:xfrm>
          <a:prstGeom prst="line">
            <a:avLst/>
          </a:prstGeom>
          <a:noFill/>
          <a:ln w="50800">
            <a:solidFill>
              <a:srgbClr val="305080"/>
            </a:solidFill>
            <a:prstDash val="solid"/>
          </a:ln>
        </p:spPr>
      </p:sp>
      <p:sp>
        <p:nvSpPr>
          <p:cNvPr id="37" name="Text 34"/>
          <p:cNvSpPr/>
          <p:nvPr/>
        </p:nvSpPr>
        <p:spPr>
          <a:xfrm>
            <a:off x="6454775" y="4057650"/>
            <a:ext cx="486940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A1A"/>
                </a:solidFill>
                <a:latin typeface="Inter" pitchFamily="34" charset="0"/>
                <a:ea typeface="Inter" pitchFamily="34" charset="-122"/>
                <a:cs typeface="Inter" pitchFamily="34" charset="-120"/>
              </a:rPr>
              <a:t>Alvo e causalidade</a:t>
            </a:r>
            <a:endParaRPr lang="en-US" sz="1500" dirty="0"/>
          </a:p>
        </p:txBody>
      </p:sp>
      <p:sp>
        <p:nvSpPr>
          <p:cNvPr id="38" name="Text 35"/>
          <p:cNvSpPr/>
          <p:nvPr/>
        </p:nvSpPr>
        <p:spPr>
          <a:xfrm>
            <a:off x="6454775" y="4362450"/>
            <a:ext cx="486940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Alvo: BIS no instante t + offset (0 s)</a:t>
            </a:r>
            <a:endParaRPr lang="en-US" sz="1400" dirty="0"/>
          </a:p>
        </p:txBody>
      </p:sp>
      <p:sp>
        <p:nvSpPr>
          <p:cNvPr id="39" name="Text 36"/>
          <p:cNvSpPr/>
          <p:nvPr/>
        </p:nvSpPr>
        <p:spPr>
          <a:xfrm>
            <a:off x="6454775" y="4687491"/>
            <a:ext cx="493077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Filtro usa só passado e presente, com estado por caso</a:t>
            </a:r>
            <a:endParaRPr lang="en-US" sz="1400" dirty="0"/>
          </a:p>
        </p:txBody>
      </p:sp>
      <p:sp>
        <p:nvSpPr>
          <p:cNvPr id="40" name="Text 37"/>
          <p:cNvSpPr/>
          <p:nvPr/>
        </p:nvSpPr>
        <p:spPr>
          <a:xfrm>
            <a:off x="6454775" y="5012531"/>
            <a:ext cx="486940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Replay: buffer de 5 s, atualização a cada 1 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BrainSniffer · Bruno Rocha Guimarães</a:t>
            </a:r>
            <a:endParaRPr lang="en-US" sz="1200" dirty="0"/>
          </a:p>
        </p:txBody>
      </p:sp>
      <p:sp>
        <p:nvSpPr>
          <p:cNvPr id="5" name="Text 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D4D4D"/>
                </a:solidFill>
                <a:latin typeface="Inter" pitchFamily="34" charset="0"/>
                <a:ea typeface="Inter" pitchFamily="34" charset="-122"/>
                <a:cs typeface="Inter" pitchFamily="34" charset="-120"/>
              </a:rPr>
              <a:t>12 / 24</a:t>
            </a:r>
            <a:endParaRPr lang="en-US" sz="1200" dirty="0"/>
          </a:p>
        </p:txBody>
      </p:sp>
      <p:sp>
        <p:nvSpPr>
          <p:cNvPr id="6" name="Text 3"/>
          <p:cNvSpPr/>
          <p:nvPr/>
        </p:nvSpPr>
        <p:spPr>
          <a:xfrm>
            <a:off x="812800" y="1270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05080"/>
                </a:solidFill>
                <a:latin typeface="Inter" pitchFamily="34" charset="0"/>
                <a:ea typeface="Inter" pitchFamily="34" charset="-122"/>
                <a:cs typeface="Inter" pitchFamily="34" charset="-120"/>
              </a:rPr>
              <a:t>05 · A REDE</a:t>
            </a:r>
            <a:endParaRPr lang="en-US" sz="1200" dirty="0"/>
          </a:p>
        </p:txBody>
      </p:sp>
      <p:sp>
        <p:nvSpPr>
          <p:cNvPr id="7" name="Text 4"/>
          <p:cNvSpPr/>
          <p:nvPr>
            <p:ph type="title"/>
          </p:nvPr>
        </p:nvSpPr>
        <p:spPr>
          <a:xfrm>
            <a:off x="812800" y="1635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A1A"/>
                </a:solidFill>
                <a:latin typeface="Inter" pitchFamily="34" charset="0"/>
                <a:ea typeface="Inter" pitchFamily="34" charset="-122"/>
                <a:cs typeface="Inter" pitchFamily="34" charset="-120"/>
              </a:rPr>
              <a:t>UMA CNN 1-D COMPACTA</a:t>
            </a:r>
            <a:endParaRPr lang="en-US" sz="2800" dirty="0"/>
          </a:p>
        </p:txBody>
      </p:sp>
      <p:sp>
        <p:nvSpPr>
          <p:cNvPr id="8" name="Shape 5"/>
          <p:cNvSpPr/>
          <p:nvPr/>
        </p:nvSpPr>
        <p:spPr>
          <a:xfrm>
            <a:off x="812800" y="2179241"/>
            <a:ext cx="2527300" cy="2123083"/>
          </a:xfrm>
          <a:prstGeom prst="rect">
            <a:avLst/>
          </a:prstGeom>
          <a:solidFill>
            <a:srgbClr val="F3F5F8"/>
          </a:solidFill>
          <a:ln/>
        </p:spPr>
      </p:sp>
      <p:sp>
        <p:nvSpPr>
          <p:cNvPr id="9" name="Text 6"/>
          <p:cNvSpPr/>
          <p:nvPr/>
        </p:nvSpPr>
        <p:spPr>
          <a:xfrm>
            <a:off x="990600" y="2357041"/>
            <a:ext cx="22368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A1A"/>
                </a:solidFill>
                <a:latin typeface="Inter" pitchFamily="34" charset="0"/>
                <a:ea typeface="Inter" pitchFamily="34" charset="-122"/>
                <a:cs typeface="Inter" pitchFamily="34" charset="-120"/>
              </a:rPr>
              <a:t>Entrada</a:t>
            </a:r>
            <a:endParaRPr lang="en-US" sz="1500" dirty="0"/>
          </a:p>
        </p:txBody>
      </p:sp>
      <p:sp>
        <p:nvSpPr>
          <p:cNvPr id="10" name="Text 7"/>
          <p:cNvSpPr/>
          <p:nvPr/>
        </p:nvSpPr>
        <p:spPr>
          <a:xfrm>
            <a:off x="990600" y="2661841"/>
            <a:ext cx="22368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5 s de EEG</a:t>
            </a:r>
            <a:endParaRPr lang="en-US" sz="1300" dirty="0"/>
          </a:p>
        </p:txBody>
      </p:sp>
      <p:sp>
        <p:nvSpPr>
          <p:cNvPr id="11" name="Text 8"/>
          <p:cNvSpPr/>
          <p:nvPr/>
        </p:nvSpPr>
        <p:spPr>
          <a:xfrm>
            <a:off x="990600" y="2969121"/>
            <a:ext cx="22368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1 × 640</a:t>
            </a:r>
            <a:endParaRPr lang="en-US" sz="1300" dirty="0"/>
          </a:p>
        </p:txBody>
      </p:sp>
      <p:sp>
        <p:nvSpPr>
          <p:cNvPr id="12" name="Shape 9"/>
          <p:cNvSpPr/>
          <p:nvPr/>
        </p:nvSpPr>
        <p:spPr>
          <a:xfrm>
            <a:off x="3492500" y="2179241"/>
            <a:ext cx="2527300" cy="2123083"/>
          </a:xfrm>
          <a:prstGeom prst="rect">
            <a:avLst/>
          </a:prstGeom>
          <a:solidFill>
            <a:srgbClr val="F3F5F8"/>
          </a:solidFill>
          <a:ln/>
        </p:spPr>
      </p:sp>
      <p:sp>
        <p:nvSpPr>
          <p:cNvPr id="13" name="Text 10"/>
          <p:cNvSpPr/>
          <p:nvPr/>
        </p:nvSpPr>
        <p:spPr>
          <a:xfrm>
            <a:off x="3670300" y="2357041"/>
            <a:ext cx="22368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A1A"/>
                </a:solidFill>
                <a:latin typeface="Inter" pitchFamily="34" charset="0"/>
                <a:ea typeface="Inter" pitchFamily="34" charset="-122"/>
                <a:cs typeface="Inter" pitchFamily="34" charset="-120"/>
              </a:rPr>
              <a:t>Convolução</a:t>
            </a:r>
            <a:endParaRPr lang="en-US" sz="1500" dirty="0"/>
          </a:p>
        </p:txBody>
      </p:sp>
      <p:sp>
        <p:nvSpPr>
          <p:cNvPr id="14" name="Text 11"/>
          <p:cNvSpPr/>
          <p:nvPr/>
        </p:nvSpPr>
        <p:spPr>
          <a:xfrm>
            <a:off x="3670300" y="2661841"/>
            <a:ext cx="2236851"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4 blocos: 1→32→64→128→128 canais</a:t>
            </a:r>
            <a:endParaRPr lang="en-US" sz="1300" dirty="0"/>
          </a:p>
        </p:txBody>
      </p:sp>
      <p:sp>
        <p:nvSpPr>
          <p:cNvPr id="15" name="Text 12"/>
          <p:cNvSpPr/>
          <p:nvPr/>
        </p:nvSpPr>
        <p:spPr>
          <a:xfrm>
            <a:off x="3670300" y="3431282"/>
            <a:ext cx="2236851"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Kernels 7, 7, 5, 5 · BN · GELU · pooling nos 3 primeiros (640 → 80)</a:t>
            </a:r>
            <a:endParaRPr lang="en-US" sz="1300" dirty="0"/>
          </a:p>
        </p:txBody>
      </p:sp>
      <p:sp>
        <p:nvSpPr>
          <p:cNvPr id="16" name="Shape 13"/>
          <p:cNvSpPr/>
          <p:nvPr/>
        </p:nvSpPr>
        <p:spPr>
          <a:xfrm>
            <a:off x="6172200" y="2179241"/>
            <a:ext cx="2527300" cy="2123083"/>
          </a:xfrm>
          <a:prstGeom prst="rect">
            <a:avLst/>
          </a:prstGeom>
          <a:solidFill>
            <a:srgbClr val="F3F5F8"/>
          </a:solidFill>
          <a:ln/>
        </p:spPr>
      </p:sp>
      <p:sp>
        <p:nvSpPr>
          <p:cNvPr id="17" name="Text 14"/>
          <p:cNvSpPr/>
          <p:nvPr/>
        </p:nvSpPr>
        <p:spPr>
          <a:xfrm>
            <a:off x="6350000" y="2357041"/>
            <a:ext cx="22368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A1A"/>
                </a:solidFill>
                <a:latin typeface="Inter" pitchFamily="34" charset="0"/>
                <a:ea typeface="Inter" pitchFamily="34" charset="-122"/>
                <a:cs typeface="Inter" pitchFamily="34" charset="-120"/>
              </a:rPr>
              <a:t>Cabeça</a:t>
            </a:r>
            <a:endParaRPr lang="en-US" sz="1500" dirty="0"/>
          </a:p>
        </p:txBody>
      </p:sp>
      <p:sp>
        <p:nvSpPr>
          <p:cNvPr id="18" name="Text 15"/>
          <p:cNvSpPr/>
          <p:nvPr/>
        </p:nvSpPr>
        <p:spPr>
          <a:xfrm>
            <a:off x="6350000" y="2661841"/>
            <a:ext cx="22368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Média global</a:t>
            </a:r>
            <a:endParaRPr lang="en-US" sz="1300" dirty="0"/>
          </a:p>
        </p:txBody>
      </p:sp>
      <p:sp>
        <p:nvSpPr>
          <p:cNvPr id="19" name="Text 16"/>
          <p:cNvSpPr/>
          <p:nvPr/>
        </p:nvSpPr>
        <p:spPr>
          <a:xfrm>
            <a:off x="6350000" y="2969121"/>
            <a:ext cx="23495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128 → 64 → 1 · dropout 0,2</a:t>
            </a:r>
            <a:endParaRPr lang="en-US" sz="1300" dirty="0"/>
          </a:p>
        </p:txBody>
      </p:sp>
      <p:sp>
        <p:nvSpPr>
          <p:cNvPr id="20" name="Shape 17"/>
          <p:cNvSpPr/>
          <p:nvPr/>
        </p:nvSpPr>
        <p:spPr>
          <a:xfrm>
            <a:off x="8851900" y="2179241"/>
            <a:ext cx="2527300" cy="2123083"/>
          </a:xfrm>
          <a:prstGeom prst="rect">
            <a:avLst/>
          </a:prstGeom>
          <a:solidFill>
            <a:srgbClr val="F3F5F8"/>
          </a:solidFill>
          <a:ln/>
        </p:spPr>
      </p:sp>
      <p:sp>
        <p:nvSpPr>
          <p:cNvPr id="21" name="Text 18"/>
          <p:cNvSpPr/>
          <p:nvPr/>
        </p:nvSpPr>
        <p:spPr>
          <a:xfrm>
            <a:off x="9029700" y="2357041"/>
            <a:ext cx="22368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A1A"/>
                </a:solidFill>
                <a:latin typeface="Inter" pitchFamily="34" charset="0"/>
                <a:ea typeface="Inter" pitchFamily="34" charset="-122"/>
                <a:cs typeface="Inter" pitchFamily="34" charset="-120"/>
              </a:rPr>
              <a:t>Saída</a:t>
            </a:r>
            <a:endParaRPr lang="en-US" sz="1500" dirty="0"/>
          </a:p>
        </p:txBody>
      </p:sp>
      <p:sp>
        <p:nvSpPr>
          <p:cNvPr id="22" name="Text 19"/>
          <p:cNvSpPr/>
          <p:nvPr/>
        </p:nvSpPr>
        <p:spPr>
          <a:xfrm>
            <a:off x="9029700" y="2661841"/>
            <a:ext cx="22368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Sigmoide × 100</a:t>
            </a:r>
            <a:endParaRPr lang="en-US" sz="1300" dirty="0"/>
          </a:p>
        </p:txBody>
      </p:sp>
      <p:sp>
        <p:nvSpPr>
          <p:cNvPr id="23" name="Text 20"/>
          <p:cNvSpPr/>
          <p:nvPr/>
        </p:nvSpPr>
        <p:spPr>
          <a:xfrm>
            <a:off x="9029700" y="2969121"/>
            <a:ext cx="22368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BIS 0–100 por janela</a:t>
            </a:r>
            <a:endParaRPr lang="en-US" sz="1300" dirty="0"/>
          </a:p>
        </p:txBody>
      </p:sp>
      <p:sp>
        <p:nvSpPr>
          <p:cNvPr id="24" name="Text 21"/>
          <p:cNvSpPr/>
          <p:nvPr/>
        </p:nvSpPr>
        <p:spPr>
          <a:xfrm>
            <a:off x="812800" y="4454723"/>
            <a:ext cx="3488233"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305080"/>
                </a:solidFill>
                <a:latin typeface="Inter" pitchFamily="34" charset="0"/>
                <a:ea typeface="Inter" pitchFamily="34" charset="-122"/>
                <a:cs typeface="Inter" pitchFamily="34" charset="-120"/>
              </a:rPr>
              <a:t>0,15 M</a:t>
            </a:r>
            <a:endParaRPr lang="en-US" sz="3200" dirty="0"/>
          </a:p>
        </p:txBody>
      </p:sp>
      <p:sp>
        <p:nvSpPr>
          <p:cNvPr id="25" name="Text 22"/>
          <p:cNvSpPr/>
          <p:nvPr/>
        </p:nvSpPr>
        <p:spPr>
          <a:xfrm>
            <a:off x="812800" y="5074444"/>
            <a:ext cx="3488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parâmetros — roda em CPU</a:t>
            </a:r>
            <a:endParaRPr lang="en-US" sz="1200" dirty="0"/>
          </a:p>
        </p:txBody>
      </p:sp>
      <p:sp>
        <p:nvSpPr>
          <p:cNvPr id="26" name="Text 23"/>
          <p:cNvSpPr/>
          <p:nvPr/>
        </p:nvSpPr>
        <p:spPr>
          <a:xfrm>
            <a:off x="4402634" y="4454723"/>
            <a:ext cx="3488335"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305080"/>
                </a:solidFill>
                <a:latin typeface="Inter" pitchFamily="34" charset="0"/>
                <a:ea typeface="Inter" pitchFamily="34" charset="-122"/>
                <a:cs typeface="Inter" pitchFamily="34" charset="-120"/>
              </a:rPr>
              <a:t>4</a:t>
            </a:r>
            <a:endParaRPr lang="en-US" sz="3200" dirty="0"/>
          </a:p>
        </p:txBody>
      </p:sp>
      <p:sp>
        <p:nvSpPr>
          <p:cNvPr id="27" name="Text 24"/>
          <p:cNvSpPr/>
          <p:nvPr/>
        </p:nvSpPr>
        <p:spPr>
          <a:xfrm>
            <a:off x="4402634" y="5074444"/>
            <a:ext cx="34883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blocos convolucionais com batch norm + GELU</a:t>
            </a:r>
            <a:endParaRPr lang="en-US" sz="1200" dirty="0"/>
          </a:p>
        </p:txBody>
      </p:sp>
      <p:sp>
        <p:nvSpPr>
          <p:cNvPr id="28" name="Text 25"/>
          <p:cNvSpPr/>
          <p:nvPr/>
        </p:nvSpPr>
        <p:spPr>
          <a:xfrm>
            <a:off x="7992566" y="4454723"/>
            <a:ext cx="3488233"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305080"/>
                </a:solidFill>
                <a:latin typeface="Inter" pitchFamily="34" charset="0"/>
                <a:ea typeface="Inter" pitchFamily="34" charset="-122"/>
                <a:cs typeface="Inter" pitchFamily="34" charset="-120"/>
              </a:rPr>
              <a:t>1</a:t>
            </a:r>
            <a:endParaRPr lang="en-US" sz="3200" dirty="0"/>
          </a:p>
        </p:txBody>
      </p:sp>
      <p:sp>
        <p:nvSpPr>
          <p:cNvPr id="29" name="Text 26"/>
          <p:cNvSpPr/>
          <p:nvPr/>
        </p:nvSpPr>
        <p:spPr>
          <a:xfrm>
            <a:off x="7992566" y="5074444"/>
            <a:ext cx="3488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número por janela: o BIS estimado</a:t>
            </a:r>
            <a:endParaRPr lang="en-US" sz="1200" dirty="0"/>
          </a:p>
        </p:txBody>
      </p:sp>
      <p:sp>
        <p:nvSpPr>
          <p:cNvPr id="30" name="Text 27"/>
          <p:cNvSpPr/>
          <p:nvPr/>
        </p:nvSpPr>
        <p:spPr>
          <a:xfrm>
            <a:off x="812800" y="5787430"/>
            <a:ext cx="10464800"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305080"/>
                </a:solidFill>
                <a:latin typeface="Inter" pitchFamily="34" charset="0"/>
                <a:ea typeface="Inter" pitchFamily="34" charset="-122"/>
                <a:cs typeface="Inter" pitchFamily="34" charset="-120"/>
              </a:rPr>
              <a:t>Fonte:</a:t>
            </a:r>
            <a:r>
              <a:rPr lang="en-US" sz="1100" dirty="0">
                <a:solidFill>
                  <a:srgbClr val="7A7A7A"/>
                </a:solidFill>
                <a:latin typeface="Inter" pitchFamily="34" charset="0"/>
                <a:ea typeface="Inter" pitchFamily="34" charset="-122"/>
                <a:cs typeface="Inter" pitchFamily="34" charset="-120"/>
              </a:rPr>
              <a:t> Kiranyaz et al. (2021); Craik et al. (2019).</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BrainSniffer · Bruno Rocha Guimarães</a:t>
            </a:r>
            <a:endParaRPr lang="en-US" sz="1200" dirty="0"/>
          </a:p>
        </p:txBody>
      </p:sp>
      <p:sp>
        <p:nvSpPr>
          <p:cNvPr id="5" name="Text 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D4D4D"/>
                </a:solidFill>
                <a:latin typeface="Inter" pitchFamily="34" charset="0"/>
                <a:ea typeface="Inter" pitchFamily="34" charset="-122"/>
                <a:cs typeface="Inter" pitchFamily="34" charset="-120"/>
              </a:rPr>
              <a:t>13 / 24</a:t>
            </a:r>
            <a:endParaRPr lang="en-US" sz="1200" dirty="0"/>
          </a:p>
        </p:txBody>
      </p:sp>
      <p:sp>
        <p:nvSpPr>
          <p:cNvPr id="6" name="Text 3"/>
          <p:cNvSpPr/>
          <p:nvPr/>
        </p:nvSpPr>
        <p:spPr>
          <a:xfrm>
            <a:off x="812800" y="1270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05080"/>
                </a:solidFill>
                <a:latin typeface="Inter" pitchFamily="34" charset="0"/>
                <a:ea typeface="Inter" pitchFamily="34" charset="-122"/>
                <a:cs typeface="Inter" pitchFamily="34" charset="-120"/>
              </a:rPr>
              <a:t>05 · TREINO</a:t>
            </a:r>
            <a:endParaRPr lang="en-US" sz="1200" dirty="0"/>
          </a:p>
        </p:txBody>
      </p:sp>
      <p:sp>
        <p:nvSpPr>
          <p:cNvPr id="7" name="Text 4"/>
          <p:cNvSpPr/>
          <p:nvPr>
            <p:ph type="title"/>
          </p:nvPr>
        </p:nvSpPr>
        <p:spPr>
          <a:xfrm>
            <a:off x="812800" y="1635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A1A"/>
                </a:solidFill>
                <a:latin typeface="Inter" pitchFamily="34" charset="0"/>
                <a:ea typeface="Inter" pitchFamily="34" charset="-122"/>
                <a:cs typeface="Inter" pitchFamily="34" charset="-120"/>
              </a:rPr>
              <a:t>TREINO E CHECKPOINTS</a:t>
            </a:r>
            <a:endParaRPr lang="en-US" sz="2800" dirty="0"/>
          </a:p>
        </p:txBody>
      </p:sp>
      <p:sp>
        <p:nvSpPr>
          <p:cNvPr id="8" name="Shape 5"/>
          <p:cNvSpPr/>
          <p:nvPr/>
        </p:nvSpPr>
        <p:spPr>
          <a:xfrm>
            <a:off x="812800" y="2179241"/>
            <a:ext cx="5181600" cy="1820863"/>
          </a:xfrm>
          <a:prstGeom prst="rect">
            <a:avLst/>
          </a:prstGeom>
          <a:solidFill>
            <a:srgbClr val="F3F5F8"/>
          </a:solidFill>
          <a:ln/>
        </p:spPr>
      </p:sp>
      <p:sp>
        <p:nvSpPr>
          <p:cNvPr id="9" name="Shape 6"/>
          <p:cNvSpPr/>
          <p:nvPr/>
        </p:nvSpPr>
        <p:spPr>
          <a:xfrm>
            <a:off x="812800" y="2198291"/>
            <a:ext cx="5181600" cy="0"/>
          </a:xfrm>
          <a:prstGeom prst="line">
            <a:avLst/>
          </a:prstGeom>
          <a:noFill/>
          <a:ln w="38100">
            <a:solidFill>
              <a:srgbClr val="305080"/>
            </a:solidFill>
            <a:prstDash val="solid"/>
          </a:ln>
        </p:spPr>
      </p:sp>
      <p:sp>
        <p:nvSpPr>
          <p:cNvPr id="10" name="Text 7"/>
          <p:cNvSpPr/>
          <p:nvPr/>
        </p:nvSpPr>
        <p:spPr>
          <a:xfrm>
            <a:off x="1016000" y="2420541"/>
            <a:ext cx="491845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A1A"/>
                </a:solidFill>
                <a:latin typeface="Inter" pitchFamily="34" charset="0"/>
                <a:ea typeface="Inter" pitchFamily="34" charset="-122"/>
                <a:cs typeface="Inter" pitchFamily="34" charset="-120"/>
              </a:rPr>
              <a:t>Treino</a:t>
            </a:r>
            <a:endParaRPr lang="en-US" sz="1500" dirty="0"/>
          </a:p>
        </p:txBody>
      </p:sp>
      <p:sp>
        <p:nvSpPr>
          <p:cNvPr id="11" name="Text 8"/>
          <p:cNvSpPr/>
          <p:nvPr/>
        </p:nvSpPr>
        <p:spPr>
          <a:xfrm>
            <a:off x="1016000" y="2725341"/>
            <a:ext cx="491845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Smooth L1 · 10 épocas · batch 128</a:t>
            </a:r>
            <a:endParaRPr lang="en-US" sz="1400" dirty="0"/>
          </a:p>
        </p:txBody>
      </p:sp>
      <p:sp>
        <p:nvSpPr>
          <p:cNvPr id="12" name="Text 9"/>
          <p:cNvSpPr/>
          <p:nvPr/>
        </p:nvSpPr>
        <p:spPr>
          <a:xfrm>
            <a:off x="1016000" y="3050381"/>
            <a:ext cx="491845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lr 10⁻³ · weight decay 10⁻⁴ · seed 42 · CPU</a:t>
            </a:r>
            <a:endParaRPr lang="en-US" sz="1400" dirty="0"/>
          </a:p>
        </p:txBody>
      </p:sp>
      <p:sp>
        <p:nvSpPr>
          <p:cNvPr id="13" name="Shape 10"/>
          <p:cNvSpPr/>
          <p:nvPr/>
        </p:nvSpPr>
        <p:spPr>
          <a:xfrm>
            <a:off x="6197600" y="2179241"/>
            <a:ext cx="5181600" cy="1820863"/>
          </a:xfrm>
          <a:prstGeom prst="rect">
            <a:avLst/>
          </a:prstGeom>
          <a:solidFill>
            <a:srgbClr val="F3F5F8"/>
          </a:solidFill>
          <a:ln/>
        </p:spPr>
      </p:sp>
      <p:sp>
        <p:nvSpPr>
          <p:cNvPr id="14" name="Shape 11"/>
          <p:cNvSpPr/>
          <p:nvPr/>
        </p:nvSpPr>
        <p:spPr>
          <a:xfrm>
            <a:off x="6197600" y="2198291"/>
            <a:ext cx="5181600" cy="0"/>
          </a:xfrm>
          <a:prstGeom prst="line">
            <a:avLst/>
          </a:prstGeom>
          <a:noFill/>
          <a:ln w="38100">
            <a:solidFill>
              <a:srgbClr val="305080"/>
            </a:solidFill>
            <a:prstDash val="solid"/>
          </a:ln>
        </p:spPr>
      </p:sp>
      <p:sp>
        <p:nvSpPr>
          <p:cNvPr id="15" name="Text 12"/>
          <p:cNvSpPr/>
          <p:nvPr/>
        </p:nvSpPr>
        <p:spPr>
          <a:xfrm>
            <a:off x="6400800" y="2420541"/>
            <a:ext cx="491845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A1A"/>
                </a:solidFill>
                <a:latin typeface="Inter" pitchFamily="34" charset="0"/>
                <a:ea typeface="Inter" pitchFamily="34" charset="-122"/>
                <a:cs typeface="Inter" pitchFamily="34" charset="-120"/>
              </a:rPr>
              <a:t>Dois checkpoints</a:t>
            </a:r>
            <a:endParaRPr lang="en-US" sz="1500" dirty="0"/>
          </a:p>
        </p:txBody>
      </p:sp>
      <p:sp>
        <p:nvSpPr>
          <p:cNvPr id="16" name="Text 13"/>
          <p:cNvSpPr/>
          <p:nvPr/>
        </p:nvSpPr>
        <p:spPr>
          <a:xfrm>
            <a:off x="6400800" y="2725341"/>
            <a:ext cx="4918456"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1A1A"/>
                </a:solidFill>
                <a:latin typeface="Inter" pitchFamily="34" charset="0"/>
                <a:ea typeface="Inter" pitchFamily="34" charset="-122"/>
                <a:cs typeface="Inter" pitchFamily="34" charset="-120"/>
              </a:rPr>
              <a:t>Ativo:</a:t>
            </a:r>
            <a:r>
              <a:rPr lang="en-US" sz="1400" dirty="0">
                <a:solidFill>
                  <a:srgbClr val="1A1A1A"/>
                </a:solidFill>
                <a:latin typeface="Inter" pitchFamily="34" charset="0"/>
                <a:ea typeface="Inter" pitchFamily="34" charset="-122"/>
                <a:cs typeface="Inter" pitchFamily="34" charset="-120"/>
              </a:rPr>
              <a:t> só Figshare, 13 / 5 / 5 casos (treino / validação / teste).</a:t>
            </a:r>
            <a:endParaRPr lang="en-US" sz="1400" dirty="0"/>
          </a:p>
        </p:txBody>
      </p:sp>
      <p:sp>
        <p:nvSpPr>
          <p:cNvPr id="17" name="Text 14"/>
          <p:cNvSpPr/>
          <p:nvPr/>
        </p:nvSpPr>
        <p:spPr>
          <a:xfrm>
            <a:off x="6400800" y="3299222"/>
            <a:ext cx="4918456"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1A1A"/>
                </a:solidFill>
                <a:latin typeface="Inter" pitchFamily="34" charset="0"/>
                <a:ea typeface="Inter" pitchFamily="34" charset="-122"/>
                <a:cs typeface="Inter" pitchFamily="34" charset="-120"/>
              </a:rPr>
              <a:t>Misto:</a:t>
            </a:r>
            <a:r>
              <a:rPr lang="en-US" sz="1400" dirty="0">
                <a:solidFill>
                  <a:srgbClr val="1A1A1A"/>
                </a:solidFill>
                <a:latin typeface="Inter" pitchFamily="34" charset="0"/>
                <a:ea typeface="Inter" pitchFamily="34" charset="-122"/>
                <a:cs typeface="Inter" pitchFamily="34" charset="-120"/>
              </a:rPr>
              <a:t> Figshare + parte do VitalDB; ajuste com 12 + 4 casos.</a:t>
            </a:r>
            <a:endParaRPr lang="en-US" sz="1400" dirty="0"/>
          </a:p>
        </p:txBody>
      </p:sp>
      <p:sp>
        <p:nvSpPr>
          <p:cNvPr id="18" name="Shape 15"/>
          <p:cNvSpPr/>
          <p:nvPr/>
        </p:nvSpPr>
        <p:spPr>
          <a:xfrm>
            <a:off x="812800" y="4152503"/>
            <a:ext cx="10566400" cy="1285081"/>
          </a:xfrm>
          <a:prstGeom prst="rect">
            <a:avLst/>
          </a:prstGeom>
          <a:solidFill>
            <a:srgbClr val="F3F5F8"/>
          </a:solidFill>
          <a:ln/>
        </p:spPr>
      </p:sp>
      <p:sp>
        <p:nvSpPr>
          <p:cNvPr id="19" name="Shape 16"/>
          <p:cNvSpPr/>
          <p:nvPr/>
        </p:nvSpPr>
        <p:spPr>
          <a:xfrm>
            <a:off x="838200" y="4152503"/>
            <a:ext cx="0" cy="1285081"/>
          </a:xfrm>
          <a:prstGeom prst="line">
            <a:avLst/>
          </a:prstGeom>
          <a:noFill/>
          <a:ln w="50800">
            <a:solidFill>
              <a:srgbClr val="305080"/>
            </a:solidFill>
            <a:prstDash val="solid"/>
          </a:ln>
        </p:spPr>
      </p:sp>
      <p:sp>
        <p:nvSpPr>
          <p:cNvPr id="20" name="Text 17"/>
          <p:cNvSpPr/>
          <p:nvPr/>
        </p:nvSpPr>
        <p:spPr>
          <a:xfrm>
            <a:off x="1066800" y="4355703"/>
            <a:ext cx="1041247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A1A"/>
                </a:solidFill>
                <a:latin typeface="Inter" pitchFamily="34" charset="0"/>
                <a:ea typeface="Inter" pitchFamily="34" charset="-122"/>
                <a:cs typeface="Inter" pitchFamily="34" charset="-120"/>
              </a:rPr>
              <a:t>Pós-processamento (EWMA)</a:t>
            </a:r>
            <a:endParaRPr lang="en-US" sz="1500" dirty="0"/>
          </a:p>
        </p:txBody>
      </p:sp>
      <p:sp>
        <p:nvSpPr>
          <p:cNvPr id="21" name="Text 18"/>
          <p:cNvSpPr/>
          <p:nvPr/>
        </p:nvSpPr>
        <p:spPr>
          <a:xfrm>
            <a:off x="1066800" y="4660503"/>
            <a:ext cx="1041247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Média móvel exponencial causal, por caso, sobre predições congeladas — sem retreino.</a:t>
            </a:r>
            <a:endParaRPr lang="en-US" sz="1400" dirty="0"/>
          </a:p>
        </p:txBody>
      </p:sp>
      <p:sp>
        <p:nvSpPr>
          <p:cNvPr id="22" name="Text 19"/>
          <p:cNvSpPr/>
          <p:nvPr/>
        </p:nvSpPr>
        <p:spPr>
          <a:xfrm>
            <a:off x="1066800" y="4985544"/>
            <a:ext cx="1041247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s[t] = α·y[t] + (1 − α)·s[t−1], com α = 2 / (span + 1)</a:t>
            </a:r>
            <a:endParaRPr lang="en-US" sz="1400" dirty="0"/>
          </a:p>
        </p:txBody>
      </p:sp>
      <p:sp>
        <p:nvSpPr>
          <p:cNvPr id="23" name="Text 20"/>
          <p:cNvSpPr/>
          <p:nvPr/>
        </p:nvSpPr>
        <p:spPr>
          <a:xfrm>
            <a:off x="812800" y="5787430"/>
            <a:ext cx="10464800"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305080"/>
                </a:solidFill>
                <a:latin typeface="Inter" pitchFamily="34" charset="0"/>
                <a:ea typeface="Inter" pitchFamily="34" charset="-122"/>
                <a:cs typeface="Inter" pitchFamily="34" charset="-120"/>
              </a:rPr>
              <a:t>Fonte:</a:t>
            </a:r>
            <a:r>
              <a:rPr lang="en-US" sz="1100" dirty="0">
                <a:solidFill>
                  <a:srgbClr val="7A7A7A"/>
                </a:solidFill>
                <a:latin typeface="Inter" pitchFamily="34" charset="0"/>
                <a:ea typeface="Inter" pitchFamily="34" charset="-122"/>
                <a:cs typeface="Inter" pitchFamily="34" charset="-120"/>
              </a:rPr>
              <a:t> Sukriti et al. (2026).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BrainSniffer · Bruno Rocha Guimarães</a:t>
            </a:r>
            <a:endParaRPr lang="en-US" sz="1200" dirty="0"/>
          </a:p>
        </p:txBody>
      </p:sp>
      <p:sp>
        <p:nvSpPr>
          <p:cNvPr id="5" name="Text 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D4D4D"/>
                </a:solidFill>
                <a:latin typeface="Inter" pitchFamily="34" charset="0"/>
                <a:ea typeface="Inter" pitchFamily="34" charset="-122"/>
                <a:cs typeface="Inter" pitchFamily="34" charset="-120"/>
              </a:rPr>
              <a:t>14 / 24</a:t>
            </a:r>
            <a:endParaRPr lang="en-US" sz="1200" dirty="0"/>
          </a:p>
        </p:txBody>
      </p:sp>
      <p:sp>
        <p:nvSpPr>
          <p:cNvPr id="6" name="Text 3"/>
          <p:cNvSpPr/>
          <p:nvPr/>
        </p:nvSpPr>
        <p:spPr>
          <a:xfrm>
            <a:off x="812800" y="1270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05080"/>
                </a:solidFill>
                <a:latin typeface="Inter" pitchFamily="34" charset="0"/>
                <a:ea typeface="Inter" pitchFamily="34" charset="-122"/>
                <a:cs typeface="Inter" pitchFamily="34" charset="-120"/>
              </a:rPr>
              <a:t>06 · RESULTADOS — HOLDOUT FIGSHARE</a:t>
            </a:r>
            <a:endParaRPr lang="en-US" sz="1200" dirty="0"/>
          </a:p>
        </p:txBody>
      </p:sp>
      <p:sp>
        <p:nvSpPr>
          <p:cNvPr id="7" name="Text 4"/>
          <p:cNvSpPr/>
          <p:nvPr>
            <p:ph type="title"/>
          </p:nvPr>
        </p:nvSpPr>
        <p:spPr>
          <a:xfrm>
            <a:off x="812800" y="1635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A1A"/>
                </a:solidFill>
                <a:latin typeface="Inter" pitchFamily="34" charset="0"/>
                <a:ea typeface="Inter" pitchFamily="34" charset="-122"/>
                <a:cs typeface="Inter" pitchFamily="34" charset="-120"/>
              </a:rPr>
              <a:t>O ERRO FICA ABAIXO DA ESCALA DE LEITURA</a:t>
            </a:r>
            <a:endParaRPr lang="en-US" sz="2800" dirty="0"/>
          </a:p>
        </p:txBody>
      </p:sp>
      <p:sp>
        <p:nvSpPr>
          <p:cNvPr id="8" name="Shape 5"/>
          <p:cNvSpPr/>
          <p:nvPr/>
        </p:nvSpPr>
        <p:spPr>
          <a:xfrm>
            <a:off x="812800" y="2179241"/>
            <a:ext cx="3420467" cy="1445220"/>
          </a:xfrm>
          <a:prstGeom prst="rect">
            <a:avLst/>
          </a:prstGeom>
          <a:solidFill>
            <a:srgbClr val="F3F5F8"/>
          </a:solidFill>
          <a:ln/>
        </p:spPr>
      </p:sp>
      <p:sp>
        <p:nvSpPr>
          <p:cNvPr id="9" name="Shape 6"/>
          <p:cNvSpPr/>
          <p:nvPr/>
        </p:nvSpPr>
        <p:spPr>
          <a:xfrm>
            <a:off x="812800" y="2198291"/>
            <a:ext cx="3420467" cy="0"/>
          </a:xfrm>
          <a:prstGeom prst="line">
            <a:avLst/>
          </a:prstGeom>
          <a:noFill/>
          <a:ln w="38100">
            <a:solidFill>
              <a:srgbClr val="305080"/>
            </a:solidFill>
            <a:prstDash val="solid"/>
          </a:ln>
        </p:spPr>
      </p:sp>
      <p:sp>
        <p:nvSpPr>
          <p:cNvPr id="10" name="Text 7"/>
          <p:cNvSpPr/>
          <p:nvPr/>
        </p:nvSpPr>
        <p:spPr>
          <a:xfrm>
            <a:off x="1066800" y="2471341"/>
            <a:ext cx="2999841"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305080"/>
                </a:solidFill>
                <a:latin typeface="Inter" pitchFamily="34" charset="0"/>
                <a:ea typeface="Inter" pitchFamily="34" charset="-122"/>
                <a:cs typeface="Inter" pitchFamily="34" charset="-120"/>
              </a:rPr>
              <a:t>7,03</a:t>
            </a:r>
            <a:endParaRPr lang="en-US" sz="4800" dirty="0"/>
          </a:p>
        </p:txBody>
      </p:sp>
      <p:sp>
        <p:nvSpPr>
          <p:cNvPr id="11" name="Text 8"/>
          <p:cNvSpPr/>
          <p:nvPr/>
        </p:nvSpPr>
        <p:spPr>
          <a:xfrm>
            <a:off x="1066800" y="3157141"/>
            <a:ext cx="29998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MAE da CNN (pontos BIS)</a:t>
            </a:r>
            <a:endParaRPr lang="en-US" sz="1200" dirty="0"/>
          </a:p>
        </p:txBody>
      </p:sp>
      <p:sp>
        <p:nvSpPr>
          <p:cNvPr id="12" name="Shape 9"/>
          <p:cNvSpPr/>
          <p:nvPr/>
        </p:nvSpPr>
        <p:spPr>
          <a:xfrm>
            <a:off x="4385667" y="2179241"/>
            <a:ext cx="3420566" cy="1445220"/>
          </a:xfrm>
          <a:prstGeom prst="rect">
            <a:avLst/>
          </a:prstGeom>
          <a:solidFill>
            <a:srgbClr val="F3F5F8"/>
          </a:solidFill>
          <a:ln/>
        </p:spPr>
      </p:sp>
      <p:sp>
        <p:nvSpPr>
          <p:cNvPr id="13" name="Shape 10"/>
          <p:cNvSpPr/>
          <p:nvPr/>
        </p:nvSpPr>
        <p:spPr>
          <a:xfrm>
            <a:off x="4385667" y="2198291"/>
            <a:ext cx="3420566" cy="0"/>
          </a:xfrm>
          <a:prstGeom prst="line">
            <a:avLst/>
          </a:prstGeom>
          <a:noFill/>
          <a:ln w="38100">
            <a:solidFill>
              <a:srgbClr val="305080"/>
            </a:solidFill>
            <a:prstDash val="solid"/>
          </a:ln>
        </p:spPr>
      </p:sp>
      <p:sp>
        <p:nvSpPr>
          <p:cNvPr id="14" name="Text 11"/>
          <p:cNvSpPr/>
          <p:nvPr/>
        </p:nvSpPr>
        <p:spPr>
          <a:xfrm>
            <a:off x="4639667" y="2471341"/>
            <a:ext cx="299994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305080"/>
                </a:solidFill>
                <a:latin typeface="Inter" pitchFamily="34" charset="0"/>
                <a:ea typeface="Inter" pitchFamily="34" charset="-122"/>
                <a:cs typeface="Inter" pitchFamily="34" charset="-120"/>
              </a:rPr>
              <a:t>0,773</a:t>
            </a:r>
            <a:endParaRPr lang="en-US" sz="4800" dirty="0"/>
          </a:p>
        </p:txBody>
      </p:sp>
      <p:sp>
        <p:nvSpPr>
          <p:cNvPr id="15" name="Text 12"/>
          <p:cNvSpPr/>
          <p:nvPr/>
        </p:nvSpPr>
        <p:spPr>
          <a:xfrm>
            <a:off x="4639667" y="3157141"/>
            <a:ext cx="29999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PK (0,5 = acaso; 1 = ordem perfeita)</a:t>
            </a:r>
            <a:endParaRPr lang="en-US" sz="1200" dirty="0"/>
          </a:p>
        </p:txBody>
      </p:sp>
      <p:sp>
        <p:nvSpPr>
          <p:cNvPr id="16" name="Shape 13"/>
          <p:cNvSpPr/>
          <p:nvPr/>
        </p:nvSpPr>
        <p:spPr>
          <a:xfrm>
            <a:off x="7958634" y="2179241"/>
            <a:ext cx="3420566" cy="1445220"/>
          </a:xfrm>
          <a:prstGeom prst="rect">
            <a:avLst/>
          </a:prstGeom>
          <a:solidFill>
            <a:srgbClr val="F3F5F8"/>
          </a:solidFill>
          <a:ln/>
        </p:spPr>
      </p:sp>
      <p:sp>
        <p:nvSpPr>
          <p:cNvPr id="17" name="Shape 14"/>
          <p:cNvSpPr/>
          <p:nvPr/>
        </p:nvSpPr>
        <p:spPr>
          <a:xfrm>
            <a:off x="7958634" y="2198291"/>
            <a:ext cx="3420566" cy="0"/>
          </a:xfrm>
          <a:prstGeom prst="line">
            <a:avLst/>
          </a:prstGeom>
          <a:noFill/>
          <a:ln w="38100">
            <a:solidFill>
              <a:srgbClr val="305080"/>
            </a:solidFill>
            <a:prstDash val="solid"/>
          </a:ln>
        </p:spPr>
      </p:sp>
      <p:sp>
        <p:nvSpPr>
          <p:cNvPr id="18" name="Text 15"/>
          <p:cNvSpPr/>
          <p:nvPr/>
        </p:nvSpPr>
        <p:spPr>
          <a:xfrm>
            <a:off x="8212634" y="2471341"/>
            <a:ext cx="299994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305080"/>
                </a:solidFill>
                <a:latin typeface="Inter" pitchFamily="34" charset="0"/>
                <a:ea typeface="Inter" pitchFamily="34" charset="-122"/>
                <a:cs typeface="Inter" pitchFamily="34" charset="-120"/>
              </a:rPr>
              <a:t>0,784</a:t>
            </a:r>
            <a:endParaRPr lang="en-US" sz="4800" dirty="0"/>
          </a:p>
        </p:txBody>
      </p:sp>
      <p:sp>
        <p:nvSpPr>
          <p:cNvPr id="19" name="Text 16"/>
          <p:cNvSpPr/>
          <p:nvPr/>
        </p:nvSpPr>
        <p:spPr>
          <a:xfrm>
            <a:off x="8212634" y="3157141"/>
            <a:ext cx="29999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Pearson</a:t>
            </a:r>
            <a:endParaRPr lang="en-US" sz="1200" dirty="0"/>
          </a:p>
        </p:txBody>
      </p:sp>
      <p:sp>
        <p:nvSpPr>
          <p:cNvPr id="20" name="Text 17"/>
          <p:cNvSpPr/>
          <p:nvPr/>
        </p:nvSpPr>
        <p:spPr>
          <a:xfrm>
            <a:off x="812800" y="3776861"/>
            <a:ext cx="10566400" cy="673100"/>
          </a:xfrm>
          <a:prstGeom prst="rect">
            <a:avLst/>
          </a:prstGeom>
          <a:solidFill>
            <a:srgbClr val="F3F5F8"/>
          </a:solidFill>
          <a:ln/>
        </p:spPr>
        <p:txBody>
          <a:bodyPr wrap="square" lIns="254000" tIns="203200" rIns="0" bIns="177800" rtlCol="0" anchor="t">
            <a:normAutofit/>
          </a:bodyPr>
          <a:lstStyle/>
          <a:p>
            <a:pPr algn="l" indent="0" marL="0">
              <a:lnSpc>
                <a:spcPts val="2100"/>
              </a:lnSpc>
              <a:buNone/>
            </a:pPr>
            <a:r>
              <a:rPr lang="en-US" sz="1500" b="1" dirty="0">
                <a:solidFill>
                  <a:srgbClr val="1A1A1A"/>
                </a:solidFill>
                <a:latin typeface="Inter" pitchFamily="34" charset="0"/>
                <a:ea typeface="Inter" pitchFamily="34" charset="-122"/>
                <a:cs typeface="Inter" pitchFamily="34" charset="-120"/>
              </a:rPr>
              <a:t>Abaixo da escala de leitura de 10 pontos</a:t>
            </a:r>
            <a:r>
              <a:rPr lang="en-US" sz="1500" dirty="0">
                <a:solidFill>
                  <a:srgbClr val="1A1A1A"/>
                </a:solidFill>
                <a:latin typeface="Inter" pitchFamily="34" charset="0"/>
                <a:ea typeface="Inter" pitchFamily="34" charset="-122"/>
                <a:cs typeface="Inter" pitchFamily="34" charset="-120"/>
              </a:rPr>
              <a:t> · 5 casos, 5.523 janelas · leitura exploratória</a:t>
            </a:r>
            <a:endParaRPr lang="en-US" sz="1500" dirty="0"/>
          </a:p>
        </p:txBody>
      </p:sp>
      <p:sp>
        <p:nvSpPr>
          <p:cNvPr id="21" name="Shape 18"/>
          <p:cNvSpPr/>
          <p:nvPr/>
        </p:nvSpPr>
        <p:spPr>
          <a:xfrm>
            <a:off x="838200" y="3776861"/>
            <a:ext cx="0" cy="673100"/>
          </a:xfrm>
          <a:prstGeom prst="line">
            <a:avLst/>
          </a:prstGeom>
          <a:noFill/>
          <a:ln w="50800">
            <a:solidFill>
              <a:srgbClr val="305080"/>
            </a:solidFill>
            <a:prstDash val="solid"/>
          </a:ln>
        </p:spPr>
      </p:sp>
      <p:sp>
        <p:nvSpPr>
          <p:cNvPr id="22" name="Text 19"/>
          <p:cNvSpPr/>
          <p:nvPr/>
        </p:nvSpPr>
        <p:spPr>
          <a:xfrm>
            <a:off x="812800" y="460236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RMSE 11,08 · acurácia por faixa 0,585 · macro-F1 0,548</a:t>
            </a:r>
            <a:endParaRPr lang="en-US" sz="1200" dirty="0"/>
          </a:p>
        </p:txBody>
      </p:sp>
      <p:sp>
        <p:nvSpPr>
          <p:cNvPr id="23" name="Text 20"/>
          <p:cNvSpPr/>
          <p:nvPr/>
        </p:nvSpPr>
        <p:spPr>
          <a:xfrm>
            <a:off x="812800" y="5787430"/>
            <a:ext cx="10464800"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305080"/>
                </a:solidFill>
                <a:latin typeface="Inter" pitchFamily="34" charset="0"/>
                <a:ea typeface="Inter" pitchFamily="34" charset="-122"/>
                <a:cs typeface="Inter" pitchFamily="34" charset="-120"/>
              </a:rPr>
              <a:t>Fonte:</a:t>
            </a:r>
            <a:r>
              <a:rPr lang="en-US" sz="1100" dirty="0">
                <a:solidFill>
                  <a:srgbClr val="7A7A7A"/>
                </a:solidFill>
                <a:latin typeface="Inter" pitchFamily="34" charset="0"/>
                <a:ea typeface="Inter" pitchFamily="34" charset="-122"/>
                <a:cs typeface="Inter" pitchFamily="34" charset="-120"/>
              </a:rPr>
              <a:t> Smith et al. (1996); resultados deste trabalho.</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BrainSniffer · Bruno Rocha Guimarães</a:t>
            </a:r>
            <a:endParaRPr lang="en-US" sz="1200" dirty="0"/>
          </a:p>
        </p:txBody>
      </p:sp>
      <p:sp>
        <p:nvSpPr>
          <p:cNvPr id="5" name="Text 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D4D4D"/>
                </a:solidFill>
                <a:latin typeface="Inter" pitchFamily="34" charset="0"/>
                <a:ea typeface="Inter" pitchFamily="34" charset="-122"/>
                <a:cs typeface="Inter" pitchFamily="34" charset="-120"/>
              </a:rPr>
              <a:t>15 / 24</a:t>
            </a:r>
            <a:endParaRPr lang="en-US" sz="1200" dirty="0"/>
          </a:p>
        </p:txBody>
      </p:sp>
      <p:sp>
        <p:nvSpPr>
          <p:cNvPr id="6" name="Text 3"/>
          <p:cNvSpPr/>
          <p:nvPr/>
        </p:nvSpPr>
        <p:spPr>
          <a:xfrm>
            <a:off x="812800" y="1270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05080"/>
                </a:solidFill>
                <a:latin typeface="Inter" pitchFamily="34" charset="0"/>
                <a:ea typeface="Inter" pitchFamily="34" charset="-122"/>
                <a:cs typeface="Inter" pitchFamily="34" charset="-120"/>
              </a:rPr>
              <a:t>06 · RESULTADOS — TRAJETÓRIA</a:t>
            </a:r>
            <a:endParaRPr lang="en-US" sz="1200" dirty="0"/>
          </a:p>
        </p:txBody>
      </p:sp>
      <p:sp>
        <p:nvSpPr>
          <p:cNvPr id="7" name="Text 4"/>
          <p:cNvSpPr/>
          <p:nvPr>
            <p:ph type="title"/>
          </p:nvPr>
        </p:nvSpPr>
        <p:spPr>
          <a:xfrm>
            <a:off x="812800" y="1635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A1A"/>
                </a:solidFill>
                <a:latin typeface="Inter" pitchFamily="34" charset="0"/>
                <a:ea typeface="Inter" pitchFamily="34" charset="-122"/>
                <a:cs typeface="Inter" pitchFamily="34" charset="-120"/>
              </a:rPr>
              <a:t>TRAJETÓRIA AO LONGO DE UMA CIRURGIA</a:t>
            </a:r>
            <a:endParaRPr lang="en-US" sz="2800" dirty="0"/>
          </a:p>
        </p:txBody>
      </p:sp>
      <p:pic>
        <p:nvPicPr>
          <p:cNvPr id="8" name="Image 1" descr="Predição bruta da CNN e BIS de referência ao longo de toda a cirurgia do caso 19">    </p:cNvPr>
          <p:cNvPicPr>
            <a:picLocks noChangeAspect="1"/>
          </p:cNvPicPr>
          <p:nvPr/>
        </p:nvPicPr>
        <p:blipFill>
          <a:blip r:embed="rId2"/>
          <a:srcRect l="-12" r="-12" t="0" b="0"/>
          <a:stretch/>
        </p:blipFill>
        <p:spPr>
          <a:xfrm>
            <a:off x="812800" y="2179241"/>
            <a:ext cx="6096000" cy="3200400"/>
          </a:xfrm>
          <a:prstGeom prst="rect">
            <a:avLst/>
          </a:prstGeom>
        </p:spPr>
      </p:pic>
      <p:sp>
        <p:nvSpPr>
          <p:cNvPr id="9" name="Text 5"/>
          <p:cNvSpPr/>
          <p:nvPr/>
        </p:nvSpPr>
        <p:spPr>
          <a:xfrm>
            <a:off x="7213600" y="2258219"/>
            <a:ext cx="4290568"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05080"/>
                </a:solidFill>
                <a:latin typeface="Inter" pitchFamily="34" charset="0"/>
                <a:ea typeface="Inter" pitchFamily="34" charset="-122"/>
                <a:cs typeface="Inter" pitchFamily="34" charset="-120"/>
              </a:rPr>
              <a:t>850</a:t>
            </a:r>
            <a:endParaRPr lang="en-US" sz="2400" dirty="0"/>
          </a:p>
        </p:txBody>
      </p:sp>
      <p:sp>
        <p:nvSpPr>
          <p:cNvPr id="10" name="Text 6"/>
          <p:cNvSpPr/>
          <p:nvPr/>
        </p:nvSpPr>
        <p:spPr>
          <a:xfrm>
            <a:off x="7213600" y="2710259"/>
            <a:ext cx="42905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janelas aceitas (caso 19)</a:t>
            </a:r>
            <a:endParaRPr lang="en-US" sz="1200" dirty="0"/>
          </a:p>
        </p:txBody>
      </p:sp>
      <p:sp>
        <p:nvSpPr>
          <p:cNvPr id="11" name="Text 7"/>
          <p:cNvSpPr/>
          <p:nvPr/>
        </p:nvSpPr>
        <p:spPr>
          <a:xfrm>
            <a:off x="7213600" y="3050580"/>
            <a:ext cx="4290568"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05080"/>
                </a:solidFill>
                <a:latin typeface="Inter" pitchFamily="34" charset="0"/>
                <a:ea typeface="Inter" pitchFamily="34" charset="-122"/>
                <a:cs typeface="Inter" pitchFamily="34" charset="-120"/>
              </a:rPr>
              <a:t>8,72</a:t>
            </a:r>
            <a:endParaRPr lang="en-US" sz="2400" dirty="0"/>
          </a:p>
        </p:txBody>
      </p:sp>
      <p:sp>
        <p:nvSpPr>
          <p:cNvPr id="12" name="Text 8"/>
          <p:cNvSpPr/>
          <p:nvPr/>
        </p:nvSpPr>
        <p:spPr>
          <a:xfrm>
            <a:off x="7213600" y="3502620"/>
            <a:ext cx="42905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MAE no caso</a:t>
            </a:r>
            <a:endParaRPr lang="en-US" sz="1200" dirty="0"/>
          </a:p>
        </p:txBody>
      </p:sp>
      <p:sp>
        <p:nvSpPr>
          <p:cNvPr id="13" name="Text 9"/>
          <p:cNvSpPr/>
          <p:nvPr/>
        </p:nvSpPr>
        <p:spPr>
          <a:xfrm>
            <a:off x="7213600" y="3842941"/>
            <a:ext cx="4290568"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05080"/>
                </a:solidFill>
                <a:latin typeface="Inter" pitchFamily="34" charset="0"/>
                <a:ea typeface="Inter" pitchFamily="34" charset="-122"/>
                <a:cs typeface="Inter" pitchFamily="34" charset="-120"/>
              </a:rPr>
              <a:t>+4,79</a:t>
            </a:r>
            <a:endParaRPr lang="en-US" sz="2400" dirty="0"/>
          </a:p>
        </p:txBody>
      </p:sp>
      <p:sp>
        <p:nvSpPr>
          <p:cNvPr id="14" name="Text 10"/>
          <p:cNvSpPr/>
          <p:nvPr/>
        </p:nvSpPr>
        <p:spPr>
          <a:xfrm>
            <a:off x="7213600" y="4294981"/>
            <a:ext cx="42905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viés: superestima</a:t>
            </a:r>
            <a:endParaRPr lang="en-US" sz="1200" dirty="0"/>
          </a:p>
        </p:txBody>
      </p:sp>
      <p:sp>
        <p:nvSpPr>
          <p:cNvPr id="15" name="Text 11"/>
          <p:cNvSpPr/>
          <p:nvPr/>
        </p:nvSpPr>
        <p:spPr>
          <a:xfrm>
            <a:off x="7213600" y="4635302"/>
            <a:ext cx="4290568"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05080"/>
                </a:solidFill>
                <a:latin typeface="Inter" pitchFamily="34" charset="0"/>
                <a:ea typeface="Inter" pitchFamily="34" charset="-122"/>
                <a:cs typeface="Inter" pitchFamily="34" charset="-120"/>
              </a:rPr>
              <a:t>0,910</a:t>
            </a:r>
            <a:endParaRPr lang="en-US" sz="2400" dirty="0"/>
          </a:p>
        </p:txBody>
      </p:sp>
      <p:sp>
        <p:nvSpPr>
          <p:cNvPr id="16" name="Text 12"/>
          <p:cNvSpPr/>
          <p:nvPr/>
        </p:nvSpPr>
        <p:spPr>
          <a:xfrm>
            <a:off x="7213600" y="5087342"/>
            <a:ext cx="42905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Pearson intra-caso</a:t>
            </a:r>
            <a:endParaRPr lang="en-US" sz="1200" dirty="0"/>
          </a:p>
        </p:txBody>
      </p:sp>
      <p:sp>
        <p:nvSpPr>
          <p:cNvPr id="17" name="Text 13"/>
          <p:cNvSpPr/>
          <p:nvPr/>
        </p:nvSpPr>
        <p:spPr>
          <a:xfrm>
            <a:off x="812800" y="553204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Acompanha a queda inicial e a elevação final, mas superestima o patamar intermediário.</a:t>
            </a:r>
            <a:endParaRPr lang="en-US" sz="1400" dirty="0"/>
          </a:p>
        </p:txBody>
      </p:sp>
      <p:sp>
        <p:nvSpPr>
          <p:cNvPr id="18" name="Text 14"/>
          <p:cNvSpPr/>
          <p:nvPr/>
        </p:nvSpPr>
        <p:spPr>
          <a:xfrm>
            <a:off x="812800" y="5787430"/>
            <a:ext cx="10464800"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305080"/>
                </a:solidFill>
                <a:latin typeface="Inter" pitchFamily="34" charset="0"/>
                <a:ea typeface="Inter" pitchFamily="34" charset="-122"/>
                <a:cs typeface="Inter" pitchFamily="34" charset="-120"/>
              </a:rPr>
              <a:t>Fonte:</a:t>
            </a:r>
            <a:r>
              <a:rPr lang="en-US" sz="1100" dirty="0">
                <a:solidFill>
                  <a:srgbClr val="7A7A7A"/>
                </a:solidFill>
                <a:latin typeface="Inter" pitchFamily="34" charset="0"/>
                <a:ea typeface="Inter" pitchFamily="34" charset="-122"/>
                <a:cs typeface="Inter" pitchFamily="34" charset="-120"/>
              </a:rPr>
              <a:t> dados deste trabalho (caso 19); Smith et al. (1996).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BrainSniffer · Bruno Rocha Guimarães</a:t>
            </a:r>
            <a:endParaRPr lang="en-US" sz="1200" dirty="0"/>
          </a:p>
        </p:txBody>
      </p:sp>
      <p:sp>
        <p:nvSpPr>
          <p:cNvPr id="5" name="Text 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D4D4D"/>
                </a:solidFill>
                <a:latin typeface="Inter" pitchFamily="34" charset="0"/>
                <a:ea typeface="Inter" pitchFamily="34" charset="-122"/>
                <a:cs typeface="Inter" pitchFamily="34" charset="-120"/>
              </a:rPr>
              <a:t>16 / 24</a:t>
            </a:r>
            <a:endParaRPr lang="en-US" sz="1200" dirty="0"/>
          </a:p>
        </p:txBody>
      </p:sp>
      <p:sp>
        <p:nvSpPr>
          <p:cNvPr id="6" name="Text 3"/>
          <p:cNvSpPr/>
          <p:nvPr/>
        </p:nvSpPr>
        <p:spPr>
          <a:xfrm>
            <a:off x="812800" y="1270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05080"/>
                </a:solidFill>
                <a:latin typeface="Inter" pitchFamily="34" charset="0"/>
                <a:ea typeface="Inter" pitchFamily="34" charset="-122"/>
                <a:cs typeface="Inter" pitchFamily="34" charset="-120"/>
              </a:rPr>
              <a:t>06 · RESULTADOS — BENCHMARKS</a:t>
            </a:r>
            <a:endParaRPr lang="en-US" sz="1200" dirty="0"/>
          </a:p>
        </p:txBody>
      </p:sp>
      <p:sp>
        <p:nvSpPr>
          <p:cNvPr id="7" name="Text 4"/>
          <p:cNvSpPr/>
          <p:nvPr>
            <p:ph type="title"/>
          </p:nvPr>
        </p:nvSpPr>
        <p:spPr>
          <a:xfrm>
            <a:off x="812800" y="1635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A1A"/>
                </a:solidFill>
                <a:latin typeface="Inter" pitchFamily="34" charset="0"/>
                <a:ea typeface="Inter" pitchFamily="34" charset="-122"/>
                <a:cs typeface="Inter" pitchFamily="34" charset="-120"/>
              </a:rPr>
              <a:t>COMPARAÇÃO NOS DOIS BENCHMARKS</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2191941"/>
          <a:ext cx="10553700" cy="1714004"/>
        </p:xfrm>
        <a:graphic>
          <a:graphicData uri="http://schemas.openxmlformats.org/drawingml/2006/table">
            <a:tbl>
              <a:tblPr/>
              <a:tblGrid>
                <a:gridCol w="1899666"/>
                <a:gridCol w="4221480"/>
                <a:gridCol w="2532888"/>
                <a:gridCol w="949833"/>
                <a:gridCol w="949833"/>
              </a:tblGrid>
              <a:tr h="342801">
                <a:tc>
                  <a:txBody>
                    <a:bodyPr/>
                    <a:lstStyle/>
                    <a:p>
                      <a:pPr indent="0" marL="0">
                        <a:lnSpc>
                          <a:spcPts val="1820"/>
                        </a:lnSpc>
                        <a:buNone/>
                      </a:pPr>
                      <a:r>
                        <a:rPr lang="en-US" sz="1300" b="1" dirty="0">
                          <a:solidFill>
                            <a:srgbClr val="305080"/>
                          </a:solidFill>
                          <a:latin typeface="Inter" pitchFamily="34" charset="0"/>
                          <a:ea typeface="Inter" pitchFamily="34" charset="-122"/>
                          <a:cs typeface="Inter" pitchFamily="34" charset="-120"/>
                        </a:rPr>
                        <a:t>Benchmark</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305080"/>
                          </a:solidFill>
                          <a:latin typeface="Inter" pitchFamily="34" charset="0"/>
                          <a:ea typeface="Inter" pitchFamily="34" charset="-122"/>
                          <a:cs typeface="Inter" pitchFamily="34" charset="-120"/>
                        </a:rPr>
                        <a:t>Modelo (fontes vistas)</a:t>
                      </a:r>
                      <a:endParaRPr lang="en-US" sz="1300" dirty="0">
                        <a:latin typeface="Inter" charset="0"/>
                        <a:ea typeface="Inter" charset="0"/>
                        <a:cs typeface="Inter"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305080"/>
                          </a:solidFill>
                          <a:latin typeface="Inter" pitchFamily="34" charset="0"/>
                          <a:ea typeface="Inter" pitchFamily="34" charset="-122"/>
                          <a:cs typeface="Inter" pitchFamily="34" charset="-120"/>
                        </a:rPr>
                        <a:t>MAE (IC 95%)</a:t>
                      </a:r>
                      <a:endParaRPr lang="en-US" sz="1300" dirty="0">
                        <a:latin typeface="Inter" charset="0"/>
                        <a:ea typeface="Inter" charset="0"/>
                        <a:cs typeface="Inter"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305080"/>
                          </a:solidFill>
                          <a:latin typeface="Inter" pitchFamily="34" charset="0"/>
                          <a:ea typeface="Inter" pitchFamily="34" charset="-122"/>
                          <a:cs typeface="Inter" pitchFamily="34" charset="-120"/>
                        </a:rPr>
                        <a:t>Pearson</a:t>
                      </a:r>
                      <a:endParaRPr lang="en-US" sz="1300" dirty="0">
                        <a:latin typeface="Inter" charset="0"/>
                        <a:ea typeface="Inter" charset="0"/>
                        <a:cs typeface="Inter"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305080"/>
                          </a:solidFill>
                          <a:latin typeface="Inter" pitchFamily="34" charset="0"/>
                          <a:ea typeface="Inter" pitchFamily="34" charset="-122"/>
                          <a:cs typeface="Inter" pitchFamily="34" charset="-120"/>
                        </a:rPr>
                        <a:t>PK</a:t>
                      </a:r>
                      <a:endParaRPr lang="en-US" sz="1300" dirty="0">
                        <a:latin typeface="Inter" charset="0"/>
                        <a:ea typeface="Inter" charset="0"/>
                        <a:cs typeface="Inter"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42801">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Figshare</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Ativo (Figshare)</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7,03 (6,38–8,24)</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0,784</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0,773</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2801">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Figshare</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Misto (Figshare + VitalDB)</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6,69 (5,65–8,53)</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0,818</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0,774</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2801">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VitalDB</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Ativo (Figshare)</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12,43 (11,05–14,45)</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0,024</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0,515</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2801">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VitalDB</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Misto (Figshare + VitalDB)</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8,60 (7,57–9,95)</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0,688</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0,672</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Text 5"/>
          <p:cNvSpPr/>
          <p:nvPr/>
        </p:nvSpPr>
        <p:spPr>
          <a:xfrm>
            <a:off x="812800" y="4058345"/>
            <a:ext cx="10883392"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D4D4D"/>
                </a:solidFill>
                <a:latin typeface="Inter" pitchFamily="34" charset="0"/>
                <a:ea typeface="Inter" pitchFamily="34" charset="-122"/>
                <a:cs typeface="Inter" pitchFamily="34" charset="-120"/>
              </a:rPr>
              <a:t>3 de 4 MAE abaixo de 10 pontos:</a:t>
            </a:r>
            <a:r>
              <a:rPr lang="en-US" sz="1300" dirty="0">
                <a:solidFill>
                  <a:srgbClr val="4D4D4D"/>
                </a:solidFill>
                <a:latin typeface="Inter" pitchFamily="34" charset="0"/>
                <a:ea typeface="Inter" pitchFamily="34" charset="-122"/>
                <a:cs typeface="Inter" pitchFamily="34" charset="-120"/>
              </a:rPr>
              <a:t> escala de leitura adotada a partir de estudos de comparação de montagens do BIS (Harada et al., 2021), não variabilidade geral do monitor nem critério clínico.</a:t>
            </a:r>
            <a:endParaRPr lang="en-US" sz="1300" dirty="0"/>
          </a:p>
        </p:txBody>
      </p:sp>
      <p:sp>
        <p:nvSpPr>
          <p:cNvPr id="10" name="Text 6"/>
          <p:cNvSpPr/>
          <p:nvPr/>
        </p:nvSpPr>
        <p:spPr>
          <a:xfrm>
            <a:off x="812800" y="4672905"/>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A1A"/>
                </a:solidFill>
                <a:latin typeface="Inter" pitchFamily="34" charset="0"/>
                <a:ea typeface="Inter" pitchFamily="34" charset="-122"/>
                <a:cs typeface="Inter" pitchFamily="34" charset="-120"/>
              </a:rPr>
              <a:t>Misto vs. ativo no Figshare:</a:t>
            </a:r>
            <a:r>
              <a:rPr lang="en-US" sz="1300" dirty="0">
                <a:solidFill>
                  <a:srgbClr val="1A1A1A"/>
                </a:solidFill>
                <a:latin typeface="Inter" pitchFamily="34" charset="0"/>
                <a:ea typeface="Inter" pitchFamily="34" charset="-122"/>
                <a:cs typeface="Inter" pitchFamily="34" charset="-120"/>
              </a:rPr>
              <a:t> ΔMAE 0,34 (IC −0,28 a 0,81) — diferença não sustentada.</a:t>
            </a:r>
            <a:endParaRPr lang="en-US" sz="1300" dirty="0"/>
          </a:p>
        </p:txBody>
      </p:sp>
      <p:sp>
        <p:nvSpPr>
          <p:cNvPr id="11" name="Text 7"/>
          <p:cNvSpPr/>
          <p:nvPr/>
        </p:nvSpPr>
        <p:spPr>
          <a:xfrm>
            <a:off x="812800" y="5787430"/>
            <a:ext cx="10464800"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305080"/>
                </a:solidFill>
                <a:latin typeface="Inter" pitchFamily="34" charset="0"/>
                <a:ea typeface="Inter" pitchFamily="34" charset="-122"/>
                <a:cs typeface="Inter" pitchFamily="34" charset="-120"/>
              </a:rPr>
              <a:t>Fonte:</a:t>
            </a:r>
            <a:r>
              <a:rPr lang="en-US" sz="1100" dirty="0">
                <a:solidFill>
                  <a:srgbClr val="7A7A7A"/>
                </a:solidFill>
                <a:latin typeface="Inter" pitchFamily="34" charset="0"/>
                <a:ea typeface="Inter" pitchFamily="34" charset="-122"/>
                <a:cs typeface="Inter" pitchFamily="34" charset="-120"/>
              </a:rPr>
              <a:t> Harada et al. (2021); Field; Welsh (2007); resultados deste trabalho.</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BrainSniffer · Bruno Rocha Guimarães</a:t>
            </a:r>
            <a:endParaRPr lang="en-US" sz="1200" dirty="0"/>
          </a:p>
        </p:txBody>
      </p:sp>
      <p:sp>
        <p:nvSpPr>
          <p:cNvPr id="5" name="Text 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D4D4D"/>
                </a:solidFill>
                <a:latin typeface="Inter" pitchFamily="34" charset="0"/>
                <a:ea typeface="Inter" pitchFamily="34" charset="-122"/>
                <a:cs typeface="Inter" pitchFamily="34" charset="-120"/>
              </a:rPr>
              <a:t>17 / 24</a:t>
            </a:r>
            <a:endParaRPr lang="en-US" sz="1200" dirty="0"/>
          </a:p>
        </p:txBody>
      </p:sp>
      <p:sp>
        <p:nvSpPr>
          <p:cNvPr id="6" name="Text 3"/>
          <p:cNvSpPr/>
          <p:nvPr/>
        </p:nvSpPr>
        <p:spPr>
          <a:xfrm>
            <a:off x="812800" y="1270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05080"/>
                </a:solidFill>
                <a:latin typeface="Inter" pitchFamily="34" charset="0"/>
                <a:ea typeface="Inter" pitchFamily="34" charset="-122"/>
                <a:cs typeface="Inter" pitchFamily="34" charset="-120"/>
              </a:rPr>
              <a:t>06 · RESULTADOS — VITALDB</a:t>
            </a:r>
            <a:endParaRPr lang="en-US" sz="1200" dirty="0"/>
          </a:p>
        </p:txBody>
      </p:sp>
      <p:sp>
        <p:nvSpPr>
          <p:cNvPr id="7" name="Text 4"/>
          <p:cNvSpPr/>
          <p:nvPr>
            <p:ph type="title"/>
          </p:nvPr>
        </p:nvSpPr>
        <p:spPr>
          <a:xfrm>
            <a:off x="812800" y="1635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A1A"/>
                </a:solidFill>
                <a:latin typeface="Inter" pitchFamily="34" charset="0"/>
                <a:ea typeface="Inter" pitchFamily="34" charset="-122"/>
                <a:cs typeface="Inter" pitchFamily="34" charset="-120"/>
              </a:rPr>
              <a:t>O DESEMPENHO NÃO TRANSPORTA ENTRE FONTES</a:t>
            </a:r>
            <a:endParaRPr lang="en-US" sz="2800" dirty="0"/>
          </a:p>
        </p:txBody>
      </p:sp>
      <p:pic>
        <p:nvPicPr>
          <p:cNvPr id="8" name="Image 1" descr="Desempenho dos checkpoints ativo e misto no VitalDB, comparado ao holdout do Figshare">    </p:cNvPr>
          <p:cNvPicPr>
            <a:picLocks noChangeAspect="1"/>
          </p:cNvPicPr>
          <p:nvPr/>
        </p:nvPicPr>
        <p:blipFill>
          <a:blip r:embed="rId2"/>
          <a:srcRect l="0" r="0" t="-89" b="-89"/>
          <a:stretch/>
        </p:blipFill>
        <p:spPr>
          <a:xfrm>
            <a:off x="812800" y="2179241"/>
            <a:ext cx="5715000" cy="3200400"/>
          </a:xfrm>
          <a:prstGeom prst="rect">
            <a:avLst/>
          </a:prstGeom>
        </p:spPr>
      </p:pic>
      <p:sp>
        <p:nvSpPr>
          <p:cNvPr id="9" name="Text 5"/>
          <p:cNvSpPr/>
          <p:nvPr/>
        </p:nvSpPr>
        <p:spPr>
          <a:xfrm>
            <a:off x="6832600" y="2654399"/>
            <a:ext cx="4682998"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05080"/>
                </a:solidFill>
                <a:latin typeface="Inter" pitchFamily="34" charset="0"/>
                <a:ea typeface="Inter" pitchFamily="34" charset="-122"/>
                <a:cs typeface="Inter" pitchFamily="34" charset="-120"/>
              </a:rPr>
              <a:t>12,43</a:t>
            </a:r>
            <a:endParaRPr lang="en-US" sz="2400" dirty="0"/>
          </a:p>
        </p:txBody>
      </p:sp>
      <p:sp>
        <p:nvSpPr>
          <p:cNvPr id="10" name="Text 6"/>
          <p:cNvSpPr/>
          <p:nvPr/>
        </p:nvSpPr>
        <p:spPr>
          <a:xfrm>
            <a:off x="6832600" y="3106440"/>
            <a:ext cx="46829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MAE do ativo no VitalDB (era 7,03)</a:t>
            </a:r>
            <a:endParaRPr lang="en-US" sz="1200" dirty="0"/>
          </a:p>
        </p:txBody>
      </p:sp>
      <p:sp>
        <p:nvSpPr>
          <p:cNvPr id="11" name="Text 7"/>
          <p:cNvSpPr/>
          <p:nvPr/>
        </p:nvSpPr>
        <p:spPr>
          <a:xfrm>
            <a:off x="6832600" y="3446760"/>
            <a:ext cx="4682998"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05080"/>
                </a:solidFill>
                <a:latin typeface="Inter" pitchFamily="34" charset="0"/>
                <a:ea typeface="Inter" pitchFamily="34" charset="-122"/>
                <a:cs typeface="Inter" pitchFamily="34" charset="-120"/>
              </a:rPr>
              <a:t>0,515</a:t>
            </a:r>
            <a:endParaRPr lang="en-US" sz="2400" dirty="0"/>
          </a:p>
        </p:txBody>
      </p:sp>
      <p:sp>
        <p:nvSpPr>
          <p:cNvPr id="12" name="Text 8"/>
          <p:cNvSpPr/>
          <p:nvPr/>
        </p:nvSpPr>
        <p:spPr>
          <a:xfrm>
            <a:off x="6832600" y="3898801"/>
            <a:ext cx="46829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PK: indistinguível do acaso</a:t>
            </a:r>
            <a:endParaRPr lang="en-US" sz="1200" dirty="0"/>
          </a:p>
        </p:txBody>
      </p:sp>
      <p:sp>
        <p:nvSpPr>
          <p:cNvPr id="13" name="Text 9"/>
          <p:cNvSpPr/>
          <p:nvPr/>
        </p:nvSpPr>
        <p:spPr>
          <a:xfrm>
            <a:off x="6832600" y="4239121"/>
            <a:ext cx="4682998"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05080"/>
                </a:solidFill>
                <a:latin typeface="Inter" pitchFamily="34" charset="0"/>
                <a:ea typeface="Inter" pitchFamily="34" charset="-122"/>
                <a:cs typeface="Inter" pitchFamily="34" charset="-120"/>
              </a:rPr>
              <a:t>14 / 15</a:t>
            </a:r>
            <a:endParaRPr lang="en-US" sz="2400" dirty="0"/>
          </a:p>
        </p:txBody>
      </p:sp>
      <p:sp>
        <p:nvSpPr>
          <p:cNvPr id="14" name="Text 10"/>
          <p:cNvSpPr/>
          <p:nvPr/>
        </p:nvSpPr>
        <p:spPr>
          <a:xfrm>
            <a:off x="6832600" y="4691162"/>
            <a:ext cx="46829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casos melhoram com o misto — que já viu a fonte</a:t>
            </a:r>
            <a:endParaRPr lang="en-US" sz="1200" dirty="0"/>
          </a:p>
        </p:txBody>
      </p:sp>
      <p:sp>
        <p:nvSpPr>
          <p:cNvPr id="15" name="Text 11"/>
          <p:cNvSpPr/>
          <p:nvPr/>
        </p:nvSpPr>
        <p:spPr>
          <a:xfrm>
            <a:off x="812800" y="5787430"/>
            <a:ext cx="10464800"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305080"/>
                </a:solidFill>
                <a:latin typeface="Inter" pitchFamily="34" charset="0"/>
                <a:ea typeface="Inter" pitchFamily="34" charset="-122"/>
                <a:cs typeface="Inter" pitchFamily="34" charset="-120"/>
              </a:rPr>
              <a:t>Fonte:</a:t>
            </a:r>
            <a:r>
              <a:rPr lang="en-US" sz="1100" dirty="0">
                <a:solidFill>
                  <a:srgbClr val="7A7A7A"/>
                </a:solidFill>
                <a:latin typeface="Inter" pitchFamily="34" charset="0"/>
                <a:ea typeface="Inter" pitchFamily="34" charset="-122"/>
                <a:cs typeface="Inter" pitchFamily="34" charset="-120"/>
              </a:rPr>
              <a:t> Lee et al. (2022); Saeb et al. (2017); resultados deste trabalho.</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BrainSniffer · Bruno Rocha Guimarães</a:t>
            </a:r>
            <a:endParaRPr lang="en-US" sz="1200" dirty="0"/>
          </a:p>
        </p:txBody>
      </p:sp>
      <p:sp>
        <p:nvSpPr>
          <p:cNvPr id="5" name="Text 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D4D4D"/>
                </a:solidFill>
                <a:latin typeface="Inter" pitchFamily="34" charset="0"/>
                <a:ea typeface="Inter" pitchFamily="34" charset="-122"/>
                <a:cs typeface="Inter" pitchFamily="34" charset="-120"/>
              </a:rPr>
              <a:t>18 / 24</a:t>
            </a:r>
            <a:endParaRPr lang="en-US" sz="1200" dirty="0"/>
          </a:p>
        </p:txBody>
      </p:sp>
      <p:sp>
        <p:nvSpPr>
          <p:cNvPr id="6" name="Text 3"/>
          <p:cNvSpPr/>
          <p:nvPr/>
        </p:nvSpPr>
        <p:spPr>
          <a:xfrm>
            <a:off x="812800" y="1270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05080"/>
                </a:solidFill>
                <a:latin typeface="Inter" pitchFamily="34" charset="0"/>
                <a:ea typeface="Inter" pitchFamily="34" charset="-122"/>
                <a:cs typeface="Inter" pitchFamily="34" charset="-120"/>
              </a:rPr>
              <a:t>06 · RESULTADOS — IMPLANTABILIDADE</a:t>
            </a:r>
            <a:endParaRPr lang="en-US" sz="1200" dirty="0"/>
          </a:p>
        </p:txBody>
      </p:sp>
      <p:sp>
        <p:nvSpPr>
          <p:cNvPr id="7" name="Text 4"/>
          <p:cNvSpPr/>
          <p:nvPr>
            <p:ph type="title"/>
          </p:nvPr>
        </p:nvSpPr>
        <p:spPr>
          <a:xfrm>
            <a:off x="812800" y="1635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A1A"/>
                </a:solidFill>
                <a:latin typeface="Inter" pitchFamily="34" charset="0"/>
                <a:ea typeface="Inter" pitchFamily="34" charset="-122"/>
                <a:cs typeface="Inter" pitchFamily="34" charset="-120"/>
              </a:rPr>
              <a:t>ORDEM DE GRANDEZA DE UM MODELO 7× MAIOR</a:t>
            </a:r>
            <a:endParaRPr lang="en-US" sz="2800" dirty="0"/>
          </a:p>
        </p:txBody>
      </p:sp>
      <p:sp>
        <p:nvSpPr>
          <p:cNvPr id="8" name="Text 5"/>
          <p:cNvSpPr/>
          <p:nvPr/>
        </p:nvSpPr>
        <p:spPr>
          <a:xfrm>
            <a:off x="812800" y="2179241"/>
            <a:ext cx="1088339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D4D4D"/>
                </a:solidFill>
                <a:latin typeface="Inter" pitchFamily="34" charset="0"/>
                <a:ea typeface="Inter" pitchFamily="34" charset="-122"/>
                <a:cs typeface="Inter" pitchFamily="34" charset="-120"/>
              </a:rPr>
              <a:t>Cada ponto é um span do EWMA. Comparação de ordem de grandeza, não ranking: protocolos, seleção da suavização e avaliação diferem; o span 5 foi escolhido pós-hoc.</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3016250"/>
          <a:ext cx="5702300" cy="1714004"/>
        </p:xfrm>
        <a:graphic>
          <a:graphicData uri="http://schemas.openxmlformats.org/drawingml/2006/table">
            <a:tbl>
              <a:tblPr/>
              <a:tblGrid>
                <a:gridCol w="1710690"/>
                <a:gridCol w="1995805"/>
                <a:gridCol w="1995805"/>
              </a:tblGrid>
              <a:tr h="342801">
                <a:tc>
                  <a:txBody>
                    <a:bodyPr/>
                    <a:lstStyle/>
                    <a:p>
                      <a:pPr indent="0" marL="0">
                        <a:lnSpc>
                          <a:spcPts val="1820"/>
                        </a:lnSpc>
                        <a:buNone/>
                      </a:pPr>
                      <a:r>
                        <a:rPr lang="en-US" sz="1300" b="1" dirty="0">
                          <a:solidFill>
                            <a:srgbClr val="305080"/>
                          </a:solidFill>
                          <a:latin typeface="Inter" pitchFamily="34" charset="0"/>
                          <a:ea typeface="Inter" pitchFamily="34" charset="-122"/>
                          <a:cs typeface="Inter" pitchFamily="34" charset="-120"/>
                        </a:rPr>
                        <a:t>Métrica</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305080"/>
                          </a:solidFill>
                          <a:latin typeface="Inter" pitchFamily="34" charset="0"/>
                          <a:ea typeface="Inter" pitchFamily="34" charset="-122"/>
                          <a:cs typeface="Inter" pitchFamily="34" charset="-120"/>
                        </a:rPr>
                        <a:t>BrainSniffer</a:t>
                      </a:r>
                      <a:endParaRPr lang="en-US" sz="1300" dirty="0">
                        <a:latin typeface="Inter" charset="0"/>
                        <a:ea typeface="Inter" charset="0"/>
                        <a:cs typeface="Inter"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305080"/>
                          </a:solidFill>
                          <a:latin typeface="Inter" pitchFamily="34" charset="0"/>
                          <a:ea typeface="Inter" pitchFamily="34" charset="-122"/>
                          <a:cs typeface="Inter" pitchFamily="34" charset="-120"/>
                        </a:rPr>
                        <a:t>TCN-BiLSTM</a:t>
                      </a:r>
                      <a:endParaRPr lang="en-US" sz="1300" dirty="0">
                        <a:latin typeface="Inter" charset="0"/>
                        <a:ea typeface="Inter" charset="0"/>
                        <a:cs typeface="Inter"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42801">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MAE Figshare</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6,11 (span 5)</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6,03 ± 0,38</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2801">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Memória</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10 s</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45–95 s</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2801">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Parâmetros</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0,15 M</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1,07 M</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2801">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Causal ao vivo</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Sim</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A1A"/>
                          </a:solidFill>
                          <a:latin typeface="Inter" pitchFamily="34" charset="0"/>
                          <a:ea typeface="Inter" pitchFamily="34" charset="-122"/>
                          <a:cs typeface="Inter" pitchFamily="34" charset="-120"/>
                        </a:rPr>
                        <a:t>Não</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pic>
        <p:nvPicPr>
          <p:cNvPr id="10" name="Image 1" descr="Curva de MAE por idade média das amostras do EWMA para o BrainSniffer, comparada à faixa do TCN-BiLSTM">    </p:cNvPr>
          <p:cNvPicPr>
            <a:picLocks noChangeAspect="1"/>
          </p:cNvPicPr>
          <p:nvPr/>
        </p:nvPicPr>
        <p:blipFill>
          <a:blip r:embed="rId2"/>
          <a:srcRect l="0" r="0" t="-65" b="-65"/>
          <a:stretch/>
        </p:blipFill>
        <p:spPr>
          <a:xfrm>
            <a:off x="6832600" y="2793802"/>
            <a:ext cx="4546600" cy="2146300"/>
          </a:xfrm>
          <a:prstGeom prst="rect">
            <a:avLst/>
          </a:prstGeom>
        </p:spPr>
      </p:pic>
      <p:sp>
        <p:nvSpPr>
          <p:cNvPr id="11" name="Text 6"/>
          <p:cNvSpPr/>
          <p:nvPr/>
        </p:nvSpPr>
        <p:spPr>
          <a:xfrm>
            <a:off x="812800" y="5092502"/>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D4D4D"/>
                </a:solidFill>
                <a:latin typeface="Inter" pitchFamily="34" charset="0"/>
                <a:ea typeface="Inter" pitchFamily="34" charset="-122"/>
                <a:cs typeface="Inter" pitchFamily="34" charset="-120"/>
              </a:rPr>
              <a:t>TCN-BiLSTM — BiLSTM bidirecional e filtro de fase zero. Com span 10, o misto chega a 5,84 (22,5 s).</a:t>
            </a:r>
            <a:endParaRPr lang="en-US" sz="1300" dirty="0"/>
          </a:p>
        </p:txBody>
      </p:sp>
      <p:sp>
        <p:nvSpPr>
          <p:cNvPr id="12" name="Text 7"/>
          <p:cNvSpPr/>
          <p:nvPr/>
        </p:nvSpPr>
        <p:spPr>
          <a:xfrm>
            <a:off x="812800" y="5787430"/>
            <a:ext cx="10464800"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305080"/>
                </a:solidFill>
                <a:latin typeface="Inter" pitchFamily="34" charset="0"/>
                <a:ea typeface="Inter" pitchFamily="34" charset="-122"/>
                <a:cs typeface="Inter" pitchFamily="34" charset="-120"/>
              </a:rPr>
              <a:t>Fonte:</a:t>
            </a:r>
            <a:r>
              <a:rPr lang="en-US" sz="1100" dirty="0">
                <a:solidFill>
                  <a:srgbClr val="7A7A7A"/>
                </a:solidFill>
                <a:latin typeface="Inter" pitchFamily="34" charset="0"/>
                <a:ea typeface="Inter" pitchFamily="34" charset="-122"/>
                <a:cs typeface="Inter" pitchFamily="34" charset="-120"/>
              </a:rPr>
              <a:t> Sukriti et al. (2026); Park et al. (2020); Kiranyaz et al. (2021).</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BrainSniffer · Bruno Rocha Guimarães</a:t>
            </a:r>
            <a:endParaRPr lang="en-US" sz="1200" dirty="0"/>
          </a:p>
        </p:txBody>
      </p:sp>
      <p:sp>
        <p:nvSpPr>
          <p:cNvPr id="5" name="Text 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D4D4D"/>
                </a:solidFill>
                <a:latin typeface="Inter" pitchFamily="34" charset="0"/>
                <a:ea typeface="Inter" pitchFamily="34" charset="-122"/>
                <a:cs typeface="Inter" pitchFamily="34" charset="-120"/>
              </a:rPr>
              <a:t>19 / 24</a:t>
            </a:r>
            <a:endParaRPr lang="en-US" sz="1200" dirty="0"/>
          </a:p>
        </p:txBody>
      </p:sp>
      <p:sp>
        <p:nvSpPr>
          <p:cNvPr id="6" name="Text 3"/>
          <p:cNvSpPr/>
          <p:nvPr/>
        </p:nvSpPr>
        <p:spPr>
          <a:xfrm>
            <a:off x="812800" y="1270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05080"/>
                </a:solidFill>
                <a:latin typeface="Inter" pitchFamily="34" charset="0"/>
                <a:ea typeface="Inter" pitchFamily="34" charset="-122"/>
                <a:cs typeface="Inter" pitchFamily="34" charset="-120"/>
              </a:rPr>
              <a:t>07 · CONCLUSÃO</a:t>
            </a:r>
            <a:endParaRPr lang="en-US" sz="1200" dirty="0"/>
          </a:p>
        </p:txBody>
      </p:sp>
      <p:sp>
        <p:nvSpPr>
          <p:cNvPr id="7" name="Text 4"/>
          <p:cNvSpPr/>
          <p:nvPr>
            <p:ph type="title"/>
          </p:nvPr>
        </p:nvSpPr>
        <p:spPr>
          <a:xfrm>
            <a:off x="812800" y="1635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A1A"/>
                </a:solidFill>
                <a:latin typeface="Inter" pitchFamily="34" charset="0"/>
                <a:ea typeface="Inter" pitchFamily="34" charset="-122"/>
                <a:cs typeface="Inter" pitchFamily="34" charset="-120"/>
              </a:rPr>
              <a:t>O QUE ESTE TRABALHO ENTREGA</a:t>
            </a:r>
            <a:endParaRPr lang="en-US" sz="2800" dirty="0"/>
          </a:p>
        </p:txBody>
      </p:sp>
      <p:sp>
        <p:nvSpPr>
          <p:cNvPr id="8" name="Shape 5"/>
          <p:cNvSpPr/>
          <p:nvPr/>
        </p:nvSpPr>
        <p:spPr>
          <a:xfrm>
            <a:off x="812800" y="2185591"/>
            <a:ext cx="10566400" cy="0"/>
          </a:xfrm>
          <a:prstGeom prst="line">
            <a:avLst/>
          </a:prstGeom>
          <a:noFill/>
          <a:ln w="12700">
            <a:solidFill>
              <a:srgbClr val="D9D9D9"/>
            </a:solidFill>
            <a:prstDash val="solid"/>
          </a:ln>
        </p:spPr>
      </p:sp>
      <p:sp>
        <p:nvSpPr>
          <p:cNvPr id="9" name="Text 6"/>
          <p:cNvSpPr/>
          <p:nvPr/>
        </p:nvSpPr>
        <p:spPr>
          <a:xfrm>
            <a:off x="812800" y="2318941"/>
            <a:ext cx="5588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05080"/>
                </a:solidFill>
                <a:latin typeface="Inter" pitchFamily="34" charset="0"/>
                <a:ea typeface="Inter" pitchFamily="34" charset="-122"/>
                <a:cs typeface="Inter" pitchFamily="34" charset="-120"/>
              </a:rPr>
              <a:t>i</a:t>
            </a:r>
            <a:endParaRPr lang="en-US" sz="2400" dirty="0"/>
          </a:p>
        </p:txBody>
      </p:sp>
      <p:sp>
        <p:nvSpPr>
          <p:cNvPr id="10" name="Text 7"/>
          <p:cNvSpPr/>
          <p:nvPr/>
        </p:nvSpPr>
        <p:spPr>
          <a:xfrm>
            <a:off x="1574800" y="2318941"/>
            <a:ext cx="1036015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A1A"/>
                </a:solidFill>
                <a:latin typeface="Inter" pitchFamily="34" charset="0"/>
                <a:ea typeface="Inter" pitchFamily="34" charset="-122"/>
                <a:cs typeface="Inter" pitchFamily="34" charset="-120"/>
              </a:rPr>
              <a:t>Aproxima o rótulo BIS</a:t>
            </a:r>
            <a:endParaRPr lang="en-US" sz="1600" dirty="0"/>
          </a:p>
        </p:txBody>
      </p:sp>
      <p:sp>
        <p:nvSpPr>
          <p:cNvPr id="11" name="Text 8"/>
          <p:cNvSpPr/>
          <p:nvPr/>
        </p:nvSpPr>
        <p:spPr>
          <a:xfrm>
            <a:off x="1574800" y="2613521"/>
            <a:ext cx="1036015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MAE 7,03, abaixo da escala de leitura de 10 pontos, com validação por caso, e ordena a cirurgia como a referência (PK 0,773).</a:t>
            </a:r>
            <a:endParaRPr lang="en-US" sz="1400" dirty="0"/>
          </a:p>
        </p:txBody>
      </p:sp>
      <p:sp>
        <p:nvSpPr>
          <p:cNvPr id="12" name="Shape 9"/>
          <p:cNvSpPr/>
          <p:nvPr/>
        </p:nvSpPr>
        <p:spPr>
          <a:xfrm>
            <a:off x="812800" y="3269952"/>
            <a:ext cx="10566400" cy="0"/>
          </a:xfrm>
          <a:prstGeom prst="line">
            <a:avLst/>
          </a:prstGeom>
          <a:noFill/>
          <a:ln w="12700">
            <a:solidFill>
              <a:srgbClr val="D9D9D9"/>
            </a:solidFill>
            <a:prstDash val="solid"/>
          </a:ln>
        </p:spPr>
      </p:sp>
      <p:sp>
        <p:nvSpPr>
          <p:cNvPr id="13" name="Text 10"/>
          <p:cNvSpPr/>
          <p:nvPr/>
        </p:nvSpPr>
        <p:spPr>
          <a:xfrm>
            <a:off x="812800" y="3403302"/>
            <a:ext cx="5588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05080"/>
                </a:solidFill>
                <a:latin typeface="Inter" pitchFamily="34" charset="0"/>
                <a:ea typeface="Inter" pitchFamily="34" charset="-122"/>
                <a:cs typeface="Inter" pitchFamily="34" charset="-120"/>
              </a:rPr>
              <a:t>ii</a:t>
            </a:r>
            <a:endParaRPr lang="en-US" sz="2400" dirty="0"/>
          </a:p>
        </p:txBody>
      </p:sp>
      <p:sp>
        <p:nvSpPr>
          <p:cNvPr id="14" name="Text 11"/>
          <p:cNvSpPr/>
          <p:nvPr/>
        </p:nvSpPr>
        <p:spPr>
          <a:xfrm>
            <a:off x="1574800" y="3403302"/>
            <a:ext cx="1036015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A1A"/>
                </a:solidFill>
                <a:latin typeface="Inter" pitchFamily="34" charset="0"/>
                <a:ea typeface="Inter" pitchFamily="34" charset="-122"/>
                <a:cs typeface="Inter" pitchFamily="34" charset="-120"/>
              </a:rPr>
              <a:t>Competitiva e implantável</a:t>
            </a:r>
            <a:endParaRPr lang="en-US" sz="1600" dirty="0"/>
          </a:p>
        </p:txBody>
      </p:sp>
      <p:sp>
        <p:nvSpPr>
          <p:cNvPr id="15" name="Text 12"/>
          <p:cNvSpPr/>
          <p:nvPr/>
        </p:nvSpPr>
        <p:spPr>
          <a:xfrm>
            <a:off x="1574800" y="3697883"/>
            <a:ext cx="1036015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Com EWMA causal, 6,11 em 10 s — na faixa de um modelo 7× maior, em CPU e sem acesso ao futuro.</a:t>
            </a:r>
            <a:endParaRPr lang="en-US" sz="1400" dirty="0"/>
          </a:p>
        </p:txBody>
      </p:sp>
      <p:sp>
        <p:nvSpPr>
          <p:cNvPr id="16" name="Shape 13"/>
          <p:cNvSpPr/>
          <p:nvPr/>
        </p:nvSpPr>
        <p:spPr>
          <a:xfrm>
            <a:off x="812800" y="4105473"/>
            <a:ext cx="10566400" cy="0"/>
          </a:xfrm>
          <a:prstGeom prst="line">
            <a:avLst/>
          </a:prstGeom>
          <a:noFill/>
          <a:ln w="12700">
            <a:solidFill>
              <a:srgbClr val="D9D9D9"/>
            </a:solidFill>
            <a:prstDash val="solid"/>
          </a:ln>
        </p:spPr>
      </p:sp>
      <p:sp>
        <p:nvSpPr>
          <p:cNvPr id="17" name="Text 14"/>
          <p:cNvSpPr/>
          <p:nvPr/>
        </p:nvSpPr>
        <p:spPr>
          <a:xfrm>
            <a:off x="812800" y="4238823"/>
            <a:ext cx="5588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05080"/>
                </a:solidFill>
                <a:latin typeface="Inter" pitchFamily="34" charset="0"/>
                <a:ea typeface="Inter" pitchFamily="34" charset="-122"/>
                <a:cs typeface="Inter" pitchFamily="34" charset="-120"/>
              </a:rPr>
              <a:t>iii</a:t>
            </a:r>
            <a:endParaRPr lang="en-US" sz="2400" dirty="0"/>
          </a:p>
        </p:txBody>
      </p:sp>
      <p:sp>
        <p:nvSpPr>
          <p:cNvPr id="18" name="Text 15"/>
          <p:cNvSpPr/>
          <p:nvPr/>
        </p:nvSpPr>
        <p:spPr>
          <a:xfrm>
            <a:off x="1574800" y="4238823"/>
            <a:ext cx="1036015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A1A"/>
                </a:solidFill>
                <a:latin typeface="Inter" pitchFamily="34" charset="0"/>
                <a:ea typeface="Inter" pitchFamily="34" charset="-122"/>
                <a:cs typeface="Inter" pitchFamily="34" charset="-120"/>
              </a:rPr>
              <a:t>Não transporta entre fontes</a:t>
            </a:r>
            <a:endParaRPr lang="en-US" sz="1600" dirty="0"/>
          </a:p>
        </p:txBody>
      </p:sp>
      <p:sp>
        <p:nvSpPr>
          <p:cNvPr id="19" name="Text 16"/>
          <p:cNvSpPr/>
          <p:nvPr/>
        </p:nvSpPr>
        <p:spPr>
          <a:xfrm>
            <a:off x="1574800" y="4533404"/>
            <a:ext cx="1036015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nter" pitchFamily="34" charset="0"/>
                <a:ea typeface="Inter" pitchFamily="34" charset="-122"/>
                <a:cs typeface="Inter" pitchFamily="34" charset="-120"/>
              </a:rPr>
              <a:t>No VitalDB, PK 0,515. A prioridade passa de “modelo maior” para “dados da fonte”.</a:t>
            </a:r>
            <a:endParaRPr lang="en-US" sz="1400" dirty="0"/>
          </a:p>
        </p:txBody>
      </p:sp>
      <p:sp>
        <p:nvSpPr>
          <p:cNvPr id="20" name="Text 17"/>
          <p:cNvSpPr/>
          <p:nvPr/>
        </p:nvSpPr>
        <p:spPr>
          <a:xfrm>
            <a:off x="812800" y="4934645"/>
            <a:ext cx="10566400" cy="904081"/>
          </a:xfrm>
          <a:prstGeom prst="rect">
            <a:avLst/>
          </a:prstGeom>
          <a:solidFill>
            <a:srgbClr val="F3F5F8"/>
          </a:solidFill>
          <a:ln/>
        </p:spPr>
        <p:txBody>
          <a:bodyPr wrap="square" lIns="254000" tIns="203200" rIns="0" bIns="177800" rtlCol="0" anchor="t">
            <a:normAutofit/>
          </a:bodyPr>
          <a:lstStyle/>
          <a:p>
            <a:pPr algn="l" indent="0" marL="0">
              <a:lnSpc>
                <a:spcPts val="1960"/>
              </a:lnSpc>
              <a:buNone/>
            </a:pPr>
            <a:r>
              <a:rPr lang="en-US" sz="1400" b="1" dirty="0">
                <a:solidFill>
                  <a:srgbClr val="1A1A1A"/>
                </a:solidFill>
                <a:latin typeface="Inter" pitchFamily="34" charset="0"/>
                <a:ea typeface="Inter" pitchFamily="34" charset="-122"/>
                <a:cs typeface="Inter" pitchFamily="34" charset="-120"/>
              </a:rPr>
              <a:t>Contribuição:</a:t>
            </a:r>
            <a:r>
              <a:rPr lang="en-US" sz="1400" dirty="0">
                <a:solidFill>
                  <a:srgbClr val="1A1A1A"/>
                </a:solidFill>
                <a:latin typeface="Inter" pitchFamily="34" charset="0"/>
                <a:ea typeface="Inter" pitchFamily="34" charset="-122"/>
                <a:cs typeface="Inter" pitchFamily="34" charset="-120"/>
              </a:rPr>
              <a:t> uma cadeia compacta, causal e auditável (hashes, partições, replay) para testar hipóteses — não um sistema clínico.</a:t>
            </a:r>
            <a:endParaRPr lang="en-US" sz="1400" dirty="0"/>
          </a:p>
        </p:txBody>
      </p:sp>
      <p:sp>
        <p:nvSpPr>
          <p:cNvPr id="21" name="Shape 18"/>
          <p:cNvSpPr/>
          <p:nvPr/>
        </p:nvSpPr>
        <p:spPr>
          <a:xfrm>
            <a:off x="838200" y="4934645"/>
            <a:ext cx="0" cy="904081"/>
          </a:xfrm>
          <a:prstGeom prst="line">
            <a:avLst/>
          </a:prstGeom>
          <a:noFill/>
          <a:ln w="50800">
            <a:solidFill>
              <a:srgbClr val="305080"/>
            </a:solidFill>
            <a:prstDash val="solid"/>
          </a:ln>
        </p:spPr>
      </p:sp>
      <p:sp>
        <p:nvSpPr>
          <p:cNvPr id="22" name="Text 19"/>
          <p:cNvSpPr/>
          <p:nvPr/>
        </p:nvSpPr>
        <p:spPr>
          <a:xfrm>
            <a:off x="812800" y="5863630"/>
            <a:ext cx="10464800"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305080"/>
                </a:solidFill>
                <a:latin typeface="Inter" pitchFamily="34" charset="0"/>
                <a:ea typeface="Inter" pitchFamily="34" charset="-122"/>
                <a:cs typeface="Inter" pitchFamily="34" charset="-120"/>
              </a:rPr>
              <a:t>Fonte:</a:t>
            </a:r>
            <a:r>
              <a:rPr lang="en-US" sz="1100" dirty="0">
                <a:solidFill>
                  <a:srgbClr val="7A7A7A"/>
                </a:solidFill>
                <a:latin typeface="Inter" pitchFamily="34" charset="0"/>
                <a:ea typeface="Inter" pitchFamily="34" charset="-122"/>
                <a:cs typeface="Inter" pitchFamily="34" charset="-120"/>
              </a:rPr>
              <a:t> resultados deste trabalho; Sukriti et al. (2026).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BrainSniffer · Bruno Rocha Guimarães</a:t>
            </a:r>
            <a:endParaRPr lang="en-US" sz="1200" dirty="0"/>
          </a:p>
        </p:txBody>
      </p:sp>
      <p:sp>
        <p:nvSpPr>
          <p:cNvPr id="5" name="Text 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D4D4D"/>
                </a:solidFill>
                <a:latin typeface="Inter" pitchFamily="34" charset="0"/>
                <a:ea typeface="Inter" pitchFamily="34" charset="-122"/>
                <a:cs typeface="Inter" pitchFamily="34" charset="-120"/>
              </a:rPr>
              <a:t>20 / 24</a:t>
            </a:r>
            <a:endParaRPr lang="en-US" sz="1200" dirty="0"/>
          </a:p>
        </p:txBody>
      </p:sp>
      <p:sp>
        <p:nvSpPr>
          <p:cNvPr id="6" name="Text 3"/>
          <p:cNvSpPr/>
          <p:nvPr/>
        </p:nvSpPr>
        <p:spPr>
          <a:xfrm>
            <a:off x="812800" y="1270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05080"/>
                </a:solidFill>
                <a:latin typeface="Inter" pitchFamily="34" charset="0"/>
                <a:ea typeface="Inter" pitchFamily="34" charset="-122"/>
                <a:cs typeface="Inter" pitchFamily="34" charset="-120"/>
              </a:rPr>
              <a:t>07 · LIMITAÇÕES</a:t>
            </a:r>
            <a:endParaRPr lang="en-US" sz="1200" dirty="0"/>
          </a:p>
        </p:txBody>
      </p:sp>
      <p:sp>
        <p:nvSpPr>
          <p:cNvPr id="7" name="Text 4"/>
          <p:cNvSpPr/>
          <p:nvPr>
            <p:ph type="title"/>
          </p:nvPr>
        </p:nvSpPr>
        <p:spPr>
          <a:xfrm>
            <a:off x="812800" y="1635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A1A"/>
                </a:solidFill>
                <a:latin typeface="Inter" pitchFamily="34" charset="0"/>
                <a:ea typeface="Inter" pitchFamily="34" charset="-122"/>
                <a:cs typeface="Inter" pitchFamily="34" charset="-120"/>
              </a:rPr>
              <a:t>LIMITAÇÕES E PRÓXIMOS PASSOS</a:t>
            </a:r>
            <a:endParaRPr lang="en-US" sz="2800" dirty="0"/>
          </a:p>
        </p:txBody>
      </p:sp>
      <p:sp>
        <p:nvSpPr>
          <p:cNvPr id="8" name="Shape 5"/>
          <p:cNvSpPr/>
          <p:nvPr/>
        </p:nvSpPr>
        <p:spPr>
          <a:xfrm>
            <a:off x="812800" y="2179241"/>
            <a:ext cx="5181600" cy="2224683"/>
          </a:xfrm>
          <a:prstGeom prst="rect">
            <a:avLst/>
          </a:prstGeom>
          <a:solidFill>
            <a:srgbClr val="F3F5F8"/>
          </a:solidFill>
          <a:ln/>
        </p:spPr>
      </p:sp>
      <p:sp>
        <p:nvSpPr>
          <p:cNvPr id="9" name="Shape 6"/>
          <p:cNvSpPr/>
          <p:nvPr/>
        </p:nvSpPr>
        <p:spPr>
          <a:xfrm>
            <a:off x="812800" y="2198291"/>
            <a:ext cx="5181600" cy="0"/>
          </a:xfrm>
          <a:prstGeom prst="line">
            <a:avLst/>
          </a:prstGeom>
          <a:noFill/>
          <a:ln w="38100">
            <a:solidFill>
              <a:srgbClr val="305080"/>
            </a:solidFill>
            <a:prstDash val="solid"/>
          </a:ln>
        </p:spPr>
      </p:sp>
      <p:sp>
        <p:nvSpPr>
          <p:cNvPr id="10" name="Text 7"/>
          <p:cNvSpPr/>
          <p:nvPr/>
        </p:nvSpPr>
        <p:spPr>
          <a:xfrm>
            <a:off x="1016000" y="2420541"/>
            <a:ext cx="491845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A1A"/>
                </a:solidFill>
                <a:latin typeface="Inter" pitchFamily="34" charset="0"/>
                <a:ea typeface="Inter" pitchFamily="34" charset="-122"/>
                <a:cs typeface="Inter" pitchFamily="34" charset="-120"/>
              </a:rPr>
              <a:t>Limitações</a:t>
            </a:r>
            <a:endParaRPr lang="en-US" sz="1600" dirty="0"/>
          </a:p>
        </p:txBody>
      </p:sp>
      <p:sp>
        <p:nvSpPr>
          <p:cNvPr id="11" name="Text 8"/>
          <p:cNvSpPr/>
          <p:nvPr/>
        </p:nvSpPr>
        <p:spPr>
          <a:xfrm>
            <a:off x="1016000" y="274052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Retrospectivo e exploratório: 5 casos no holdout Figshare</a:t>
            </a:r>
            <a:endParaRPr lang="en-US" sz="1300" dirty="0"/>
          </a:p>
        </p:txBody>
      </p:sp>
      <p:sp>
        <p:nvSpPr>
          <p:cNvPr id="12" name="Text 9"/>
          <p:cNvSpPr/>
          <p:nvPr/>
        </p:nvSpPr>
        <p:spPr>
          <a:xfrm>
            <a:off x="1016000" y="304780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Benchmark VitalDB reusado após exposição ao domínio</a:t>
            </a:r>
            <a:endParaRPr lang="en-US" sz="1300" dirty="0"/>
          </a:p>
        </p:txBody>
      </p:sp>
      <p:sp>
        <p:nvSpPr>
          <p:cNvPr id="13" name="Text 10"/>
          <p:cNvSpPr/>
          <p:nvPr/>
        </p:nvSpPr>
        <p:spPr>
          <a:xfrm>
            <a:off x="1016000" y="335508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Imputação offline pode usar amostras futuras</a:t>
            </a:r>
            <a:endParaRPr lang="en-US" sz="1300" dirty="0"/>
          </a:p>
        </p:txBody>
      </p:sp>
      <p:sp>
        <p:nvSpPr>
          <p:cNvPr id="14" name="Text 11"/>
          <p:cNvSpPr/>
          <p:nvPr/>
        </p:nvSpPr>
        <p:spPr>
          <a:xfrm>
            <a:off x="1016000" y="366236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Alvo é o BIS: sensível a EMG, cetamina e atrasos</a:t>
            </a:r>
            <a:endParaRPr lang="en-US" sz="1300" dirty="0"/>
          </a:p>
        </p:txBody>
      </p:sp>
      <p:sp>
        <p:nvSpPr>
          <p:cNvPr id="15" name="Text 12"/>
          <p:cNvSpPr/>
          <p:nvPr/>
        </p:nvSpPr>
        <p:spPr>
          <a:xfrm>
            <a:off x="1016000" y="3969643"/>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EWMA pós-hoc, com span escolhido após os resultados</a:t>
            </a:r>
            <a:endParaRPr lang="en-US" sz="1300" dirty="0"/>
          </a:p>
        </p:txBody>
      </p:sp>
      <p:sp>
        <p:nvSpPr>
          <p:cNvPr id="16" name="Shape 13"/>
          <p:cNvSpPr/>
          <p:nvPr/>
        </p:nvSpPr>
        <p:spPr>
          <a:xfrm>
            <a:off x="6197600" y="2179241"/>
            <a:ext cx="5181600" cy="2224683"/>
          </a:xfrm>
          <a:prstGeom prst="rect">
            <a:avLst/>
          </a:prstGeom>
          <a:solidFill>
            <a:srgbClr val="F3F5F8"/>
          </a:solidFill>
          <a:ln/>
        </p:spPr>
      </p:sp>
      <p:sp>
        <p:nvSpPr>
          <p:cNvPr id="17" name="Shape 14"/>
          <p:cNvSpPr/>
          <p:nvPr/>
        </p:nvSpPr>
        <p:spPr>
          <a:xfrm>
            <a:off x="6197600" y="2198291"/>
            <a:ext cx="5181600" cy="0"/>
          </a:xfrm>
          <a:prstGeom prst="line">
            <a:avLst/>
          </a:prstGeom>
          <a:noFill/>
          <a:ln w="38100">
            <a:solidFill>
              <a:srgbClr val="305080"/>
            </a:solidFill>
            <a:prstDash val="solid"/>
          </a:ln>
        </p:spPr>
      </p:sp>
      <p:sp>
        <p:nvSpPr>
          <p:cNvPr id="18" name="Text 15"/>
          <p:cNvSpPr/>
          <p:nvPr/>
        </p:nvSpPr>
        <p:spPr>
          <a:xfrm>
            <a:off x="6400800" y="2420541"/>
            <a:ext cx="491845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A1A"/>
                </a:solidFill>
                <a:latin typeface="Inter" pitchFamily="34" charset="0"/>
                <a:ea typeface="Inter" pitchFamily="34" charset="-122"/>
                <a:cs typeface="Inter" pitchFamily="34" charset="-120"/>
              </a:rPr>
              <a:t>Próximos passos</a:t>
            </a:r>
            <a:endParaRPr lang="en-US" sz="1600" dirty="0"/>
          </a:p>
        </p:txBody>
      </p:sp>
      <p:sp>
        <p:nvSpPr>
          <p:cNvPr id="19" name="Text 16"/>
          <p:cNvSpPr/>
          <p:nvPr/>
        </p:nvSpPr>
        <p:spPr>
          <a:xfrm>
            <a:off x="6400800" y="274052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Coorte travada de outra fonte, partição definida antes</a:t>
            </a:r>
            <a:endParaRPr lang="en-US" sz="1300" dirty="0"/>
          </a:p>
        </p:txBody>
      </p:sp>
      <p:sp>
        <p:nvSpPr>
          <p:cNvPr id="20" name="Text 17"/>
          <p:cNvSpPr/>
          <p:nvPr/>
        </p:nvSpPr>
        <p:spPr>
          <a:xfrm>
            <a:off x="6400800" y="304780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Métricas primárias pré-registradas (MAE e PK)</a:t>
            </a:r>
            <a:endParaRPr lang="en-US" sz="1300" dirty="0"/>
          </a:p>
        </p:txBody>
      </p:sp>
      <p:sp>
        <p:nvSpPr>
          <p:cNvPr id="21" name="Text 18"/>
          <p:cNvSpPr/>
          <p:nvPr/>
        </p:nvSpPr>
        <p:spPr>
          <a:xfrm>
            <a:off x="6400800" y="335508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Treinar com mais fontes, auditando por hashes</a:t>
            </a:r>
            <a:endParaRPr lang="en-US" sz="1300" dirty="0"/>
          </a:p>
        </p:txBody>
      </p:sp>
      <p:sp>
        <p:nvSpPr>
          <p:cNvPr id="22" name="Text 19"/>
          <p:cNvSpPr/>
          <p:nvPr/>
        </p:nvSpPr>
        <p:spPr>
          <a:xfrm>
            <a:off x="6400800" y="366236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Medir sensibilidade a EMG e ao notch por centro</a:t>
            </a:r>
            <a:endParaRPr lang="en-US" sz="1300" dirty="0"/>
          </a:p>
        </p:txBody>
      </p:sp>
      <p:sp>
        <p:nvSpPr>
          <p:cNvPr id="23" name="Text 20"/>
          <p:cNvSpPr/>
          <p:nvPr/>
        </p:nvSpPr>
        <p:spPr>
          <a:xfrm>
            <a:off x="6400800" y="3969643"/>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Inter" pitchFamily="34" charset="0"/>
                <a:ea typeface="Inter" pitchFamily="34" charset="-122"/>
                <a:cs typeface="Inter" pitchFamily="34" charset="-120"/>
              </a:rPr>
              <a:t>Avaliação prospectiva da cadeia ao vivo</a:t>
            </a:r>
            <a:endParaRPr lang="en-US" sz="1300" dirty="0"/>
          </a:p>
        </p:txBody>
      </p:sp>
      <p:sp>
        <p:nvSpPr>
          <p:cNvPr id="24" name="Text 21"/>
          <p:cNvSpPr/>
          <p:nvPr/>
        </p:nvSpPr>
        <p:spPr>
          <a:xfrm>
            <a:off x="812800" y="455632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1A1A"/>
                </a:solidFill>
                <a:latin typeface="Inter" pitchFamily="34" charset="0"/>
                <a:ea typeface="Inter" pitchFamily="34" charset="-122"/>
                <a:cs typeface="Inter" pitchFamily="34" charset="-120"/>
              </a:rPr>
              <a:t>Importante:</a:t>
            </a:r>
            <a:r>
              <a:rPr lang="en-US" sz="1400" dirty="0">
                <a:solidFill>
                  <a:srgbClr val="1A1A1A"/>
                </a:solidFill>
                <a:latin typeface="Inter" pitchFamily="34" charset="0"/>
                <a:ea typeface="Inter" pitchFamily="34" charset="-122"/>
                <a:cs typeface="Inter" pitchFamily="34" charset="-120"/>
              </a:rPr>
              <a:t> o BrainSniffer não mede consciência, não prescreve dose e não deve acionar alarme ou conduta clínica.</a:t>
            </a:r>
            <a:endParaRPr lang="en-US" sz="1400" dirty="0"/>
          </a:p>
        </p:txBody>
      </p:sp>
      <p:sp>
        <p:nvSpPr>
          <p:cNvPr id="25" name="Text 22"/>
          <p:cNvSpPr/>
          <p:nvPr/>
        </p:nvSpPr>
        <p:spPr>
          <a:xfrm>
            <a:off x="812800" y="5787430"/>
            <a:ext cx="10464800"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305080"/>
                </a:solidFill>
                <a:latin typeface="Inter" pitchFamily="34" charset="0"/>
                <a:ea typeface="Inter" pitchFamily="34" charset="-122"/>
                <a:cs typeface="Inter" pitchFamily="34" charset="-120"/>
              </a:rPr>
              <a:t>Fonte:</a:t>
            </a:r>
            <a:r>
              <a:rPr lang="en-US" sz="1100" dirty="0">
                <a:solidFill>
                  <a:srgbClr val="7A7A7A"/>
                </a:solidFill>
                <a:latin typeface="Inter" pitchFamily="34" charset="0"/>
                <a:ea typeface="Inter" pitchFamily="34" charset="-122"/>
                <a:cs typeface="Inter" pitchFamily="34" charset="-120"/>
              </a:rPr>
              <a:t> Collins et al. (2024); Archer et al. (2021); Saeb et al. (2017); Garbe et al. (2026).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03A5C"/>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alphaModFix amt="30000"/>
          </a:blip>
          <a:srcRect l="10113" r="10113" t="0" b="0"/>
          <a:stretch/>
        </p:blipFill>
        <p:spPr>
          <a:xfrm>
            <a:off x="0" y="0"/>
            <a:ext cx="12192000" cy="6858000"/>
          </a:xfrm>
          <a:prstGeom prst="rect">
            <a:avLst/>
          </a:prstGeom>
        </p:spPr>
      </p:pic>
      <p:pic>
        <p:nvPicPr>
          <p:cNvPr id="3" name="Image 1" descr="Logotipo UniJorge">    </p:cNvPr>
          <p:cNvPicPr>
            <a:picLocks noChangeAspect="1"/>
          </p:cNvPicPr>
          <p:nvPr/>
        </p:nvPicPr>
        <p:blipFill>
          <a:blip r:embed="rId2"/>
          <a:srcRect l="0" r="0" t="0" b="0"/>
          <a:stretch/>
        </p:blipFill>
        <p:spPr>
          <a:xfrm>
            <a:off x="812800" y="609600"/>
            <a:ext cx="952500" cy="673100"/>
          </a:xfrm>
          <a:prstGeom prst="rect">
            <a:avLst/>
          </a:prstGeom>
        </p:spPr>
      </p:pic>
      <p:sp>
        <p:nvSpPr>
          <p:cNvPr id="4" name="Text 0"/>
          <p:cNvSpPr/>
          <p:nvPr/>
        </p:nvSpPr>
        <p:spPr>
          <a:xfrm>
            <a:off x="812800" y="2301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FFFF"/>
                </a:solidFill>
                <a:latin typeface="Inter" pitchFamily="34" charset="0"/>
                <a:ea typeface="Inter" pitchFamily="34" charset="-122"/>
                <a:cs typeface="Inter" pitchFamily="34" charset="-120"/>
              </a:rPr>
              <a:t>BRAINSNIFFER · TCC</a:t>
            </a:r>
            <a:endParaRPr lang="en-US" sz="1200" dirty="0"/>
          </a:p>
        </p:txBody>
      </p:sp>
      <p:sp>
        <p:nvSpPr>
          <p:cNvPr id="5" name="Text 1"/>
          <p:cNvSpPr/>
          <p:nvPr>
            <p:ph type="title"/>
          </p:nvPr>
        </p:nvSpPr>
        <p:spPr>
          <a:xfrm>
            <a:off x="812800" y="2667000"/>
            <a:ext cx="10883392" cy="863600"/>
          </a:xfrm>
          <a:prstGeom prst="rect">
            <a:avLst/>
          </a:prstGeom>
          <a:noFill/>
          <a:ln/>
        </p:spPr>
        <p:txBody>
          <a:bodyPr wrap="square" lIns="0" tIns="0" rIns="0" bIns="0" rtlCol="0" anchor="t">
            <a:normAutofit/>
          </a:bodyPr>
          <a:lstStyle/>
          <a:p>
            <a:pPr algn="l" indent="0" marL="0">
              <a:lnSpc>
                <a:spcPts val="6600"/>
              </a:lnSpc>
              <a:buNone/>
            </a:pPr>
            <a:r>
              <a:rPr lang="en-US" sz="6600" b="1" i="0" dirty="0">
                <a:solidFill>
                  <a:srgbClr val="FFFFFF"/>
                </a:solidFill>
                <a:latin typeface="Inter" pitchFamily="34" charset="0"/>
                <a:ea typeface="Inter" pitchFamily="34" charset="-122"/>
                <a:cs typeface="Inter" pitchFamily="34" charset="-120"/>
              </a:rPr>
              <a:t>OBRIGADO</a:t>
            </a:r>
            <a:endParaRPr lang="en-US" sz="6600" dirty="0"/>
          </a:p>
        </p:txBody>
      </p:sp>
      <p:sp>
        <p:nvSpPr>
          <p:cNvPr id="6" name="Text 2"/>
          <p:cNvSpPr/>
          <p:nvPr/>
        </p:nvSpPr>
        <p:spPr>
          <a:xfrm>
            <a:off x="812800" y="3657600"/>
            <a:ext cx="10883392" cy="45204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FFFFFF"/>
                </a:solidFill>
                <a:latin typeface="Inter" pitchFamily="34" charset="0"/>
                <a:ea typeface="Inter" pitchFamily="34" charset="-122"/>
                <a:cs typeface="Inter" pitchFamily="34" charset="-120"/>
              </a:rPr>
              <a:t>Perguntas?</a:t>
            </a:r>
            <a:endParaRPr lang="en-US" sz="2400" dirty="0"/>
          </a:p>
        </p:txBody>
      </p:sp>
      <p:sp>
        <p:nvSpPr>
          <p:cNvPr id="7" name="Text 3"/>
          <p:cNvSpPr/>
          <p:nvPr/>
        </p:nvSpPr>
        <p:spPr>
          <a:xfrm>
            <a:off x="812800" y="4236641"/>
            <a:ext cx="10883392"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FFFFF"/>
                </a:solidFill>
                <a:latin typeface="Inter" pitchFamily="34" charset="0"/>
                <a:ea typeface="Inter" pitchFamily="34" charset="-122"/>
                <a:cs typeface="Inter" pitchFamily="34" charset="-120"/>
              </a:rPr>
              <a:t>Bruno Rocha Guimarães</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BrainSniffer · Bruno Rocha Guimarães</a:t>
            </a:r>
            <a:endParaRPr lang="en-US" sz="1200" dirty="0"/>
          </a:p>
        </p:txBody>
      </p:sp>
      <p:sp>
        <p:nvSpPr>
          <p:cNvPr id="5" name="Text 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D4D4D"/>
                </a:solidFill>
                <a:latin typeface="Inter" pitchFamily="34" charset="0"/>
                <a:ea typeface="Inter" pitchFamily="34" charset="-122"/>
                <a:cs typeface="Inter" pitchFamily="34" charset="-120"/>
              </a:rPr>
              <a:t>22 / 24</a:t>
            </a:r>
            <a:endParaRPr lang="en-US" sz="1200" dirty="0"/>
          </a:p>
        </p:txBody>
      </p:sp>
      <p:sp>
        <p:nvSpPr>
          <p:cNvPr id="6" name="Text 3"/>
          <p:cNvSpPr/>
          <p:nvPr/>
        </p:nvSpPr>
        <p:spPr>
          <a:xfrm>
            <a:off x="812800" y="1270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05080"/>
                </a:solidFill>
                <a:latin typeface="Inter" pitchFamily="34" charset="0"/>
                <a:ea typeface="Inter" pitchFamily="34" charset="-122"/>
                <a:cs typeface="Inter" pitchFamily="34" charset="-120"/>
              </a:rPr>
              <a:t>ANEXO · REFERÊNCIAS (1/3)</a:t>
            </a:r>
            <a:endParaRPr lang="en-US" sz="1200" dirty="0"/>
          </a:p>
        </p:txBody>
      </p:sp>
      <p:sp>
        <p:nvSpPr>
          <p:cNvPr id="7" name="Text 4"/>
          <p:cNvSpPr/>
          <p:nvPr>
            <p:ph type="title"/>
          </p:nvPr>
        </p:nvSpPr>
        <p:spPr>
          <a:xfrm>
            <a:off x="812800" y="1635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A1A"/>
                </a:solidFill>
                <a:latin typeface="Inter" pitchFamily="34" charset="0"/>
                <a:ea typeface="Inter" pitchFamily="34" charset="-122"/>
                <a:cs typeface="Inter" pitchFamily="34" charset="-120"/>
              </a:rPr>
              <a:t>REFERÊNCIAS</a:t>
            </a:r>
            <a:endParaRPr lang="en-US" sz="2800" dirty="0"/>
          </a:p>
        </p:txBody>
      </p:sp>
      <p:sp>
        <p:nvSpPr>
          <p:cNvPr id="8" name="Text 5"/>
          <p:cNvSpPr/>
          <p:nvPr/>
        </p:nvSpPr>
        <p:spPr>
          <a:xfrm>
            <a:off x="812800" y="2179241"/>
            <a:ext cx="10883392"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ARCHER, L. et al. Minimum sample size for external validation of a clinical prediction model with a continuous outcome. </a:t>
            </a:r>
            <a:r>
              <a:rPr lang="en-US" sz="1200" i="1" dirty="0">
                <a:solidFill>
                  <a:srgbClr val="1A1A1A"/>
                </a:solidFill>
                <a:latin typeface="Inter" pitchFamily="34" charset="0"/>
                <a:ea typeface="Inter" pitchFamily="34" charset="-122"/>
                <a:cs typeface="Inter" pitchFamily="34" charset="-120"/>
              </a:rPr>
              <a:t>Statistics in Medicine</a:t>
            </a:r>
            <a:r>
              <a:rPr lang="en-US" sz="1200" dirty="0">
                <a:solidFill>
                  <a:srgbClr val="1A1A1A"/>
                </a:solidFill>
                <a:latin typeface="Inter" pitchFamily="34" charset="0"/>
                <a:ea typeface="Inter" pitchFamily="34" charset="-122"/>
                <a:cs typeface="Inter" pitchFamily="34" charset="-120"/>
              </a:rPr>
              <a:t>, v. 40, n. 1, p. 133–146, 2021.</a:t>
            </a:r>
            <a:endParaRPr lang="en-US" sz="1200" dirty="0"/>
          </a:p>
        </p:txBody>
      </p:sp>
      <p:sp>
        <p:nvSpPr>
          <p:cNvPr id="9" name="Text 6"/>
          <p:cNvSpPr/>
          <p:nvPr/>
        </p:nvSpPr>
        <p:spPr>
          <a:xfrm>
            <a:off x="812800" y="2608461"/>
            <a:ext cx="10883392"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AVIDAN, M. S. et al. Anesthesia awareness and the bispectral index. </a:t>
            </a:r>
            <a:r>
              <a:rPr lang="en-US" sz="1200" i="1" dirty="0">
                <a:solidFill>
                  <a:srgbClr val="1A1A1A"/>
                </a:solidFill>
                <a:latin typeface="Inter" pitchFamily="34" charset="0"/>
                <a:ea typeface="Inter" pitchFamily="34" charset="-122"/>
                <a:cs typeface="Inter" pitchFamily="34" charset="-120"/>
              </a:rPr>
              <a:t>New England Journal of Medicine</a:t>
            </a:r>
            <a:r>
              <a:rPr lang="en-US" sz="1200" dirty="0">
                <a:solidFill>
                  <a:srgbClr val="1A1A1A"/>
                </a:solidFill>
                <a:latin typeface="Inter" pitchFamily="34" charset="0"/>
                <a:ea typeface="Inter" pitchFamily="34" charset="-122"/>
                <a:cs typeface="Inter" pitchFamily="34" charset="-120"/>
              </a:rPr>
              <a:t>, v. 358, p. 1097–1108, 2008.</a:t>
            </a:r>
            <a:endParaRPr lang="en-US" sz="1200" dirty="0"/>
          </a:p>
        </p:txBody>
      </p:sp>
      <p:sp>
        <p:nvSpPr>
          <p:cNvPr id="10" name="Text 7"/>
          <p:cNvSpPr/>
          <p:nvPr/>
        </p:nvSpPr>
        <p:spPr>
          <a:xfrm>
            <a:off x="812800" y="2854821"/>
            <a:ext cx="10883392"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AVIDAN, M. S. et al. Prevention of intraoperative awareness in a high-risk surgical population. </a:t>
            </a:r>
            <a:r>
              <a:rPr lang="en-US" sz="1200" i="1" dirty="0">
                <a:solidFill>
                  <a:srgbClr val="1A1A1A"/>
                </a:solidFill>
                <a:latin typeface="Inter" pitchFamily="34" charset="0"/>
                <a:ea typeface="Inter" pitchFamily="34" charset="-122"/>
                <a:cs typeface="Inter" pitchFamily="34" charset="-120"/>
              </a:rPr>
              <a:t>New England Journal of Medicine</a:t>
            </a:r>
            <a:r>
              <a:rPr lang="en-US" sz="1200" dirty="0">
                <a:solidFill>
                  <a:srgbClr val="1A1A1A"/>
                </a:solidFill>
                <a:latin typeface="Inter" pitchFamily="34" charset="0"/>
                <a:ea typeface="Inter" pitchFamily="34" charset="-122"/>
                <a:cs typeface="Inter" pitchFamily="34" charset="-120"/>
              </a:rPr>
              <a:t>, v. 365, p. 591–600, 2011.</a:t>
            </a:r>
            <a:endParaRPr lang="en-US" sz="1200" dirty="0"/>
          </a:p>
        </p:txBody>
      </p:sp>
      <p:sp>
        <p:nvSpPr>
          <p:cNvPr id="11" name="Text 8"/>
          <p:cNvSpPr/>
          <p:nvPr/>
        </p:nvSpPr>
        <p:spPr>
          <a:xfrm>
            <a:off x="812800" y="3284041"/>
            <a:ext cx="10883392"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COLLINS, G. S. et al. TRIPOD+AI statement: updated guidance for reporting clinical prediction models that use regression or machine learning methods. </a:t>
            </a:r>
            <a:r>
              <a:rPr lang="en-US" sz="1200" i="1" dirty="0">
                <a:solidFill>
                  <a:srgbClr val="1A1A1A"/>
                </a:solidFill>
                <a:latin typeface="Inter" pitchFamily="34" charset="0"/>
                <a:ea typeface="Inter" pitchFamily="34" charset="-122"/>
                <a:cs typeface="Inter" pitchFamily="34" charset="-120"/>
              </a:rPr>
              <a:t>BMJ</a:t>
            </a:r>
            <a:r>
              <a:rPr lang="en-US" sz="1200" dirty="0">
                <a:solidFill>
                  <a:srgbClr val="1A1A1A"/>
                </a:solidFill>
                <a:latin typeface="Inter" pitchFamily="34" charset="0"/>
                <a:ea typeface="Inter" pitchFamily="34" charset="-122"/>
                <a:cs typeface="Inter" pitchFamily="34" charset="-120"/>
              </a:rPr>
              <a:t>, v. 385, e078378, 2024.</a:t>
            </a:r>
            <a:endParaRPr lang="en-US" sz="1200" dirty="0"/>
          </a:p>
        </p:txBody>
      </p:sp>
      <p:sp>
        <p:nvSpPr>
          <p:cNvPr id="12" name="Text 9"/>
          <p:cNvSpPr/>
          <p:nvPr/>
        </p:nvSpPr>
        <p:spPr>
          <a:xfrm>
            <a:off x="812800" y="3713262"/>
            <a:ext cx="10883392"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CONNOR, C. W. Open reimplementation of the BIS algorithms for depth of anesthesia. </a:t>
            </a:r>
            <a:r>
              <a:rPr lang="en-US" sz="1200" i="1" dirty="0">
                <a:solidFill>
                  <a:srgbClr val="1A1A1A"/>
                </a:solidFill>
                <a:latin typeface="Inter" pitchFamily="34" charset="0"/>
                <a:ea typeface="Inter" pitchFamily="34" charset="-122"/>
                <a:cs typeface="Inter" pitchFamily="34" charset="-120"/>
              </a:rPr>
              <a:t>Anesthesia &amp; Analgesia</a:t>
            </a:r>
            <a:r>
              <a:rPr lang="en-US" sz="1200" dirty="0">
                <a:solidFill>
                  <a:srgbClr val="1A1A1A"/>
                </a:solidFill>
                <a:latin typeface="Inter" pitchFamily="34" charset="0"/>
                <a:ea typeface="Inter" pitchFamily="34" charset="-122"/>
                <a:cs typeface="Inter" pitchFamily="34" charset="-120"/>
              </a:rPr>
              <a:t>, v. 135, n. 4, p. 855–864, 2022.</a:t>
            </a:r>
            <a:endParaRPr lang="en-US" sz="1200" dirty="0"/>
          </a:p>
        </p:txBody>
      </p:sp>
      <p:sp>
        <p:nvSpPr>
          <p:cNvPr id="13" name="Text 10"/>
          <p:cNvSpPr/>
          <p:nvPr/>
        </p:nvSpPr>
        <p:spPr>
          <a:xfrm>
            <a:off x="812800" y="3959622"/>
            <a:ext cx="10883392"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CRAIK, A.; HE, Y.; CONTRERAS-VIDAL, J. L. Deep learning for electroencephalogram (EEG) classification tasks: a review. </a:t>
            </a:r>
            <a:r>
              <a:rPr lang="en-US" sz="1200" i="1" dirty="0">
                <a:solidFill>
                  <a:srgbClr val="1A1A1A"/>
                </a:solidFill>
                <a:latin typeface="Inter" pitchFamily="34" charset="0"/>
                <a:ea typeface="Inter" pitchFamily="34" charset="-122"/>
                <a:cs typeface="Inter" pitchFamily="34" charset="-120"/>
              </a:rPr>
              <a:t>Journal of Neural Engineering</a:t>
            </a:r>
            <a:r>
              <a:rPr lang="en-US" sz="1200" dirty="0">
                <a:solidFill>
                  <a:srgbClr val="1A1A1A"/>
                </a:solidFill>
                <a:latin typeface="Inter" pitchFamily="34" charset="0"/>
                <a:ea typeface="Inter" pitchFamily="34" charset="-122"/>
                <a:cs typeface="Inter" pitchFamily="34" charset="-120"/>
              </a:rPr>
              <a:t>, v. 16, n. 3, 031001, 2019.</a:t>
            </a:r>
            <a:endParaRPr lang="en-US" sz="1200" dirty="0"/>
          </a:p>
        </p:txBody>
      </p:sp>
      <p:sp>
        <p:nvSpPr>
          <p:cNvPr id="14" name="Text 11"/>
          <p:cNvSpPr/>
          <p:nvPr/>
        </p:nvSpPr>
        <p:spPr>
          <a:xfrm>
            <a:off x="812800" y="4388842"/>
            <a:ext cx="10883392"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DAHABA, A. A. et al. BIS-vista occipital montage in patients undergoing neurosurgical procedures during propofol-remifentanil anesthesia. </a:t>
            </a:r>
            <a:r>
              <a:rPr lang="en-US" sz="1200" i="1" dirty="0">
                <a:solidFill>
                  <a:srgbClr val="1A1A1A"/>
                </a:solidFill>
                <a:latin typeface="Inter" pitchFamily="34" charset="0"/>
                <a:ea typeface="Inter" pitchFamily="34" charset="-122"/>
                <a:cs typeface="Inter" pitchFamily="34" charset="-120"/>
              </a:rPr>
              <a:t>Anesthesiology</a:t>
            </a:r>
            <a:r>
              <a:rPr lang="en-US" sz="1200" dirty="0">
                <a:solidFill>
                  <a:srgbClr val="1A1A1A"/>
                </a:solidFill>
                <a:latin typeface="Inter" pitchFamily="34" charset="0"/>
                <a:ea typeface="Inter" pitchFamily="34" charset="-122"/>
                <a:cs typeface="Inter" pitchFamily="34" charset="-120"/>
              </a:rPr>
              <a:t>, v. 112, n. 3, p. 645–651, 2010.</a:t>
            </a:r>
            <a:endParaRPr lang="en-US" sz="1200" dirty="0"/>
          </a:p>
        </p:txBody>
      </p:sp>
      <p:sp>
        <p:nvSpPr>
          <p:cNvPr id="15" name="Text 12"/>
          <p:cNvSpPr/>
          <p:nvPr/>
        </p:nvSpPr>
        <p:spPr>
          <a:xfrm>
            <a:off x="812800" y="4818063"/>
            <a:ext cx="10883392"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FIELD, C. A.; WELSH, A. H. Bootstrapping clustered data. </a:t>
            </a:r>
            <a:r>
              <a:rPr lang="en-US" sz="1200" i="1" dirty="0">
                <a:solidFill>
                  <a:srgbClr val="1A1A1A"/>
                </a:solidFill>
                <a:latin typeface="Inter" pitchFamily="34" charset="0"/>
                <a:ea typeface="Inter" pitchFamily="34" charset="-122"/>
                <a:cs typeface="Inter" pitchFamily="34" charset="-120"/>
              </a:rPr>
              <a:t>Journal of the Royal Statistical Society: Series B</a:t>
            </a:r>
            <a:r>
              <a:rPr lang="en-US" sz="1200" dirty="0">
                <a:solidFill>
                  <a:srgbClr val="1A1A1A"/>
                </a:solidFill>
                <a:latin typeface="Inter" pitchFamily="34" charset="0"/>
                <a:ea typeface="Inter" pitchFamily="34" charset="-122"/>
                <a:cs typeface="Inter" pitchFamily="34" charset="-120"/>
              </a:rPr>
              <a:t>, v. 69, n. 3, p. 369–390, 2007.</a:t>
            </a:r>
            <a:endParaRPr lang="en-US" sz="1200" dirty="0"/>
          </a:p>
        </p:txBody>
      </p:sp>
      <p:sp>
        <p:nvSpPr>
          <p:cNvPr id="16" name="Text 13"/>
          <p:cNvSpPr/>
          <p:nvPr/>
        </p:nvSpPr>
        <p:spPr>
          <a:xfrm>
            <a:off x="812800" y="5064423"/>
            <a:ext cx="10883392"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GARBE, J. et al. </a:t>
            </a:r>
            <a:r>
              <a:rPr lang="en-US" sz="1200" i="1" dirty="0">
                <a:solidFill>
                  <a:srgbClr val="1A1A1A"/>
                </a:solidFill>
                <a:latin typeface="Inter" pitchFamily="34" charset="0"/>
                <a:ea typeface="Inter" pitchFamily="34" charset="-122"/>
                <a:cs typeface="Inter" pitchFamily="34" charset="-120"/>
              </a:rPr>
              <a:t>DOSE-I: a multimodal biosignal dataset of procedural sedation for endoscopy</a:t>
            </a:r>
            <a:r>
              <a:rPr lang="en-US" sz="1200" dirty="0">
                <a:solidFill>
                  <a:srgbClr val="1A1A1A"/>
                </a:solidFill>
                <a:latin typeface="Inter" pitchFamily="34" charset="0"/>
                <a:ea typeface="Inter" pitchFamily="34" charset="-122"/>
                <a:cs typeface="Inter" pitchFamily="34" charset="-120"/>
              </a:rPr>
              <a:t>. Zenodo, 2026. Conjunto de dados.</a:t>
            </a:r>
            <a:endParaRPr lang="en-US" sz="1200" dirty="0"/>
          </a:p>
        </p:txBody>
      </p:sp>
      <p:sp>
        <p:nvSpPr>
          <p:cNvPr id="17" name="Text 14"/>
          <p:cNvSpPr/>
          <p:nvPr/>
        </p:nvSpPr>
        <p:spPr>
          <a:xfrm>
            <a:off x="812800" y="5310783"/>
            <a:ext cx="10883392"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HANS, P. et al. Comparative effects of ketamine on Bispectral Index and spectral entropy of the electroencephalogram under sevoflurane anaesthesia. </a:t>
            </a:r>
            <a:r>
              <a:rPr lang="en-US" sz="1200" i="1" dirty="0">
                <a:solidFill>
                  <a:srgbClr val="1A1A1A"/>
                </a:solidFill>
                <a:latin typeface="Inter" pitchFamily="34" charset="0"/>
                <a:ea typeface="Inter" pitchFamily="34" charset="-122"/>
                <a:cs typeface="Inter" pitchFamily="34" charset="-120"/>
              </a:rPr>
              <a:t>British Journal of Anaesthesia</a:t>
            </a:r>
            <a:r>
              <a:rPr lang="en-US" sz="1200" dirty="0">
                <a:solidFill>
                  <a:srgbClr val="1A1A1A"/>
                </a:solidFill>
                <a:latin typeface="Inter" pitchFamily="34" charset="0"/>
                <a:ea typeface="Inter" pitchFamily="34" charset="-122"/>
                <a:cs typeface="Inter" pitchFamily="34" charset="-120"/>
              </a:rPr>
              <a:t>, v. 94, n. 3, p. 336–340, 2005.</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BrainSniffer · Bruno Rocha Guimarães</a:t>
            </a:r>
            <a:endParaRPr lang="en-US" sz="1200" dirty="0"/>
          </a:p>
        </p:txBody>
      </p:sp>
      <p:sp>
        <p:nvSpPr>
          <p:cNvPr id="5" name="Text 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D4D4D"/>
                </a:solidFill>
                <a:latin typeface="Inter" pitchFamily="34" charset="0"/>
                <a:ea typeface="Inter" pitchFamily="34" charset="-122"/>
                <a:cs typeface="Inter" pitchFamily="34" charset="-120"/>
              </a:rPr>
              <a:t>23 / 24</a:t>
            </a:r>
            <a:endParaRPr lang="en-US" sz="1200" dirty="0"/>
          </a:p>
        </p:txBody>
      </p:sp>
      <p:sp>
        <p:nvSpPr>
          <p:cNvPr id="6" name="Text 3"/>
          <p:cNvSpPr/>
          <p:nvPr/>
        </p:nvSpPr>
        <p:spPr>
          <a:xfrm>
            <a:off x="812800" y="1270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05080"/>
                </a:solidFill>
                <a:latin typeface="Inter" pitchFamily="34" charset="0"/>
                <a:ea typeface="Inter" pitchFamily="34" charset="-122"/>
                <a:cs typeface="Inter" pitchFamily="34" charset="-120"/>
              </a:rPr>
              <a:t>ANEXO · REFERÊNCIAS (2/3)</a:t>
            </a:r>
            <a:endParaRPr lang="en-US" sz="1200" dirty="0"/>
          </a:p>
        </p:txBody>
      </p:sp>
      <p:sp>
        <p:nvSpPr>
          <p:cNvPr id="7" name="Text 4"/>
          <p:cNvSpPr/>
          <p:nvPr>
            <p:ph type="title"/>
          </p:nvPr>
        </p:nvSpPr>
        <p:spPr>
          <a:xfrm>
            <a:off x="812800" y="1635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A1A"/>
                </a:solidFill>
                <a:latin typeface="Inter" pitchFamily="34" charset="0"/>
                <a:ea typeface="Inter" pitchFamily="34" charset="-122"/>
                <a:cs typeface="Inter" pitchFamily="34" charset="-120"/>
              </a:rPr>
              <a:t>REFERÊNCIAS</a:t>
            </a:r>
            <a:endParaRPr lang="en-US" sz="2800" dirty="0"/>
          </a:p>
        </p:txBody>
      </p:sp>
      <p:sp>
        <p:nvSpPr>
          <p:cNvPr id="8" name="Text 5"/>
          <p:cNvSpPr/>
          <p:nvPr/>
        </p:nvSpPr>
        <p:spPr>
          <a:xfrm>
            <a:off x="812800" y="2179241"/>
            <a:ext cx="10883392"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HARADA, H. et al. Accuracy of BIS monitoring using a novel interface device connecting conventional needle-electrodes and BIS sensors during frontal neurosurgical procedures. </a:t>
            </a:r>
            <a:r>
              <a:rPr lang="en-US" sz="1200" i="1" dirty="0">
                <a:solidFill>
                  <a:srgbClr val="1A1A1A"/>
                </a:solidFill>
                <a:latin typeface="Inter" pitchFamily="34" charset="0"/>
                <a:ea typeface="Inter" pitchFamily="34" charset="-122"/>
                <a:cs typeface="Inter" pitchFamily="34" charset="-120"/>
              </a:rPr>
              <a:t>PLoS ONE</a:t>
            </a:r>
            <a:r>
              <a:rPr lang="en-US" sz="1200" dirty="0">
                <a:solidFill>
                  <a:srgbClr val="1A1A1A"/>
                </a:solidFill>
                <a:latin typeface="Inter" pitchFamily="34" charset="0"/>
                <a:ea typeface="Inter" pitchFamily="34" charset="-122"/>
                <a:cs typeface="Inter" pitchFamily="34" charset="-120"/>
              </a:rPr>
              <a:t>, v. 16, n. 10, e0258647, 2021.</a:t>
            </a:r>
            <a:endParaRPr lang="en-US" sz="1200" dirty="0"/>
          </a:p>
        </p:txBody>
      </p:sp>
      <p:sp>
        <p:nvSpPr>
          <p:cNvPr id="9" name="Text 6"/>
          <p:cNvSpPr/>
          <p:nvPr/>
        </p:nvSpPr>
        <p:spPr>
          <a:xfrm>
            <a:off x="812800" y="2608461"/>
            <a:ext cx="10883392"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JOHANSEN, J. W.; SEBEL, P. S. Development and clinical application of electroencephalographic bispectrum monitoring. </a:t>
            </a:r>
            <a:r>
              <a:rPr lang="en-US" sz="1200" i="1" dirty="0">
                <a:solidFill>
                  <a:srgbClr val="1A1A1A"/>
                </a:solidFill>
                <a:latin typeface="Inter" pitchFamily="34" charset="0"/>
                <a:ea typeface="Inter" pitchFamily="34" charset="-122"/>
                <a:cs typeface="Inter" pitchFamily="34" charset="-120"/>
              </a:rPr>
              <a:t>Anesthesiology</a:t>
            </a:r>
            <a:r>
              <a:rPr lang="en-US" sz="1200" dirty="0">
                <a:solidFill>
                  <a:srgbClr val="1A1A1A"/>
                </a:solidFill>
                <a:latin typeface="Inter" pitchFamily="34" charset="0"/>
                <a:ea typeface="Inter" pitchFamily="34" charset="-122"/>
                <a:cs typeface="Inter" pitchFamily="34" charset="-120"/>
              </a:rPr>
              <a:t>, v. 93, n. 5, p. 1336–1344, 2000.</a:t>
            </a:r>
            <a:endParaRPr lang="en-US" sz="1200" dirty="0"/>
          </a:p>
        </p:txBody>
      </p:sp>
      <p:sp>
        <p:nvSpPr>
          <p:cNvPr id="10" name="Text 7"/>
          <p:cNvSpPr/>
          <p:nvPr/>
        </p:nvSpPr>
        <p:spPr>
          <a:xfrm>
            <a:off x="812800" y="3037681"/>
            <a:ext cx="1137920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KIRANYAZ, S. et al. 1D convolutional neural networks and applications: a survey. </a:t>
            </a:r>
            <a:r>
              <a:rPr lang="en-US" sz="1200" i="1" dirty="0">
                <a:solidFill>
                  <a:srgbClr val="1A1A1A"/>
                </a:solidFill>
                <a:latin typeface="Inter" pitchFamily="34" charset="0"/>
                <a:ea typeface="Inter" pitchFamily="34" charset="-122"/>
                <a:cs typeface="Inter" pitchFamily="34" charset="-120"/>
              </a:rPr>
              <a:t>Mechanical Systems and Signal Processing</a:t>
            </a:r>
            <a:r>
              <a:rPr lang="en-US" sz="1200" dirty="0">
                <a:solidFill>
                  <a:srgbClr val="1A1A1A"/>
                </a:solidFill>
                <a:latin typeface="Inter" pitchFamily="34" charset="0"/>
                <a:ea typeface="Inter" pitchFamily="34" charset="-122"/>
                <a:cs typeface="Inter" pitchFamily="34" charset="-120"/>
              </a:rPr>
              <a:t>, v. 151, 107398, 2021.</a:t>
            </a:r>
            <a:endParaRPr lang="en-US" sz="1200" dirty="0"/>
          </a:p>
        </p:txBody>
      </p:sp>
      <p:sp>
        <p:nvSpPr>
          <p:cNvPr id="11" name="Text 8"/>
          <p:cNvSpPr/>
          <p:nvPr/>
        </p:nvSpPr>
        <p:spPr>
          <a:xfrm>
            <a:off x="812800" y="3284041"/>
            <a:ext cx="10883392"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LEE, H.-C. et al. VitalDB, a high-fidelity multi-parameter vital signs database in surgical patients. </a:t>
            </a:r>
            <a:r>
              <a:rPr lang="en-US" sz="1200" i="1" dirty="0">
                <a:solidFill>
                  <a:srgbClr val="1A1A1A"/>
                </a:solidFill>
                <a:latin typeface="Inter" pitchFamily="34" charset="0"/>
                <a:ea typeface="Inter" pitchFamily="34" charset="-122"/>
                <a:cs typeface="Inter" pitchFamily="34" charset="-120"/>
              </a:rPr>
              <a:t>Scientific Data</a:t>
            </a:r>
            <a:r>
              <a:rPr lang="en-US" sz="1200" dirty="0">
                <a:solidFill>
                  <a:srgbClr val="1A1A1A"/>
                </a:solidFill>
                <a:latin typeface="Inter" pitchFamily="34" charset="0"/>
                <a:ea typeface="Inter" pitchFamily="34" charset="-122"/>
                <a:cs typeface="Inter" pitchFamily="34" charset="-120"/>
              </a:rPr>
              <a:t>, v. 9, 279, 2022.</a:t>
            </a:r>
            <a:endParaRPr lang="en-US" sz="1200" dirty="0"/>
          </a:p>
        </p:txBody>
      </p:sp>
      <p:sp>
        <p:nvSpPr>
          <p:cNvPr id="12" name="Text 9"/>
          <p:cNvSpPr/>
          <p:nvPr/>
        </p:nvSpPr>
        <p:spPr>
          <a:xfrm>
            <a:off x="812800" y="3530402"/>
            <a:ext cx="10883392"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LIU, Q. et al. Sample entropy analysis for the estimating depth of anaesthesia through human EEG signal at different levels of unconsciousness during surgeries. </a:t>
            </a:r>
            <a:r>
              <a:rPr lang="en-US" sz="1200" i="1" dirty="0">
                <a:solidFill>
                  <a:srgbClr val="1A1A1A"/>
                </a:solidFill>
                <a:latin typeface="Inter" pitchFamily="34" charset="0"/>
                <a:ea typeface="Inter" pitchFamily="34" charset="-122"/>
                <a:cs typeface="Inter" pitchFamily="34" charset="-120"/>
              </a:rPr>
              <a:t>PeerJ</a:t>
            </a:r>
            <a:r>
              <a:rPr lang="en-US" sz="1200" dirty="0">
                <a:solidFill>
                  <a:srgbClr val="1A1A1A"/>
                </a:solidFill>
                <a:latin typeface="Inter" pitchFamily="34" charset="0"/>
                <a:ea typeface="Inter" pitchFamily="34" charset="-122"/>
                <a:cs typeface="Inter" pitchFamily="34" charset="-120"/>
              </a:rPr>
              <a:t>, v. 6, e4817, 2018.</a:t>
            </a:r>
            <a:endParaRPr lang="en-US" sz="1200" dirty="0"/>
          </a:p>
        </p:txBody>
      </p:sp>
      <p:sp>
        <p:nvSpPr>
          <p:cNvPr id="13" name="Text 10"/>
          <p:cNvSpPr/>
          <p:nvPr/>
        </p:nvSpPr>
        <p:spPr>
          <a:xfrm>
            <a:off x="812800" y="3959622"/>
            <a:ext cx="10883392"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MA, L. </a:t>
            </a:r>
            <a:r>
              <a:rPr lang="en-US" sz="1200" i="1" dirty="0">
                <a:solidFill>
                  <a:srgbClr val="1A1A1A"/>
                </a:solidFill>
                <a:latin typeface="Inter" pitchFamily="34" charset="0"/>
                <a:ea typeface="Inter" pitchFamily="34" charset="-122"/>
                <a:cs typeface="Inter" pitchFamily="34" charset="-120"/>
              </a:rPr>
              <a:t>EEG and BIS raw data</a:t>
            </a:r>
            <a:r>
              <a:rPr lang="en-US" sz="1200" dirty="0">
                <a:solidFill>
                  <a:srgbClr val="1A1A1A"/>
                </a:solidFill>
                <a:latin typeface="Inter" pitchFamily="34" charset="0"/>
                <a:ea typeface="Inter" pitchFamily="34" charset="-122"/>
                <a:cs typeface="Inter" pitchFamily="34" charset="-120"/>
              </a:rPr>
              <a:t>. Figshare, 2017. Conjunto de dados, v1. DOI: 10.6084/m9.figshare.5589841.v1.</a:t>
            </a:r>
            <a:endParaRPr lang="en-US" sz="1200" dirty="0"/>
          </a:p>
        </p:txBody>
      </p:sp>
      <p:sp>
        <p:nvSpPr>
          <p:cNvPr id="14" name="Text 11"/>
          <p:cNvSpPr/>
          <p:nvPr/>
        </p:nvSpPr>
        <p:spPr>
          <a:xfrm>
            <a:off x="812800" y="4205982"/>
            <a:ext cx="10883392"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MYLES, P. S. et al. Bispectral index monitoring to prevent awareness during anaesthesia: the B-Aware randomised controlled trial. </a:t>
            </a:r>
            <a:r>
              <a:rPr lang="en-US" sz="1200" i="1" dirty="0">
                <a:solidFill>
                  <a:srgbClr val="1A1A1A"/>
                </a:solidFill>
                <a:latin typeface="Inter" pitchFamily="34" charset="0"/>
                <a:ea typeface="Inter" pitchFamily="34" charset="-122"/>
                <a:cs typeface="Inter" pitchFamily="34" charset="-120"/>
              </a:rPr>
              <a:t>The Lancet</a:t>
            </a:r>
            <a:r>
              <a:rPr lang="en-US" sz="1200" dirty="0">
                <a:solidFill>
                  <a:srgbClr val="1A1A1A"/>
                </a:solidFill>
                <a:latin typeface="Inter" pitchFamily="34" charset="0"/>
                <a:ea typeface="Inter" pitchFamily="34" charset="-122"/>
                <a:cs typeface="Inter" pitchFamily="34" charset="-120"/>
              </a:rPr>
              <a:t>, v. 363, p. 1757–1763, 2004.</a:t>
            </a:r>
            <a:endParaRPr lang="en-US" sz="1200" dirty="0"/>
          </a:p>
        </p:txBody>
      </p:sp>
      <p:sp>
        <p:nvSpPr>
          <p:cNvPr id="15" name="Text 12"/>
          <p:cNvSpPr/>
          <p:nvPr/>
        </p:nvSpPr>
        <p:spPr>
          <a:xfrm>
            <a:off x="812800" y="4635202"/>
            <a:ext cx="10883392"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NSUGBE, E.; CONNELLY, S. Multiscale depth of anaesthesia prediction for surgery using frontal cortex electroencephalography. </a:t>
            </a:r>
            <a:r>
              <a:rPr lang="en-US" sz="1200" i="1" dirty="0">
                <a:solidFill>
                  <a:srgbClr val="1A1A1A"/>
                </a:solidFill>
                <a:latin typeface="Inter" pitchFamily="34" charset="0"/>
                <a:ea typeface="Inter" pitchFamily="34" charset="-122"/>
                <a:cs typeface="Inter" pitchFamily="34" charset="-120"/>
              </a:rPr>
              <a:t>Healthcare Technology Letters</a:t>
            </a:r>
            <a:r>
              <a:rPr lang="en-US" sz="1200" dirty="0">
                <a:solidFill>
                  <a:srgbClr val="1A1A1A"/>
                </a:solidFill>
                <a:latin typeface="Inter" pitchFamily="34" charset="0"/>
                <a:ea typeface="Inter" pitchFamily="34" charset="-122"/>
                <a:cs typeface="Inter" pitchFamily="34" charset="-120"/>
              </a:rPr>
              <a:t>, v. 9, p. 43–53, 2022.</a:t>
            </a:r>
            <a:endParaRPr lang="en-US" sz="1200" dirty="0"/>
          </a:p>
        </p:txBody>
      </p:sp>
      <p:sp>
        <p:nvSpPr>
          <p:cNvPr id="16" name="Text 13"/>
          <p:cNvSpPr/>
          <p:nvPr/>
        </p:nvSpPr>
        <p:spPr>
          <a:xfrm>
            <a:off x="812800" y="5064423"/>
            <a:ext cx="10883392"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PARK, Y. et al. A real-time depth of anesthesia monitoring system based on deep neural network with large EDO tolerant EEG analog front-end. </a:t>
            </a:r>
            <a:r>
              <a:rPr lang="en-US" sz="1200" i="1" dirty="0">
                <a:solidFill>
                  <a:srgbClr val="1A1A1A"/>
                </a:solidFill>
                <a:latin typeface="Inter" pitchFamily="34" charset="0"/>
                <a:ea typeface="Inter" pitchFamily="34" charset="-122"/>
                <a:cs typeface="Inter" pitchFamily="34" charset="-120"/>
              </a:rPr>
              <a:t>IEEE Transactions on Biomedical Circuits and Systems</a:t>
            </a:r>
            <a:r>
              <a:rPr lang="en-US" sz="1200" dirty="0">
                <a:solidFill>
                  <a:srgbClr val="1A1A1A"/>
                </a:solidFill>
                <a:latin typeface="Inter" pitchFamily="34" charset="0"/>
                <a:ea typeface="Inter" pitchFamily="34" charset="-122"/>
                <a:cs typeface="Inter" pitchFamily="34" charset="-120"/>
              </a:rPr>
              <a:t>, v. 14, p. 825–837, 2020.</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Logotipo UniJorge">    </p:cNvPr>
          <p:cNvPicPr>
            <a:picLocks noChangeAspect="1"/>
          </p:cNvPicPr>
          <p:nvPr/>
        </p:nvPicPr>
        <p:blipFill>
          <a:blip r:embed="rId1"/>
          <a:srcRect l="0" r="0" t="-118" b="-118"/>
          <a:stretch/>
        </p:blipFill>
        <p:spPr>
          <a:xfrm>
            <a:off x="812800" y="355600"/>
            <a:ext cx="609600" cy="431800"/>
          </a:xfrm>
          <a:prstGeom prst="rect">
            <a:avLst/>
          </a:prstGeom>
        </p:spPr>
      </p:pic>
      <p:sp>
        <p:nvSpPr>
          <p:cNvPr id="3" name="Text 0"/>
          <p:cNvSpPr/>
          <p:nvPr/>
        </p:nvSpPr>
        <p:spPr>
          <a:xfrm>
            <a:off x="6146800" y="533400"/>
            <a:ext cx="52324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4D4D4D"/>
                </a:solidFill>
                <a:latin typeface="Inter" pitchFamily="34" charset="0"/>
                <a:ea typeface="Inter" pitchFamily="34" charset="-122"/>
                <a:cs typeface="Inter" pitchFamily="34" charset="-120"/>
              </a:rPr>
              <a:t>BRAINSNIFFER · TCC</a:t>
            </a:r>
            <a:endParaRPr lang="en-US" sz="1200" dirty="0"/>
          </a:p>
        </p:txBody>
      </p:sp>
      <p:sp>
        <p:nvSpPr>
          <p:cNvPr id="4" name="Text 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4D4D"/>
                </a:solidFill>
                <a:latin typeface="Inter" pitchFamily="34" charset="0"/>
                <a:ea typeface="Inter" pitchFamily="34" charset="-122"/>
                <a:cs typeface="Inter" pitchFamily="34" charset="-120"/>
              </a:rPr>
              <a:t>BrainSniffer · Bruno Rocha Guimarães</a:t>
            </a:r>
            <a:endParaRPr lang="en-US" sz="1200" dirty="0"/>
          </a:p>
        </p:txBody>
      </p:sp>
      <p:sp>
        <p:nvSpPr>
          <p:cNvPr id="5" name="Text 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D4D4D"/>
                </a:solidFill>
                <a:latin typeface="Inter" pitchFamily="34" charset="0"/>
                <a:ea typeface="Inter" pitchFamily="34" charset="-122"/>
                <a:cs typeface="Inter" pitchFamily="34" charset="-120"/>
              </a:rPr>
              <a:t>24 / 24</a:t>
            </a:r>
            <a:endParaRPr lang="en-US" sz="1200" dirty="0"/>
          </a:p>
        </p:txBody>
      </p:sp>
      <p:sp>
        <p:nvSpPr>
          <p:cNvPr id="6" name="Text 3"/>
          <p:cNvSpPr/>
          <p:nvPr/>
        </p:nvSpPr>
        <p:spPr>
          <a:xfrm>
            <a:off x="812800" y="1270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05080"/>
                </a:solidFill>
                <a:latin typeface="Inter" pitchFamily="34" charset="0"/>
                <a:ea typeface="Inter" pitchFamily="34" charset="-122"/>
                <a:cs typeface="Inter" pitchFamily="34" charset="-120"/>
              </a:rPr>
              <a:t>ANEXO · REFERÊNCIAS (3/3)</a:t>
            </a:r>
            <a:endParaRPr lang="en-US" sz="1200" dirty="0"/>
          </a:p>
        </p:txBody>
      </p:sp>
      <p:sp>
        <p:nvSpPr>
          <p:cNvPr id="7" name="Text 4"/>
          <p:cNvSpPr/>
          <p:nvPr>
            <p:ph type="title"/>
          </p:nvPr>
        </p:nvSpPr>
        <p:spPr>
          <a:xfrm>
            <a:off x="812800" y="1635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A1A"/>
                </a:solidFill>
                <a:latin typeface="Inter" pitchFamily="34" charset="0"/>
                <a:ea typeface="Inter" pitchFamily="34" charset="-122"/>
                <a:cs typeface="Inter" pitchFamily="34" charset="-120"/>
              </a:rPr>
              <a:t>REFERÊNCIAS</a:t>
            </a:r>
            <a:endParaRPr lang="en-US" sz="2800" dirty="0"/>
          </a:p>
        </p:txBody>
      </p:sp>
      <p:sp>
        <p:nvSpPr>
          <p:cNvPr id="8" name="Text 5"/>
          <p:cNvSpPr/>
          <p:nvPr/>
        </p:nvSpPr>
        <p:spPr>
          <a:xfrm>
            <a:off x="812800" y="2179241"/>
            <a:ext cx="10883392"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PILGE, S. et al. Time delay of index calculation: analysis of cerebral state, bispectral, and Narcotrend indices. </a:t>
            </a:r>
            <a:r>
              <a:rPr lang="en-US" sz="1200" i="1" dirty="0">
                <a:solidFill>
                  <a:srgbClr val="1A1A1A"/>
                </a:solidFill>
                <a:latin typeface="Inter" pitchFamily="34" charset="0"/>
                <a:ea typeface="Inter" pitchFamily="34" charset="-122"/>
                <a:cs typeface="Inter" pitchFamily="34" charset="-120"/>
              </a:rPr>
              <a:t>Anesthesiology</a:t>
            </a:r>
            <a:r>
              <a:rPr lang="en-US" sz="1200" dirty="0">
                <a:solidFill>
                  <a:srgbClr val="1A1A1A"/>
                </a:solidFill>
                <a:latin typeface="Inter" pitchFamily="34" charset="0"/>
                <a:ea typeface="Inter" pitchFamily="34" charset="-122"/>
                <a:cs typeface="Inter" pitchFamily="34" charset="-120"/>
              </a:rPr>
              <a:t>, v. 104, n. 3, p. 488–494, 2006.</a:t>
            </a:r>
            <a:endParaRPr lang="en-US" sz="1200" dirty="0"/>
          </a:p>
        </p:txBody>
      </p:sp>
      <p:sp>
        <p:nvSpPr>
          <p:cNvPr id="9" name="Text 6"/>
          <p:cNvSpPr/>
          <p:nvPr/>
        </p:nvSpPr>
        <p:spPr>
          <a:xfrm>
            <a:off x="812800" y="2608461"/>
            <a:ext cx="10883392"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PURDON, P. L. et al. Clinical electroencephalography for anesthesiologists: part I: background and basic signatures. </a:t>
            </a:r>
            <a:r>
              <a:rPr lang="en-US" sz="1200" i="1" dirty="0">
                <a:solidFill>
                  <a:srgbClr val="1A1A1A"/>
                </a:solidFill>
                <a:latin typeface="Inter" pitchFamily="34" charset="0"/>
                <a:ea typeface="Inter" pitchFamily="34" charset="-122"/>
                <a:cs typeface="Inter" pitchFamily="34" charset="-120"/>
              </a:rPr>
              <a:t>Anesthesiology</a:t>
            </a:r>
            <a:r>
              <a:rPr lang="en-US" sz="1200" dirty="0">
                <a:solidFill>
                  <a:srgbClr val="1A1A1A"/>
                </a:solidFill>
                <a:latin typeface="Inter" pitchFamily="34" charset="0"/>
                <a:ea typeface="Inter" pitchFamily="34" charset="-122"/>
                <a:cs typeface="Inter" pitchFamily="34" charset="-120"/>
              </a:rPr>
              <a:t>, v. 123, n. 4, p. 937–960, 2015.</a:t>
            </a:r>
            <a:endParaRPr lang="en-US" sz="1200" dirty="0"/>
          </a:p>
        </p:txBody>
      </p:sp>
      <p:sp>
        <p:nvSpPr>
          <p:cNvPr id="10" name="Text 7"/>
          <p:cNvSpPr/>
          <p:nvPr/>
        </p:nvSpPr>
        <p:spPr>
          <a:xfrm>
            <a:off x="812800" y="3037681"/>
            <a:ext cx="10883392"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SAEB, S. et al. The need to approximate the use-case in clinical machine learning. </a:t>
            </a:r>
            <a:r>
              <a:rPr lang="en-US" sz="1200" i="1" dirty="0">
                <a:solidFill>
                  <a:srgbClr val="1A1A1A"/>
                </a:solidFill>
                <a:latin typeface="Inter" pitchFamily="34" charset="0"/>
                <a:ea typeface="Inter" pitchFamily="34" charset="-122"/>
                <a:cs typeface="Inter" pitchFamily="34" charset="-120"/>
              </a:rPr>
              <a:t>GigaScience</a:t>
            </a:r>
            <a:r>
              <a:rPr lang="en-US" sz="1200" dirty="0">
                <a:solidFill>
                  <a:srgbClr val="1A1A1A"/>
                </a:solidFill>
                <a:latin typeface="Inter" pitchFamily="34" charset="0"/>
                <a:ea typeface="Inter" pitchFamily="34" charset="-122"/>
                <a:cs typeface="Inter" pitchFamily="34" charset="-120"/>
              </a:rPr>
              <a:t>, v. 6, 2017.</a:t>
            </a:r>
            <a:endParaRPr lang="en-US" sz="1200" dirty="0"/>
          </a:p>
        </p:txBody>
      </p:sp>
      <p:sp>
        <p:nvSpPr>
          <p:cNvPr id="11" name="Text 8"/>
          <p:cNvSpPr/>
          <p:nvPr/>
        </p:nvSpPr>
        <p:spPr>
          <a:xfrm>
            <a:off x="812800" y="3284041"/>
            <a:ext cx="10883392"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SCHULLER, P. J. et al. Response of bispectral index to neuromuscular block in awake volunteers. </a:t>
            </a:r>
            <a:r>
              <a:rPr lang="en-US" sz="1200" i="1" dirty="0">
                <a:solidFill>
                  <a:srgbClr val="1A1A1A"/>
                </a:solidFill>
                <a:latin typeface="Inter" pitchFamily="34" charset="0"/>
                <a:ea typeface="Inter" pitchFamily="34" charset="-122"/>
                <a:cs typeface="Inter" pitchFamily="34" charset="-120"/>
              </a:rPr>
              <a:t>British Journal of Anaesthesia</a:t>
            </a:r>
            <a:r>
              <a:rPr lang="en-US" sz="1200" dirty="0">
                <a:solidFill>
                  <a:srgbClr val="1A1A1A"/>
                </a:solidFill>
                <a:latin typeface="Inter" pitchFamily="34" charset="0"/>
                <a:ea typeface="Inter" pitchFamily="34" charset="-122"/>
                <a:cs typeface="Inter" pitchFamily="34" charset="-120"/>
              </a:rPr>
              <a:t>, v. 115, supl. 1, p. i95–i103, 2015.</a:t>
            </a:r>
            <a:endParaRPr lang="en-US" sz="1200" dirty="0"/>
          </a:p>
        </p:txBody>
      </p:sp>
      <p:sp>
        <p:nvSpPr>
          <p:cNvPr id="12" name="Text 9"/>
          <p:cNvSpPr/>
          <p:nvPr/>
        </p:nvSpPr>
        <p:spPr>
          <a:xfrm>
            <a:off x="812800" y="3713262"/>
            <a:ext cx="1137920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SHI, M. et al. Estimating the depth of anesthesia from EEG signals based on a deep residual shrinkage network. </a:t>
            </a:r>
            <a:r>
              <a:rPr lang="en-US" sz="1200" i="1" dirty="0">
                <a:solidFill>
                  <a:srgbClr val="1A1A1A"/>
                </a:solidFill>
                <a:latin typeface="Inter" pitchFamily="34" charset="0"/>
                <a:ea typeface="Inter" pitchFamily="34" charset="-122"/>
                <a:cs typeface="Inter" pitchFamily="34" charset="-120"/>
              </a:rPr>
              <a:t>Sensors</a:t>
            </a:r>
            <a:r>
              <a:rPr lang="en-US" sz="1200" dirty="0">
                <a:solidFill>
                  <a:srgbClr val="1A1A1A"/>
                </a:solidFill>
                <a:latin typeface="Inter" pitchFamily="34" charset="0"/>
                <a:ea typeface="Inter" pitchFamily="34" charset="-122"/>
                <a:cs typeface="Inter" pitchFamily="34" charset="-120"/>
              </a:rPr>
              <a:t>, v. 23, n. 2, 1008, 2023.</a:t>
            </a:r>
            <a:endParaRPr lang="en-US" sz="1200" dirty="0"/>
          </a:p>
        </p:txBody>
      </p:sp>
      <p:sp>
        <p:nvSpPr>
          <p:cNvPr id="13" name="Text 10"/>
          <p:cNvSpPr/>
          <p:nvPr/>
        </p:nvSpPr>
        <p:spPr>
          <a:xfrm>
            <a:off x="812800" y="3959622"/>
            <a:ext cx="10883392"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SHIRAISHI, T. et al. A comparison of frontal and occipital bispectral index values obtained during neurosurgical procedures. </a:t>
            </a:r>
            <a:r>
              <a:rPr lang="en-US" sz="1200" i="1" dirty="0">
                <a:solidFill>
                  <a:srgbClr val="1A1A1A"/>
                </a:solidFill>
                <a:latin typeface="Inter" pitchFamily="34" charset="0"/>
                <a:ea typeface="Inter" pitchFamily="34" charset="-122"/>
                <a:cs typeface="Inter" pitchFamily="34" charset="-120"/>
              </a:rPr>
              <a:t>Anesthesia &amp; Analgesia</a:t>
            </a:r>
            <a:r>
              <a:rPr lang="en-US" sz="1200" dirty="0">
                <a:solidFill>
                  <a:srgbClr val="1A1A1A"/>
                </a:solidFill>
                <a:latin typeface="Inter" pitchFamily="34" charset="0"/>
                <a:ea typeface="Inter" pitchFamily="34" charset="-122"/>
                <a:cs typeface="Inter" pitchFamily="34" charset="-120"/>
              </a:rPr>
              <a:t>, v. 98, n. 6, p. 1773–1775, 2004.</a:t>
            </a:r>
            <a:endParaRPr lang="en-US" sz="1200" dirty="0"/>
          </a:p>
        </p:txBody>
      </p:sp>
      <p:sp>
        <p:nvSpPr>
          <p:cNvPr id="14" name="Text 11"/>
          <p:cNvSpPr/>
          <p:nvPr/>
        </p:nvSpPr>
        <p:spPr>
          <a:xfrm>
            <a:off x="812800" y="4388842"/>
            <a:ext cx="1137920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SMITH, W. D.; DUTTON, R. C.; SMITH, N. T. Measuring the performance of anesthetic depth indicators. </a:t>
            </a:r>
            <a:r>
              <a:rPr lang="en-US" sz="1200" i="1" dirty="0">
                <a:solidFill>
                  <a:srgbClr val="1A1A1A"/>
                </a:solidFill>
                <a:latin typeface="Inter" pitchFamily="34" charset="0"/>
                <a:ea typeface="Inter" pitchFamily="34" charset="-122"/>
                <a:cs typeface="Inter" pitchFamily="34" charset="-120"/>
              </a:rPr>
              <a:t>Anesthesiology</a:t>
            </a:r>
            <a:r>
              <a:rPr lang="en-US" sz="1200" dirty="0">
                <a:solidFill>
                  <a:srgbClr val="1A1A1A"/>
                </a:solidFill>
                <a:latin typeface="Inter" pitchFamily="34" charset="0"/>
                <a:ea typeface="Inter" pitchFamily="34" charset="-122"/>
                <a:cs typeface="Inter" pitchFamily="34" charset="-120"/>
              </a:rPr>
              <a:t>, v. 84, n. 1, p. 38–51, 1996.</a:t>
            </a:r>
            <a:endParaRPr lang="en-US" sz="1200" dirty="0"/>
          </a:p>
        </p:txBody>
      </p:sp>
      <p:sp>
        <p:nvSpPr>
          <p:cNvPr id="15" name="Text 12"/>
          <p:cNvSpPr/>
          <p:nvPr/>
        </p:nvSpPr>
        <p:spPr>
          <a:xfrm>
            <a:off x="812800" y="4635202"/>
            <a:ext cx="10883392"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SUKRITI et al. Predicting depth of anaesthesia from single-channel EEG using a deep TCN-BiLSTM-attention model with EWMA. </a:t>
            </a:r>
            <a:r>
              <a:rPr lang="en-US" sz="1200" i="1" dirty="0">
                <a:solidFill>
                  <a:srgbClr val="1A1A1A"/>
                </a:solidFill>
                <a:latin typeface="Inter" pitchFamily="34" charset="0"/>
                <a:ea typeface="Inter" pitchFamily="34" charset="-122"/>
                <a:cs typeface="Inter" pitchFamily="34" charset="-120"/>
              </a:rPr>
              <a:t>Scientific Reports</a:t>
            </a:r>
            <a:r>
              <a:rPr lang="en-US" sz="1200" dirty="0">
                <a:solidFill>
                  <a:srgbClr val="1A1A1A"/>
                </a:solidFill>
                <a:latin typeface="Inter" pitchFamily="34" charset="0"/>
                <a:ea typeface="Inter" pitchFamily="34" charset="-122"/>
                <a:cs typeface="Inter" pitchFamily="34" charset="-120"/>
              </a:rPr>
              <a:t>, v. 16, 25470, 2026.</a:t>
            </a:r>
            <a:endParaRPr lang="en-US" sz="1200" dirty="0"/>
          </a:p>
        </p:txBody>
      </p:sp>
      <p:sp>
        <p:nvSpPr>
          <p:cNvPr id="16" name="Text 13"/>
          <p:cNvSpPr/>
          <p:nvPr/>
        </p:nvSpPr>
        <p:spPr>
          <a:xfrm>
            <a:off x="812800" y="5064423"/>
            <a:ext cx="10883392"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A1A1A"/>
                </a:solidFill>
                <a:latin typeface="Inter" pitchFamily="34" charset="0"/>
                <a:ea typeface="Inter" pitchFamily="34" charset="-122"/>
                <a:cs typeface="Inter" pitchFamily="34" charset="-120"/>
              </a:rPr>
              <a:t>VITALDB. </a:t>
            </a:r>
            <a:r>
              <a:rPr lang="en-US" sz="1200" i="1" dirty="0">
                <a:solidFill>
                  <a:srgbClr val="1A1A1A"/>
                </a:solidFill>
                <a:latin typeface="Inter" pitchFamily="34" charset="0"/>
                <a:ea typeface="Inter" pitchFamily="34" charset="-122"/>
                <a:cs typeface="Inter" pitchFamily="34" charset="-120"/>
              </a:rPr>
              <a:t>Open Dataset: overview and track list</a:t>
            </a:r>
            <a:r>
              <a:rPr lang="en-US" sz="1200" dirty="0">
                <a:solidFill>
                  <a:srgbClr val="1A1A1A"/>
                </a:solidFill>
                <a:latin typeface="Inter" pitchFamily="34" charset="0"/>
                <a:ea typeface="Inter" pitchFamily="34" charset="-122"/>
                <a:cs typeface="Inter" pitchFamily="34" charset="-120"/>
              </a:rPr>
              <a:t>. 2026. Disponível em: vitaldb.net/dataset.</a:t>
            </a:r>
            <a:endParaRPr lang="en-US" sz="1200" dirty="0"/>
          </a:p>
        </p:txBody>
      </p:sp>
    </p:spTree>
  </p:cSld>
  <p:clrMapOvr>
    <a:masterClrMapping/>
  </p:clrMapOvr>
</p:sld>
</file>

<file path=ppt/theme/theme1.xml><?xml version="1.0" encoding="utf-8"?>
<a:theme xmlns:a="http://schemas.openxmlformats.org/drawingml/2006/main" name="BrainSniffer - TCC">
  <a:themeElements>
    <a:clrScheme name="BrainSniffer - TCC">
      <a:dk1>
        <a:srgbClr val="1A1A1A"/>
      </a:dk1>
      <a:lt1>
        <a:srgbClr val="FFFFFF"/>
      </a:lt1>
      <a:dk2>
        <a:srgbClr val="535353"/>
      </a:dk2>
      <a:lt2>
        <a:srgbClr val="E8E8E8"/>
      </a:lt2>
      <a:accent1>
        <a:srgbClr val="305080"/>
      </a:accent1>
      <a:accent2>
        <a:srgbClr val="203A5C"/>
      </a:accent2>
      <a:accent3>
        <a:srgbClr val="4D4D4D"/>
      </a:accent3>
      <a:accent4>
        <a:srgbClr val="7A7A7A"/>
      </a:accent4>
      <a:accent5>
        <a:srgbClr val="9AA0A6"/>
      </a:accent5>
      <a:accent6>
        <a:srgbClr val="767676"/>
      </a:accent6>
      <a:hlink>
        <a:srgbClr val="0563C1"/>
      </a:hlink>
      <a:folHlink>
        <a:srgbClr val="954F72"/>
      </a:folHlink>
    </a:clrScheme>
    <a:fontScheme name="BrainSniffer - TCC">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BrainSniffer - TCC</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2026-10-27T10:38:09Z</dcterms:created>
  <dcterms:modified xsi:type="dcterms:W3CDTF">2026-10-27T10:38:09Z</dcterms:modified>
</cp:coreProperties>
</file>