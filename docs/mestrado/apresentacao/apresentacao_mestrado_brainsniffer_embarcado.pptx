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e9466b0-5e69-f335-c229-295d71131baf}">
          <p14:sldIdLst/>
        </p14:section>
        <p14:section name="Default-1" id="{0d07d823-7aa2-0aa5-8566-ca57c974ef05}">
          <p14:sldIdLst>
            <p14:sldId id="256"/>
            <p14:sldId id="257"/>
          </p14:sldIdLst>
        </p14:section>
        <p14:section name="Contexto" id="{f62c5352-6e50-0a0c-2ab7-43c2abad820a}">
          <p14:sldIdLst/>
        </p14:section>
        <p14:section name="Default-2" id="{10c0f1fa-d1bc-dc34-60cb-e0b3f78e15dc}">
          <p14:sldIdLst>
            <p14:sldId id="258"/>
            <p14:sldId id="259"/>
          </p14:sldIdLst>
        </p14:section>
        <p14:section name="Justificativa" id="{f656ca45-0990-dbac-476e-2b2460a02e89}">
          <p14:sldIdLst/>
        </p14:section>
        <p14:section name="Default-3" id="{404ac5d9-99ce-df3c-a4a5-b149422891a9}">
          <p14:sldIdLst>
            <p14:sldId id="260"/>
            <p14:sldId id="261"/>
          </p14:sldIdLst>
        </p14:section>
        <p14:section name="Ponto de partida" id="{3ab1a7f0-f2f3-7d09-400c-2492dacbbf22}">
          <p14:sldIdLst/>
        </p14:section>
        <p14:section name="Default-4" id="{8e34fdda-6938-9f1e-a687-f646fc6a9df8}">
          <p14:sldIdLst>
            <p14:sldId id="262"/>
            <p14:sldId id="263"/>
          </p14:sldIdLst>
        </p14:section>
        <p14:section name="Objetivos" id="{8b9fd3e6-ed78-4811-3047-1a676d6f48e4}">
          <p14:sldIdLst/>
        </p14:section>
        <p14:section name="Default-5" id="{aeac4836-12ec-d920-2247-f64c375e28f8}">
          <p14:sldIdLst>
            <p14:sldId id="264"/>
            <p14:sldId id="265"/>
          </p14:sldIdLst>
        </p14:section>
        <p14:section name="Metodologia" id="{4d5cf11d-1305-38db-24d7-fefb65cc3011}">
          <p14:sldIdLst/>
        </p14:section>
        <p14:section name="Default-6" id="{9727ab6b-abad-8869-470c-a6df26f398c8}">
          <p14:sldIdLst>
            <p14:sldId id="266"/>
            <p14:sldId id="267"/>
            <p14:sldId id="268"/>
            <p14:sldId id="269"/>
          </p14:sldIdLst>
        </p14:section>
        <p14:section name="Entrega" id="{04ac3bc2-2240-2aac-d17d-348f4cc3badb}">
          <p14:sldIdLst/>
        </p14:section>
        <p14:section name="Default-7" id="{06aa3041-66f2-faa5-a590-8754d31b1866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F1B2D"/>
                </a:solidFill>
                <a:latin typeface="+mn-lt"/>
              </a:rPr>
              <a:t>Pesos do modelo (KB)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Pesos (KB)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M0 float32</c:v>
                  </c:pt>
                  <c:pt idx="1">
                    <c:v>M1 e M2 INT8</c:v>
                  </c:pt>
                  <c:pt idx="2">
                    <c:v>M3 reduzido*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587</c:v>
                </c:pt>
                <c:pt idx="1">
                  <c:v>147</c:v>
                </c:pt>
                <c:pt idx="2">
                  <c:v>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F1B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952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pergunta central cabe em uma frase: a rede que estima BIS no computador roda em um microcontrolador de baixo custo sem perder o comportamento medido?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blocos. Os dois primeiros explicam o problema; os dois do meio mostram o estado atual e as perguntas; os dois últimos tratam de como medir e do que se espera entregar.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BIS é um índice do monitor, não uma medida direta de consciência. Isso precisa estar claro antes de qualquer número de desempenho.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proposta não promete substituir o monitor. Ela testa se a estimativa é viável em uma plataforma de custo baixo, com medições.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razões. A quarta é a mais técnica: o tamanho do modelo torna a hipótese de caber no ESP32-S3 plausível, mas precisa ser medida.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revisão feita para a proposta é limitada e deve ser ampliada na Fase 1. A tabela mostra os trabalhos mais próximos, não uma revisão sistemática.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de parâmetros e de operações foram contados diretamente na classe do modelo. Os 587 KB são float32; em INT8 a estimativa é cerca de 147 KB.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Importante: a avaliação no VitalDB é cruzada e exploratória, sem retreino. Não é validação externa confirmatória. O número que mais importa para a proposta é o r = 0,024.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RQ1 e RQ2 são de engenharia. RQ3 é a pergunta científica mais aberta, porque o resultado atual indica que o problema de generalização não se resolve sozinho com a compressão.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limiares de H3 vêm de conta simples: 17,85 M MAC por emissão e intervalo de 1 s. 100 ms exigem cerca de 1,3 ciclo por MAC a 240 MHz, o que pede SIMD ou paralelismo.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fronteira do microcontrolador separa o que é treinado e comprimido no computador do que roda no dispositivo. A fidelidade é medida nessa fronteira.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M1 e M2 têm o mesmo tamanho de pesos; a diferença é a qualidade do resultado. M3 ainda é estimativa de arquitetura, não resultado medido.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diferença entre as duas plataformas mostra o efeito do hardware. Se o ESP32 clássico não atender 500 ms, isso é resultado, não falha do protocolo.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Fidelidade (H2) isola o erro de implementação. Desempenho (H1) mede o erro de quantização. Latência, memória e energia respondem a RQ2.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qualificação entra por volta do mês 12. A defesa é o mês 24. A Fase C é opcional e não substitui a validação do BIS.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maior risco científico é a generalização, não a memória. Por isso o protocolo trata a generalização como pergunta e não como detalhe.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parte de ética precisa ser objetiva. Dados públicos desidentificados ainda devem ser confirmados com a instituição e com o CEP antes da Fase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dissertação não depende de um resultado positivo: depende de um protocolo honesto e de medições completas.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referências de TinyML e de quantização são as mais importantes para a metodologia. As de EEG e de BIS sustentam o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as decisões que dependem do orientador: limiares, escopo da Fase C e calendário do programa.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BrainSniffer Embarcado · Proposta de mestrado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6B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PROJETO DE MESTRADO ·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BrainSniffer Embarcado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803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de uma rede neural para estimativa de BIS em microcontroladores ESP32, com preservação de desempenho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06240"/>
            <a:ext cx="2651760" cy="502920"/>
          </a:xfrm>
          <a:prstGeom prst="roundRect">
            <a:avLst>
              <a:gd name="adj" fmla="val 36364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e ESP32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420624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· quantização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4206240"/>
            <a:ext cx="2651760" cy="502920"/>
          </a:xfrm>
          <a:prstGeom prst="roundRect">
            <a:avLst>
              <a:gd name="adj" fmla="val 36364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frontal · 128 Hz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Rocha Guimarães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apresentação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BIS, o monitoramento da anestesia e o problema de acesso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15968" y="169164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0288" y="1965960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321808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levar a rede para um microcontrolador e onde está a lacuna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83296" y="169164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57616" y="1965960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089136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atual, seus números e o resultado negativo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 hipóteses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892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de pesquisa e critérios de sucesso definidos antes do teste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15968" y="388620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90288" y="4160520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590288" y="4892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de modelo, plataformas e medições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83296" y="388620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57616" y="4160520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089136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357616" y="4892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Cronograma, riscos, ética e resultados esperados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BIS e a profundidade anestésica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Monitores comerciais estimam a profundidade anestésica a partir do EEG frontal.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BIS é uma escala de 0 a 100, calculada por algoritmo proprietário.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leitura depende de artefatos, fármacos e contexto clínico: é um índice processado, não uma medida direta de consciência.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675120" y="1737360"/>
            <a:ext cx="4937760" cy="1325880"/>
          </a:xfrm>
          <a:prstGeom prst="roundRect">
            <a:avLst>
              <a:gd name="adj" fmla="val 8276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95160" y="19202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235440" y="19202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do índice BIS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75120" y="3218688"/>
            <a:ext cx="4937760" cy="1325880"/>
          </a:xfrm>
          <a:prstGeom prst="roundRect">
            <a:avLst>
              <a:gd name="adj" fmla="val 8276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95160" y="340156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Hz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9235440" y="340156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amostragem do EEG usada pelo modelo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75120" y="4700016"/>
            <a:ext cx="4937760" cy="1325880"/>
          </a:xfrm>
          <a:prstGeom prst="roundRect">
            <a:avLst>
              <a:gd name="adj" fmla="val 8276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95160" y="4882896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235440" y="4882896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entrada; uma estimativa por segundo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hoje exige equipamento caro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3429000"/>
          </a:xfrm>
          <a:prstGeom prst="roundRect">
            <a:avLst>
              <a:gd name="adj" fmla="val 3200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0604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comercial e sensores descartáveis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proprietário e de difícil auditoria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concentrado em centros cirúrgicos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equipamento dedicado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49240" cy="3429000"/>
          </a:xfrm>
          <a:prstGeom prst="roundRect">
            <a:avLst>
              <a:gd name="adj" fmla="val 3200"/>
            </a:avLst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projeto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60604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local em microcontrolador de baixo custo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 firmware abertos e auditáveis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processados no próprio dispositivo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 a testar, não produto clínico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39496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BEF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de pesquisa: não é dispositivo médico e não deve orientar conduta clínica.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JUSTIFICATIVA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levar a rede para o MCU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 acesso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dependência de monitor e de sensores proprietários. O ESP32 é uma plataforma de baixo custo.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2011680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788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local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52044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nuvem: menor latência e menos exposição de dados de saúde, sensíveis pela LGPD.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2011680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788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 científica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52044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em EEG se concentra em classificação. Regressão tipo BIS com fidelidade é menos explorada.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15400" y="173736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89720" y="2011680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2788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Viabilidade técnica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352044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147 mil parâmetros e 17,85 M operações por janela, com uma inferência por segundo.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JUSTIFICATIVA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lacuna que este projeto ocupa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297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Trabalho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Tarefa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Diferença em relação a este projeto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et al. (2020)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Profundidade anestésica em tempo real com DNN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 no front-end de aquisição; aqui a CNN já existe e o foco é a implantação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 et al. (2023)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Profundidade anestésica por rede residual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Eixo de modelagem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Ingolfsson et al. (2020)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Imagética motora em dispositivos embarcados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Classificação, não regressão tipo BIS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Schneider et al. (2020)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EEGNet em INT8 para a borda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Mesma técnica de quantização, outra tarefa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Ingolfsson et al. (2023)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Detecção de crises em INT8 (ARM e PULP)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Classificação em outras plataformas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Lacuna: regressão tipo BIS, implantação em MCU, fidelidade medida e avaliação entre bases. Essa combinação é o espaço que o mestrado propõe.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PONTO DE PARTIDA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partida: um modelo pequeno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146.817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treináveis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17,85 M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(MAC) por janela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587 KB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em float32 (≈ 147 KB em INT8)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972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20.480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no maior mapa de ativação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8620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Arquitetura: CNN 1-D com quatro blocos convolucionais e regressão com saída limitada a 0–100.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5 s de EEG frontal a 128 Hz. Saída: uma estimativa por segundo, com gates de qualidade e abstenção.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causal: passa-banda de 0,5 a 45 Hz e notch de 50 Hz. Janelas de baixa qualidade não geram estimativa.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PONTO DE PARTIDA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negativo muda a pergunta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2194560"/>
                <a:gridCol w="1463040"/>
                <a:gridCol w="1554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Avaliação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de Pearson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ativa · teste, 5 casos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Figshare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espectral · mesmo teste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Figshare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04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ativa · 15 casos, sem retreino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VitalDB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12,43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04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Candidato misto · holdout fixo (não promovido)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Figshare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Candidato misto · histórico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VitalDB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9377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Implicação: a generalização entre bases vira a pergunta de pesquisa RQ3. Embarcar um modelo que não transporta bem entre fontes não resolveria o problema.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OBJETIVOS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 questões de pesquisa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754880" cy="4297680"/>
          </a:xfrm>
          <a:prstGeom prst="roundRect">
            <a:avLst>
              <a:gd name="adj" fmla="val 2553"/>
            </a:avLst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6B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e avaliar um protótipo embarcado em ESP32 e ESP32-S3 da CNN de estimativa de BIS, preservando desempenho próximo ao modelo de referência e medindo memória, latência e energia.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669280" y="1737360"/>
            <a:ext cx="5943600" cy="1280160"/>
          </a:xfrm>
          <a:prstGeom prst="roundRect">
            <a:avLst>
              <a:gd name="adj" fmla="val 8571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0" y="214884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19202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desempenho se perde com INT8 e com arquitetura reduzida?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69280" y="3200400"/>
            <a:ext cx="5943600" cy="1280160"/>
          </a:xfrm>
          <a:prstGeom prst="roundRect">
            <a:avLst>
              <a:gd name="adj" fmla="val 8571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361188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33832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MCU reproduz a simulação e cabe no tempo real e na memória?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0" y="4663440"/>
            <a:ext cx="5943600" cy="1280160"/>
          </a:xfrm>
          <a:prstGeom prst="roundRect">
            <a:avLst>
              <a:gd name="adj" fmla="val 8571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0" y="5074920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48463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queda entre bases persiste, se agrava ou se atenua após a implantação?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OBJETIVOS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 e critérios de sucesso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297680"/>
                <a:gridCol w="54864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Hipótese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de decisão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Quantização INT8 não degrada de forma relevante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ΔMAE ≤ +0,5 e Δr ≥ −0,02 em relação ao M0, pareado por caso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MCU reproduz a simulação no computador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médio ≤ 0,1 ponto BIS; faixa concordante em ≥ 99% das janelas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inferência cabe no tempo real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≤ 100 ms no ESP32-S3 e ≤ 500 ms no ESP32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modelo cabe na memória interna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de pico ≤ 150 KB; pesos armazenados em flash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Queda entre bases persiste (exploratória)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Reportada de forma descritiva, sem critério de sucesso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Limiares propostos para discussão com o orientador. Serão congelados antes da avaliação final.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METODOLOGIA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do computador ao MCU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1600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microcontrolador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828800" cy="1234440"/>
          </a:xfrm>
          <a:prstGeom prst="roundRect">
            <a:avLst>
              <a:gd name="adj" fmla="val 8889"/>
            </a:avLst>
          </a:prstGeom>
          <a:solidFill>
            <a:srgbClr val="F3F6FA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frontal · 128 Hz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68880" y="2496312"/>
            <a:ext cx="274320" cy="274320"/>
          </a:xfrm>
          <a:prstGeom prst="rightArrow">
            <a:avLst/>
          </a:prstGeom>
          <a:solidFill>
            <a:srgbClr val="8DA5BD"/>
          </a:solidFill>
          <a:ln w="6350">
            <a:solidFill>
              <a:srgbClr val="8DA5B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2011680"/>
            <a:ext cx="1828800" cy="1234440"/>
          </a:xfrm>
          <a:prstGeom prst="roundRect">
            <a:avLst>
              <a:gd name="adj" fmla="val 8889"/>
            </a:avLst>
          </a:prstGeom>
          <a:solidFill>
            <a:srgbClr val="1F4E79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causal (float32)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2496312"/>
            <a:ext cx="274320" cy="274320"/>
          </a:xfrm>
          <a:prstGeom prst="rightArrow">
            <a:avLst/>
          </a:prstGeom>
          <a:solidFill>
            <a:srgbClr val="8DA5BD"/>
          </a:solidFill>
          <a:ln w="6350">
            <a:solidFill>
              <a:srgbClr val="8DA5B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0" y="2011680"/>
            <a:ext cx="1828800" cy="1234440"/>
          </a:xfrm>
          <a:prstGeom prst="roundRect">
            <a:avLst>
              <a:gd name="adj" fmla="val 8889"/>
            </a:avLst>
          </a:prstGeom>
          <a:solidFill>
            <a:srgbClr val="1F4E79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5 s · 640 amostras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040880" y="2496312"/>
            <a:ext cx="274320" cy="274320"/>
          </a:xfrm>
          <a:prstGeom prst="rightArrow">
            <a:avLst/>
          </a:prstGeom>
          <a:solidFill>
            <a:srgbClr val="8DA5BD"/>
          </a:solidFill>
          <a:ln w="6350">
            <a:solidFill>
              <a:srgbClr val="8DA5B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2011680"/>
            <a:ext cx="1828800" cy="1234440"/>
          </a:xfrm>
          <a:prstGeom prst="roundRect">
            <a:avLst>
              <a:gd name="adj" fmla="val 8889"/>
            </a:avLst>
          </a:prstGeom>
          <a:solidFill>
            <a:srgbClr val="1F4E79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INT8 (M0 a M4)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326880" y="2496312"/>
            <a:ext cx="274320" cy="274320"/>
          </a:xfrm>
          <a:prstGeom prst="rightArrow">
            <a:avLst/>
          </a:prstGeom>
          <a:solidFill>
            <a:srgbClr val="8DA5BD"/>
          </a:solidFill>
          <a:ln w="6350">
            <a:solidFill>
              <a:srgbClr val="8DA5B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0" y="2011680"/>
            <a:ext cx="1828800" cy="1234440"/>
          </a:xfrm>
          <a:prstGeom prst="roundRect">
            <a:avLst>
              <a:gd name="adj" fmla="val 8889"/>
            </a:avLst>
          </a:prstGeom>
          <a:solidFill>
            <a:srgbClr val="1F4E79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Saída, faixa e abstenção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base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006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 o M0 no computador; congela divisões, hashes e métricas do TCC.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297680" y="374904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4023360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Compressão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8006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M1 (PTQ), M2 (QAT) e M3 (destilação), e compara desempenho e custo.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46720" y="374904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21040" y="4023360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e medições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48006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a inferência no ESP32-S3 e no ESP32; mede fidelidade, latência, memória e energia.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METODOLOGIA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de modelo e seus custos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492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108960"/>
                <a:gridCol w="246888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 que responde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float32 do checkpoint ativo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 de todas as comparações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PTQ para INT8, com calibração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 custa quantizar sem retreino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Treinamento consciente de quantização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 se recupera com retreino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Arquitetura reduzida por destilação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 custa reduzir canais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com QAT e ativação compatível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Candidato final de implantação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7315200" y="1645920"/>
          <a:ext cx="4297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315200" y="5349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*M3: estimativa a partir da contagem de parâmetros da arquitetura reduzida. Confirmar após o treino.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METODOLOGIA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Plataformas-alvo: ESP32-S3 e ESP32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ESP32-S3 (principal)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clássico (comparador)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Núcleos e clock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LX7, até 240 MHz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LX6, até 240 MHz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Aceleração para redes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Instruções vetoriais, usadas pelo ESP-NN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Otimizações genéricas, sem as instruções vetoriais do S3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SRAM interna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KB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 KB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PSRAM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Opcional, conforme o módulo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Opcional, conforme o módulo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 no estudo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de latência de 100 ms (H3)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2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 o efeito do hardware (limite de 500 ms)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035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EAF2F8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de orçamento: com 17,85 M MAC por emissão, 100 ms exigem cerca de 1,3 ciclo por MAC a 240 MHz, o que pede aceleração vetorial ou paralelismo. Com 500 ms, o limite passa a cerca de 6,7 ciclos por MAC.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METODOLOGIA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medir: fidelidade, tempo, memória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57400" cy="3063240"/>
          </a:xfrm>
          <a:prstGeom prst="roundRect">
            <a:avLst>
              <a:gd name="adj" fmla="val 5333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Fidelidade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do MCU comparada com a simulação INT8 no computador, janela a janela.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88920" y="1737360"/>
            <a:ext cx="2057400" cy="3063240"/>
          </a:xfrm>
          <a:prstGeom prst="roundRect">
            <a:avLst>
              <a:gd name="adj" fmla="val 5333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1752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3317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301752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viés, r e F1 das faixas, pareados por caso, com bootstrap.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1737360"/>
            <a:ext cx="2057400" cy="3063240"/>
          </a:xfrm>
          <a:prstGeom prst="roundRect">
            <a:avLst>
              <a:gd name="adj" fmla="val 5333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5780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3317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301752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p50, p95 e máximo por janela, em pelo menos 1.000 execuções.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1737360"/>
            <a:ext cx="2057400" cy="3063240"/>
          </a:xfrm>
          <a:prstGeom prst="roundRect">
            <a:avLst>
              <a:gd name="adj" fmla="val 5333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23317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301752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para firmware e pesos; RAM de pico da inferência e dos buffers.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09760" y="1737360"/>
            <a:ext cx="2057400" cy="3063240"/>
          </a:xfrm>
          <a:prstGeom prst="roundRect">
            <a:avLst>
              <a:gd name="adj" fmla="val 5333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3836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738360" y="23317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738360" y="301752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Corrente média em 3,3 V e energia por inferência, com rádio desligado.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1F4E79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Robustez: ruído, deriva de linha de base, saturação, lacunas, perda de amostras e variação da taxa. Cada condição é reportada como degradação em relação ao M0.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ENTREGA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24 meses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931920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92040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12280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732520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M16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92640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652760" y="1664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11064240" cy="475488"/>
          </a:xfrm>
          <a:prstGeom prst="rect">
            <a:avLst/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0116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Fundamentação e linha de base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931920" y="2103120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1F4E79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4871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Compressão no computador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92040" y="2578608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1F4E79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962656"/>
            <a:ext cx="11064240" cy="475488"/>
          </a:xfrm>
          <a:prstGeom prst="rect">
            <a:avLst/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296265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Firmware e fidelidade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852160" y="3054096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F4E79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43814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 de qualificação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66076" y="3529584"/>
            <a:ext cx="292608" cy="292608"/>
          </a:xfrm>
          <a:prstGeom prst="diamond">
            <a:avLst/>
          </a:prstGeom>
          <a:solidFill>
            <a:srgbClr val="B04C00"/>
          </a:solidFill>
          <a:ln w="6350">
            <a:solidFill>
              <a:srgbClr val="B04C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86700" y="343814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qualificação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913632"/>
            <a:ext cx="11064240" cy="475488"/>
          </a:xfrm>
          <a:prstGeom prst="rect">
            <a:avLst/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91363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Sistema e robustez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772400" y="4005072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1F4E79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38912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Generalização e análise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052560" y="448056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1F4E79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864608"/>
            <a:ext cx="11064240" cy="475488"/>
          </a:xfrm>
          <a:prstGeom prst="rect">
            <a:avLst/>
          </a:prstGeom>
          <a:solidFill>
            <a:srgbClr val="F3F6FA"/>
          </a:solidFill>
          <a:ln w="6350">
            <a:solidFill>
              <a:srgbClr val="F3F6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86460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 (opcional, com CEP)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092440" y="4956048"/>
            <a:ext cx="2240280" cy="292608"/>
          </a:xfrm>
          <a:prstGeom prst="roundRect">
            <a:avLst>
              <a:gd name="adj" fmla="val 18750"/>
            </a:avLst>
          </a:prstGeom>
          <a:solidFill>
            <a:srgbClr val="56B4E9"/>
          </a:solidFill>
          <a:ln w="6350">
            <a:solidFill>
              <a:srgbClr val="56B4E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34009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Escrita e defesa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692640" y="5431536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F4E79"/>
          </a:solidFill>
          <a:ln w="6350">
            <a:solidFill>
              <a:srgbClr val="1F4E7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a ajustar ao regulamento do programa. A Fase C depende de aprovação do CEP.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ENTREGA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principais e mitigação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Quantização degrada demais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 (M2), calibração por canal e comparação por camada para localizar a perda.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920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acima do limite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ESP-NN, dois núcleos e arquitetura reduzida (M3), com medição já na Fase 3.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920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insuficiente no ESP32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M3 e de PSRAM quando houver. O ESP32 é comparador, não critério de sucesso.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60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divergem entre PC e MCU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46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Float32, vetores de teste e tolerância fixada antes; teste unitário dos filtros.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97680" y="39319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4160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Generalização baixa (r = 0,024)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846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Tratada como RQ3, com protocolo congelado e relato honesto, mesmo se negativo.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46720" y="39319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4160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e atraso ético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846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acadêmico não comercial; CEP e instituição. Fases A e B não envolvem pessoas.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ENTREGA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Ética, regulação e limites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3749040"/>
          </a:xfrm>
          <a:prstGeom prst="roundRect">
            <a:avLst>
              <a:gd name="adj" fmla="val 2927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engenharia, não dispositivo médico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uso clínico nem controle de infusão de fármacos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 BIS exige monitor concomitante e protocolo clínico, fora do escopo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 somente com aprovação do CEP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440680" cy="3749040"/>
          </a:xfrm>
          <a:prstGeom prst="roundRect">
            <a:avLst>
              <a:gd name="adj" fmla="val 2927"/>
            </a:avLst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116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Regulação e normas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97180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 466/2012: pesquisa com seres humanos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LGPD: dados de saúde são sensíveis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62304 e ISO 14971: processo e risco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60601-1: segurança elétrica (uso futuro)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GMLP (FDA, Health Canada, MHRA, 2021)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Licenças: Figshare (CC BY 4.0) e VitalDB (CC BY-NC-SA 4.0, uso acadêmico não comercial).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ENTREGA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esperados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Dissertação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Protocolo, medições e respostas às três questões de pesquisa.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2011680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788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compressão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5204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a M4, relacionando desempenho, pesos, operações, latência, memória e energia.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2011680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788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aberto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5204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e ESP32, com inferência INT8 e fidelidade verificada.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15400" y="173736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F3F6FA"/>
          </a:solidFill>
          <a:ln w="9525">
            <a:solidFill>
              <a:srgbClr val="F3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89720" y="2011680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2788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Artigos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35204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menos um em congresso de engenharia biomédica; periódico, se os resultados permitirem.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AF2F8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um resultado negativo de fidelidade ou de generalização é contribuição, desde que medido e relatado com o protocolo congelado.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ENTREGA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principais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Johansen e Sebel (2000). Anesthesiology, 93(5).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Myles et al. (2004). The Lancet, 363.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et al. (2020). IEEE TBCAS, 14.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Schirrmeister et al. (2017). Human Brain Mapping, 38(11).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Lawhern et al. (2018). J. Neural Engineering, 15(5).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Ingolfsson et al. (2020). IEEE SMC.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73736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 et al. (2018). CVPR.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Han, Mao e Dally (2016). ICLR.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et al. (2021). MLSys, v. 3.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Banbury et al. (2021). MLPerf Tiny. NeurIPS D&amp;B.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Health Canada e MHRA (2021). GMLP.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95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Collins et al. (2024). TRIPOD+AI. BMJ, 385.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completa, com 50 entradas e status de conferência, na seção 17 da proposta e em referencias.bib.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ENTREGA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e perguntas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002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com o orientador os limiares de H1 a H4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07208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62432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programa, instituição e regras do exame de qualificação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31336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648456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cotações de hardware e o orçamento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55464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4672584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o CEP sobre bases públicas e sobre a Fase 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49440" y="1737360"/>
            <a:ext cx="4663440" cy="3931920"/>
          </a:xfrm>
          <a:prstGeom prst="roundRect">
            <a:avLst>
              <a:gd name="adj" fmla="val 2791"/>
            </a:avLst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0" y="23774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33832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sobre escopo, métricas e cronograma.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inSniffer Embarcado">
  <a:themeElements>
    <a:clrScheme name="BrainSniffer Embarcado">
      <a:dk1>
        <a:srgbClr val="0F1B2D"/>
      </a:dk1>
      <a:lt1>
        <a:srgbClr val="FFFFFF"/>
      </a:lt1>
      <a:dk2>
        <a:srgbClr val="1F4E79"/>
      </a:dk2>
      <a:lt2>
        <a:srgbClr val="F3F6FA"/>
      </a:lt2>
      <a:accent1>
        <a:srgbClr val="1F4E79"/>
      </a:accent1>
      <a:accent2>
        <a:srgbClr val="56B4E9"/>
      </a:accent2>
      <a:accent3>
        <a:srgbClr val="B04C00"/>
      </a:accent3>
      <a:accent4>
        <a:srgbClr val="49525E"/>
      </a:accent4>
      <a:accent5>
        <a:srgbClr val="8DA5BD"/>
      </a:accent5>
      <a:accent6>
        <a:srgbClr val="2E7D5B"/>
      </a:accent6>
      <a:hlink>
        <a:srgbClr val="0563C1"/>
      </a:hlink>
      <a:folHlink>
        <a:srgbClr val="954F72"/>
      </a:folHlink>
    </a:clrScheme>
    <a:fontScheme name="BrainSniffer Embarc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BrainSniffer Embarcado: proposta de mestrado</dc:title>
  <dc:subject>PptxGenJS Presentation</dc:subject>
  <dc:creator>Bruno Rocha Guimarães</dc:creator>
  <cp:lastModifiedBy>Bruno Rocha Guimarães</cp:lastModifiedBy>
  <cp:revision>1</cp:revision>
  <dcterms:created xsi:type="dcterms:W3CDTF">2026-10-08T16:50:30Z</dcterms:created>
  <dcterms:modified xsi:type="dcterms:W3CDTF">2026-10-08T16:50:30Z</dcterms:modified>
</cp:coreProperties>
</file>